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3.png" ContentType="image/png"/>
  <Override PartName="/ppt/media/image4.png" ContentType="image/png"/>
  <Override PartName="/ppt/media/image9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17.png" ContentType="image/png"/>
  <Override PartName="/ppt/media/image8.png" ContentType="image/png"/>
  <Override PartName="/ppt/media/image1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445398-7AE0-48EB-8E70-358AAFEA35C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E482DC-4BBC-4F8A-9FE6-A0770B7CC8B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71036D-F064-4B5D-9ACB-60AED497576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30E563-6075-4A62-B6F5-8935EA4677A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AF802C-2E5B-4113-9531-A80E71C2526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5688D2-5223-40CB-9EC3-891D40F850F5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359320-C61B-4DD4-916A-4E5B2C9651D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84C15F-04AF-457D-AB49-31F978C181D5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18022F-964D-4565-B87E-35AF3026188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34BB6C-1520-4F6A-8778-6C7BF18D019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241F3E-BF15-4766-A882-5C287331311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33520" y="281952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Advanced Encryption Standard 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100000"/>
              </a:lnSpc>
              <a:spcBef>
                <a:spcPts val="879"/>
              </a:spcBef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7030a0"/>
                </a:solidFill>
                <a:effectLst/>
                <a:uFillTx/>
                <a:latin typeface="Arial"/>
              </a:rPr>
              <a:t>Chapter – 5</a:t>
            </a:r>
            <a:br>
              <a:rPr sz="4400"/>
            </a:br>
            <a:br>
              <a:rPr sz="4400"/>
            </a:b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ctr" defTabSz="914400">
              <a:lnSpc>
                <a:spcPct val="100000"/>
              </a:lnSpc>
              <a:spcBef>
                <a:spcPts val="879"/>
              </a:spcBef>
              <a:buNone/>
              <a:tabLst>
                <a:tab algn="l" pos="0"/>
              </a:tabLst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ctr" defTabSz="914400">
              <a:lnSpc>
                <a:spcPct val="100000"/>
              </a:lnSpc>
              <a:spcBef>
                <a:spcPts val="879"/>
              </a:spcBef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7030a0"/>
                </a:solidFill>
                <a:effectLst/>
                <a:uFillTx/>
                <a:latin typeface="Arial"/>
              </a:rPr>
              <a:t>(AES)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76320" y="15228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1" lang="en-GB" sz="3600" strike="noStrike" u="none">
                <a:solidFill>
                  <a:srgbClr val="7030a0"/>
                </a:solidFill>
                <a:effectLst/>
                <a:uFillTx/>
                <a:latin typeface="Baskerville Old Face"/>
              </a:rPr>
              <a:t>Recall weakness of the DES</a:t>
            </a:r>
            <a:endParaRPr b="0" lang="en-US" sz="3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76320" y="762120"/>
            <a:ext cx="8915040" cy="594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74320" indent="-274320" algn="just" defTabSz="914400">
              <a:lnSpc>
                <a:spcPct val="130000"/>
              </a:lnSpc>
              <a:spcBef>
                <a:spcPts val="479"/>
              </a:spcBef>
              <a:buClr>
                <a:srgbClr val="9bbb59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All of the cryptographic algorithms we have looked at so far have some problem. 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" indent="-274320" algn="just" defTabSz="914400">
              <a:lnSpc>
                <a:spcPct val="130000"/>
              </a:lnSpc>
              <a:spcBef>
                <a:spcPts val="479"/>
              </a:spcBef>
              <a:buClr>
                <a:srgbClr val="9bbb59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The earlier ciphers can be broken with ease on </a:t>
            </a:r>
            <a:r>
              <a:rPr b="0" i="1" lang="en-US" sz="2400" strike="noStrike" u="none">
                <a:solidFill>
                  <a:srgbClr val="ff0000"/>
                </a:solidFill>
                <a:effectLst/>
                <a:uFillTx/>
                <a:latin typeface="Times New Roman"/>
              </a:rPr>
              <a:t>modern computation 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systems. 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" indent="-274320" algn="just" defTabSz="914400">
              <a:lnSpc>
                <a:spcPct val="130000"/>
              </a:lnSpc>
              <a:spcBef>
                <a:spcPts val="479"/>
              </a:spcBef>
              <a:buClr>
                <a:srgbClr val="9bbb59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The DES algorithm was broken in 1998 using a system that cost about $250,000. 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" indent="-274320" algn="just" defTabSz="914400">
              <a:lnSpc>
                <a:spcPct val="130000"/>
              </a:lnSpc>
              <a:spcBef>
                <a:spcPts val="479"/>
              </a:spcBef>
              <a:buClr>
                <a:srgbClr val="9bbb59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It was also far too slow in software as it was developed for mid-1970’s hardware and does not produce efficient software code. 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" indent="-274320" algn="just" defTabSz="914400">
              <a:lnSpc>
                <a:spcPct val="130000"/>
              </a:lnSpc>
              <a:spcBef>
                <a:spcPts val="479"/>
              </a:spcBef>
              <a:buClr>
                <a:srgbClr val="9bbb59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Triple DES on the other hand, has three times as many rounds as DES and is correspondingly slower.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" indent="-274320" algn="just" defTabSz="914400">
              <a:lnSpc>
                <a:spcPct val="130000"/>
              </a:lnSpc>
              <a:spcBef>
                <a:spcPts val="641"/>
              </a:spcBef>
              <a:buClr>
                <a:srgbClr val="9bbb59"/>
              </a:buClr>
              <a:buFont typeface="Arial"/>
              <a:buChar char="•"/>
            </a:pPr>
            <a:r>
              <a:rPr b="1" lang="en-US" sz="3200" strike="noStrike" u="none">
                <a:solidFill>
                  <a:srgbClr val="ff0000"/>
                </a:solidFill>
                <a:effectLst/>
                <a:uFillTx/>
                <a:latin typeface="Times New Roman"/>
              </a:rPr>
              <a:t>What was required? </a:t>
            </a:r>
            <a:r>
              <a:rPr b="1" i="1" lang="en-US" sz="3200" strike="noStrike" u="none">
                <a:solidFill>
                  <a:srgbClr val="002060"/>
                </a:solidFill>
                <a:effectLst/>
                <a:uFillTx/>
                <a:latin typeface="Times New Roman"/>
              </a:rPr>
              <a:t>A</a:t>
            </a:r>
            <a:r>
              <a:rPr b="1" i="1" lang="en-US" sz="2400" strike="noStrike" u="none">
                <a:solidFill>
                  <a:srgbClr val="002060"/>
                </a:solidFill>
                <a:effectLst/>
                <a:uFillTx/>
                <a:latin typeface="Times New Roman"/>
              </a:rPr>
              <a:t> brand new encryption algorithm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nodeType="clickEffect" fill="hold">
                      <p:stCondLst>
                        <p:cond delay="indefinite"/>
                      </p:stCondLst>
                      <p:childTnLst>
                        <p:par>
                          <p:cTn id="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7" dur="5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nodeType="clickEffect" fill="hold">
                      <p:stCondLst>
                        <p:cond delay="indefinite"/>
                      </p:stCondLst>
                      <p:childTnLst>
                        <p:par>
                          <p:cTn id="9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12" dur="500"/>
                                        <p:tgtEl>
                                          <p:spTgt spid="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nodeType="clickEffect" fill="hold">
                      <p:stCondLst>
                        <p:cond delay="indefinite"/>
                      </p:stCondLst>
                      <p:childTnLst>
                        <p:par>
                          <p:cTn id="1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17" dur="500"/>
                                        <p:tgtEl>
                                          <p:spTgt spid="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nodeType="clickEffect" fill="hold">
                      <p:stCondLst>
                        <p:cond delay="indefinite"/>
                      </p:stCondLst>
                      <p:childTnLst>
                        <p:par>
                          <p:cTn id="19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0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22" dur="500"/>
                                        <p:tgtEl>
                                          <p:spTgt spid="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nodeType="clickEffect" fill="hold">
                      <p:stCondLst>
                        <p:cond delay="indefinite"/>
                      </p:stCondLst>
                      <p:childTnLst>
                        <p:par>
                          <p:cTn id="2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5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27" dur="500"/>
                                        <p:tgtEl>
                                          <p:spTgt spid="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nodeType="clickEffect" fill="hold">
                      <p:stCondLst>
                        <p:cond delay="indefinite"/>
                      </p:stCondLst>
                      <p:childTnLst>
                        <p:par>
                          <p:cTn id="29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0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32" dur="500"/>
                                        <p:tgtEl>
                                          <p:spTgt spid="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76320" y="15228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1" lang="en-GB" sz="3600" strike="noStrike" u="none">
                <a:solidFill>
                  <a:srgbClr val="7030a0"/>
                </a:solidFill>
                <a:effectLst/>
                <a:uFillTx/>
                <a:latin typeface="Baskerville Old Face"/>
              </a:rPr>
              <a:t> </a:t>
            </a:r>
            <a:r>
              <a:rPr b="1" lang="en-US" sz="3600" strike="noStrike" u="none">
                <a:solidFill>
                  <a:srgbClr val="7030a0"/>
                </a:solidFill>
                <a:effectLst/>
                <a:uFillTx/>
                <a:latin typeface="Baskerville Old Face"/>
              </a:rPr>
              <a:t>Inner Workings of a Round</a:t>
            </a:r>
            <a:endParaRPr b="0" lang="en-US" sz="3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76320" y="762120"/>
            <a:ext cx="8915040" cy="594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74320" indent="-274320" algn="just" defTabSz="914400">
              <a:lnSpc>
                <a:spcPct val="13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 Step 1: </a:t>
            </a:r>
            <a:r>
              <a:rPr b="1" i="1" lang="en-US" sz="2400" strike="noStrike" u="none">
                <a:solidFill>
                  <a:srgbClr val="c00000"/>
                </a:solidFill>
                <a:effectLst/>
                <a:uFillTx/>
                <a:latin typeface="Times New Roman"/>
              </a:rPr>
              <a:t>State array construction and Key expansion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915840" indent="-274320" algn="just" defTabSz="914400">
              <a:lnSpc>
                <a:spcPct val="130000"/>
              </a:lnSpc>
              <a:spcBef>
                <a:spcPts val="479"/>
              </a:spcBef>
              <a:buClr>
                <a:srgbClr val="9bbb59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A single 128 bit block both for en/decryption is called </a:t>
            </a:r>
            <a:r>
              <a:rPr b="1" i="1" lang="en-US" sz="2400" strike="noStrike" u="none">
                <a:solidFill>
                  <a:srgbClr val="000066"/>
                </a:solidFill>
                <a:effectLst/>
                <a:uFillTx/>
                <a:latin typeface="Times New Roman"/>
              </a:rPr>
              <a:t>in matrix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915840" indent="-274320" algn="just" defTabSz="914400">
              <a:lnSpc>
                <a:spcPct val="130000"/>
              </a:lnSpc>
              <a:spcBef>
                <a:spcPts val="479"/>
              </a:spcBef>
              <a:buClr>
                <a:srgbClr val="9bbb59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The in matrix block is grouped into </a:t>
            </a:r>
            <a:r>
              <a:rPr b="1" i="1" lang="en-US" sz="2400" strike="noStrike" u="none">
                <a:solidFill>
                  <a:srgbClr val="ff0000"/>
                </a:solidFill>
                <a:effectLst/>
                <a:uFillTx/>
                <a:latin typeface="Times New Roman"/>
              </a:rPr>
              <a:t>16 bytes 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and</a:t>
            </a:r>
            <a:r>
              <a:rPr b="1" i="1" lang="en-US" sz="2400" strike="noStrike" u="none">
                <a:solidFill>
                  <a:srgbClr val="ff0000"/>
                </a:solidFill>
                <a:effectLst/>
                <a:uFillTx/>
                <a:latin typeface="Times New Roman"/>
              </a:rPr>
              <a:t> 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copied into a </a:t>
            </a:r>
            <a:r>
              <a:rPr b="1" i="1" lang="en-US" sz="2400" strike="noStrike" u="none">
                <a:solidFill>
                  <a:srgbClr val="000066"/>
                </a:solidFill>
                <a:effectLst/>
                <a:uFillTx/>
                <a:latin typeface="Times New Roman"/>
              </a:rPr>
              <a:t>state array (4 x 4 matrix) 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which is modified at each stage of an algorithm &amp; then copied to an </a:t>
            </a:r>
            <a:r>
              <a:rPr b="1" i="1" lang="en-US" sz="2400" strike="noStrike" u="none">
                <a:solidFill>
                  <a:srgbClr val="000066"/>
                </a:solidFill>
                <a:effectLst/>
                <a:uFillTx/>
                <a:latin typeface="Times New Roman"/>
              </a:rPr>
              <a:t>output matrix. 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915840" indent="-274320" algn="just" defTabSz="914400">
              <a:lnSpc>
                <a:spcPct val="130000"/>
              </a:lnSpc>
              <a:spcBef>
                <a:spcPts val="479"/>
              </a:spcBef>
              <a:buClr>
                <a:srgbClr val="9bbb59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Both the plaintext &amp; the encryption key are depicted as </a:t>
            </a:r>
            <a:r>
              <a:rPr b="1" i="1" lang="en-US" sz="2400" strike="noStrike" u="none">
                <a:solidFill>
                  <a:srgbClr val="ff0000"/>
                </a:solidFill>
                <a:effectLst/>
                <a:uFillTx/>
                <a:latin typeface="Times New Roman"/>
              </a:rPr>
              <a:t>128 bit square matrix of bytes. 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915840" indent="-274320" algn="just" defTabSz="914400">
              <a:lnSpc>
                <a:spcPct val="130000"/>
              </a:lnSpc>
              <a:spcBef>
                <a:spcPts val="479"/>
              </a:spcBef>
              <a:buClr>
                <a:srgbClr val="9bbb59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The encryption key is expanded into an array of </a:t>
            </a:r>
            <a:r>
              <a:rPr b="1" i="1" lang="en-US" sz="2400" strike="noStrike" u="none">
                <a:solidFill>
                  <a:srgbClr val="000066"/>
                </a:solidFill>
                <a:effectLst/>
                <a:uFillTx/>
                <a:latin typeface="Times New Roman"/>
              </a:rPr>
              <a:t>key schedule words 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(</a:t>
            </a:r>
            <a:r>
              <a:rPr b="1" i="1" lang="en-US" sz="2400" strike="noStrike" u="none">
                <a:solidFill>
                  <a:srgbClr val="000066"/>
                </a:solidFill>
                <a:effectLst/>
                <a:uFillTx/>
                <a:latin typeface="Times New Roman"/>
              </a:rPr>
              <a:t>the w matrix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). 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915840" indent="-274320" algn="just" defTabSz="914400">
              <a:lnSpc>
                <a:spcPct val="130000"/>
              </a:lnSpc>
              <a:spcBef>
                <a:spcPts val="479"/>
              </a:spcBef>
              <a:buClr>
                <a:srgbClr val="9bbb59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It must be noted that the ordering of bytes within the in matrix is by column. The same applies to the w-matrix.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3" dur="indefinite" restart="never" nodeType="tmRoot">
          <p:childTnLst>
            <p:seq>
              <p:cTn id="34" dur="indefinite" nodeType="mainSeq">
                <p:childTnLst>
                  <p:par>
                    <p:cTn id="35" nodeType="clickEffect" fill="hold">
                      <p:stCondLst>
                        <p:cond delay="indefinite"/>
                      </p:stCondLst>
                      <p:childTnLst>
                        <p:par>
                          <p:cTn id="3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7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39" dur="500"/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42" dur="500"/>
                                        <p:tgtEl>
                                          <p:spTgt spid="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45" dur="500"/>
                                        <p:tgtEl>
                                          <p:spTgt spid="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48" dur="500"/>
                                        <p:tgtEl>
                                          <p:spTgt spid="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51" dur="500"/>
                                        <p:tgtEl>
                                          <p:spTgt spid="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54" dur="500"/>
                                        <p:tgtEl>
                                          <p:spTgt spid="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76320" y="15228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76320" y="762120"/>
            <a:ext cx="8915040" cy="594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641160" indent="-274320" algn="just" defTabSz="914400">
              <a:lnSpc>
                <a:spcPct val="130000"/>
              </a:lnSpc>
              <a:spcBef>
                <a:spcPts val="561"/>
              </a:spcBef>
              <a:buNone/>
              <a:tabLst>
                <a:tab algn="l" pos="0"/>
              </a:tabLst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Step 2: </a:t>
            </a:r>
            <a:r>
              <a:rPr b="1" i="1" lang="en-US" sz="2800" strike="noStrike" u="none">
                <a:solidFill>
                  <a:srgbClr val="c00000"/>
                </a:solidFill>
                <a:effectLst/>
                <a:uFillTx/>
                <a:latin typeface="Times New Roman"/>
              </a:rPr>
              <a:t>Add round key (making XOR)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188720" indent="-274320" algn="just" defTabSz="914400">
              <a:lnSpc>
                <a:spcPct val="130000"/>
              </a:lnSpc>
              <a:spcBef>
                <a:spcPts val="479"/>
              </a:spcBef>
              <a:buClr>
                <a:srgbClr val="9bbb59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The algorithm begins with an </a:t>
            </a:r>
            <a:r>
              <a:rPr b="1" i="1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Add round key 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stage followed by 9 rounds of four stages and a tenth round of three stages.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188720" indent="-274320" algn="just" defTabSz="914400">
              <a:lnSpc>
                <a:spcPct val="130000"/>
              </a:lnSpc>
              <a:spcBef>
                <a:spcPts val="479"/>
              </a:spcBef>
              <a:buClr>
                <a:srgbClr val="9bbb59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The 128 bit block XORed with the encryption key 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41160" indent="-274320" algn="just" defTabSz="914400">
              <a:lnSpc>
                <a:spcPct val="130000"/>
              </a:lnSpc>
              <a:spcBef>
                <a:spcPts val="201"/>
              </a:spcBef>
              <a:buNone/>
              <a:tabLst>
                <a:tab algn="l" pos="0"/>
              </a:tabLst>
            </a:pPr>
            <a:endParaRPr b="0" lang="en-US" sz="1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41160" indent="-274320" algn="just" defTabSz="914400">
              <a:lnSpc>
                <a:spcPct val="130000"/>
              </a:lnSpc>
              <a:spcBef>
                <a:spcPts val="561"/>
              </a:spcBef>
              <a:buNone/>
              <a:tabLst>
                <a:tab algn="l" pos="0"/>
              </a:tabLst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 Step 3: </a:t>
            </a:r>
            <a:r>
              <a:rPr b="1" i="1" lang="en-US" sz="2800" strike="noStrike" u="none">
                <a:solidFill>
                  <a:srgbClr val="c00000"/>
                </a:solidFill>
                <a:effectLst/>
                <a:uFillTx/>
                <a:latin typeface="Times New Roman"/>
              </a:rPr>
              <a:t>Round operations 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88720" indent="-274320" algn="just" defTabSz="914400">
              <a:lnSpc>
                <a:spcPct val="13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i="1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3.1. Substitute bytes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88720" indent="-274320" algn="just" defTabSz="914400">
              <a:lnSpc>
                <a:spcPct val="13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i="1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3.2. Shift rows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88720" indent="-274320" algn="just" defTabSz="914400">
              <a:lnSpc>
                <a:spcPct val="13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i="1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3.3. Mix Columns (not used in the last round, 10</a:t>
            </a:r>
            <a:r>
              <a:rPr b="0" i="1" lang="en-US" sz="2400" strike="noStrike" u="none" baseline="30000">
                <a:solidFill>
                  <a:schemeClr val="dk1"/>
                </a:solidFill>
                <a:effectLst/>
                <a:uFillTx/>
                <a:latin typeface="Times New Roman"/>
              </a:rPr>
              <a:t>th</a:t>
            </a:r>
            <a:r>
              <a:rPr b="0" i="1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round )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88720" indent="-274320" algn="just" defTabSz="914400">
              <a:lnSpc>
                <a:spcPct val="13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i="1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3.4. Add Round Key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41160" indent="-274320" algn="just" defTabSz="914400">
              <a:lnSpc>
                <a:spcPct val="130000"/>
              </a:lnSpc>
              <a:spcBef>
                <a:spcPts val="561"/>
              </a:spcBef>
              <a:buNone/>
              <a:tabLst>
                <a:tab algn="l" pos="0"/>
              </a:tabLst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	</a:t>
            </a: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Output --- Ciphertext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5" dur="indefinite" restart="never" nodeType="tmRoot">
          <p:childTnLst>
            <p:seq>
              <p:cTn id="56" dur="indefinite" nodeType="mainSeq">
                <p:childTnLst>
                  <p:par>
                    <p:cTn id="57" nodeType="clickEffect" fill="hold">
                      <p:stCondLst>
                        <p:cond delay="indefinite"/>
                      </p:stCondLst>
                      <p:childTnLst>
                        <p:par>
                          <p:cTn id="58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59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61" dur="500"/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64" dur="500"/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67" dur="500"/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70" dur="500"/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73" dur="500"/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76" dur="500"/>
                                        <p:tgtEl>
                                          <p:spTgt spid="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79" dur="500"/>
                                        <p:tgtEl>
                                          <p:spTgt spid="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82" dur="500"/>
                                        <p:tgtEl>
                                          <p:spTgt spid="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85" dur="500"/>
                                        <p:tgtEl>
                                          <p:spTgt spid="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8" name="Picture 12" descr=""/>
          <p:cNvPicPr/>
          <p:nvPr/>
        </p:nvPicPr>
        <p:blipFill>
          <a:blip r:embed="rId1"/>
          <a:stretch/>
        </p:blipFill>
        <p:spPr>
          <a:xfrm>
            <a:off x="380880" y="457200"/>
            <a:ext cx="8457840" cy="615132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pic>
        <p:nvPicPr>
          <p:cNvPr id="71" name="Picture 3" descr=""/>
          <p:cNvPicPr/>
          <p:nvPr/>
        </p:nvPicPr>
        <p:blipFill>
          <a:blip r:embed="rId1"/>
          <a:stretch/>
        </p:blipFill>
        <p:spPr>
          <a:xfrm>
            <a:off x="685800" y="380880"/>
            <a:ext cx="7914960" cy="586692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4" name="Picture 2" descr=""/>
          <p:cNvPicPr/>
          <p:nvPr/>
        </p:nvPicPr>
        <p:blipFill>
          <a:blip r:embed="rId1"/>
          <a:stretch/>
        </p:blipFill>
        <p:spPr>
          <a:xfrm>
            <a:off x="604800" y="457200"/>
            <a:ext cx="7934040" cy="594324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7" name="Picture 2" descr=""/>
          <p:cNvPicPr/>
          <p:nvPr/>
        </p:nvPicPr>
        <p:blipFill>
          <a:blip r:embed="rId1"/>
          <a:stretch/>
        </p:blipFill>
        <p:spPr>
          <a:xfrm>
            <a:off x="581040" y="380880"/>
            <a:ext cx="7981560" cy="586692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" name="Picture 2" descr=""/>
          <p:cNvPicPr/>
          <p:nvPr/>
        </p:nvPicPr>
        <p:blipFill>
          <a:blip r:embed="rId1"/>
          <a:stretch/>
        </p:blipFill>
        <p:spPr>
          <a:xfrm>
            <a:off x="581040" y="533520"/>
            <a:ext cx="7981560" cy="586692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" name="Picture 2" descr=""/>
          <p:cNvPicPr/>
          <p:nvPr/>
        </p:nvPicPr>
        <p:blipFill>
          <a:blip r:embed="rId1"/>
          <a:stretch/>
        </p:blipFill>
        <p:spPr>
          <a:xfrm>
            <a:off x="642960" y="457200"/>
            <a:ext cx="7857720" cy="579096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" name="Picture 2" descr=""/>
          <p:cNvPicPr/>
          <p:nvPr/>
        </p:nvPicPr>
        <p:blipFill>
          <a:blip r:embed="rId1"/>
          <a:stretch/>
        </p:blipFill>
        <p:spPr>
          <a:xfrm>
            <a:off x="623880" y="533520"/>
            <a:ext cx="7895880" cy="579096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" name="Picture 2" descr=""/>
          <p:cNvPicPr/>
          <p:nvPr/>
        </p:nvPicPr>
        <p:blipFill>
          <a:blip r:embed="rId1"/>
          <a:stretch/>
        </p:blipFill>
        <p:spPr>
          <a:xfrm>
            <a:off x="604800" y="457200"/>
            <a:ext cx="7934040" cy="609552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" name="Picture 2" descr=""/>
          <p:cNvPicPr/>
          <p:nvPr/>
        </p:nvPicPr>
        <p:blipFill>
          <a:blip r:embed="rId1"/>
          <a:stretch/>
        </p:blipFill>
        <p:spPr>
          <a:xfrm>
            <a:off x="619200" y="380880"/>
            <a:ext cx="7905240" cy="594324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" name="Picture 2" descr=""/>
          <p:cNvPicPr/>
          <p:nvPr/>
        </p:nvPicPr>
        <p:blipFill>
          <a:blip r:embed="rId1"/>
          <a:stretch/>
        </p:blipFill>
        <p:spPr>
          <a:xfrm>
            <a:off x="628560" y="304920"/>
            <a:ext cx="7886520" cy="594324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" name="Picture 2" descr=""/>
          <p:cNvPicPr/>
          <p:nvPr/>
        </p:nvPicPr>
        <p:blipFill>
          <a:blip r:embed="rId1"/>
          <a:stretch/>
        </p:blipFill>
        <p:spPr>
          <a:xfrm>
            <a:off x="585720" y="457200"/>
            <a:ext cx="7972200" cy="542412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76320" y="15228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1" lang="en-GB" sz="3600" strike="noStrike" u="none">
                <a:solidFill>
                  <a:srgbClr val="7030a0"/>
                </a:solidFill>
                <a:effectLst/>
                <a:uFillTx/>
                <a:latin typeface="Baskerville Old Face"/>
              </a:rPr>
              <a:t> </a:t>
            </a:r>
            <a:r>
              <a:rPr b="1" lang="en-US" sz="3600" strike="noStrike" u="none">
                <a:solidFill>
                  <a:srgbClr val="7030a0"/>
                </a:solidFill>
                <a:effectLst/>
                <a:uFillTx/>
                <a:latin typeface="Baskerville Old Face"/>
              </a:rPr>
              <a:t>Shift Row Transformation</a:t>
            </a:r>
            <a:endParaRPr b="0" lang="en-US" sz="3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76320" y="914400"/>
            <a:ext cx="8915040" cy="579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74320" indent="-274320" algn="just" defTabSz="914400">
              <a:lnSpc>
                <a:spcPct val="130000"/>
              </a:lnSpc>
              <a:spcBef>
                <a:spcPts val="479"/>
              </a:spcBef>
              <a:buClr>
                <a:srgbClr val="9bbb59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It is a simple permutation which works as follow: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915840" indent="-274320" algn="just" defTabSz="914400">
              <a:lnSpc>
                <a:spcPct val="112000"/>
              </a:lnSpc>
              <a:spcBef>
                <a:spcPts val="479"/>
              </a:spcBef>
              <a:buClr>
                <a:srgbClr val="9bbb59"/>
              </a:buClr>
              <a:buFont typeface="Wingdings" charset="2"/>
              <a:buChar char=""/>
            </a:pPr>
            <a:r>
              <a:rPr b="0" i="1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The 2</a:t>
            </a:r>
            <a:r>
              <a:rPr b="0" i="1" lang="en-US" sz="2400" strike="noStrike" u="none" baseline="30000">
                <a:solidFill>
                  <a:schemeClr val="dk1"/>
                </a:solidFill>
                <a:effectLst/>
                <a:uFillTx/>
                <a:latin typeface="Times New Roman"/>
              </a:rPr>
              <a:t>nd</a:t>
            </a:r>
            <a:r>
              <a:rPr b="0" i="1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row is shifted 1 bytes to the left in a circular manner.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915840" indent="-274320" algn="just" defTabSz="914400">
              <a:lnSpc>
                <a:spcPct val="112000"/>
              </a:lnSpc>
              <a:spcBef>
                <a:spcPts val="479"/>
              </a:spcBef>
              <a:buClr>
                <a:srgbClr val="9bbb59"/>
              </a:buClr>
              <a:buFont typeface="Wingdings" charset="2"/>
              <a:buChar char=""/>
            </a:pPr>
            <a:r>
              <a:rPr b="0" i="1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The 3</a:t>
            </a:r>
            <a:r>
              <a:rPr b="0" i="1" lang="en-US" sz="2400" strike="noStrike" u="none" baseline="30000">
                <a:solidFill>
                  <a:schemeClr val="dk1"/>
                </a:solidFill>
                <a:effectLst/>
                <a:uFillTx/>
                <a:latin typeface="Times New Roman"/>
              </a:rPr>
              <a:t>rd</a:t>
            </a:r>
            <a:r>
              <a:rPr b="0" i="1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row is shifted 2 bytes to the left in a circular manner.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915840" indent="-274320" algn="just" defTabSz="914400">
              <a:lnSpc>
                <a:spcPct val="112000"/>
              </a:lnSpc>
              <a:spcBef>
                <a:spcPts val="479"/>
              </a:spcBef>
              <a:buClr>
                <a:srgbClr val="9bbb59"/>
              </a:buClr>
              <a:buFont typeface="Wingdings" charset="2"/>
              <a:buChar char=""/>
            </a:pPr>
            <a:r>
              <a:rPr b="0" i="1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The 4</a:t>
            </a:r>
            <a:r>
              <a:rPr b="0" i="1" lang="en-US" sz="2400" strike="noStrike" u="none" baseline="30000">
                <a:solidFill>
                  <a:schemeClr val="dk1"/>
                </a:solidFill>
                <a:effectLst/>
                <a:uFillTx/>
                <a:latin typeface="Times New Roman"/>
              </a:rPr>
              <a:t>th</a:t>
            </a:r>
            <a:r>
              <a:rPr b="0" i="1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row is shifted 3 bytes to the left in a circular manner.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30000"/>
              </a:lnSpc>
              <a:spcBef>
                <a:spcPts val="479"/>
              </a:spcBef>
              <a:buNone/>
            </a:pP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30000"/>
              </a:lnSpc>
              <a:spcBef>
                <a:spcPts val="479"/>
              </a:spcBef>
              <a:buNone/>
            </a:pP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30000"/>
              </a:lnSpc>
              <a:spcBef>
                <a:spcPts val="479"/>
              </a:spcBef>
              <a:buNone/>
            </a:pP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30000"/>
              </a:lnSpc>
              <a:spcBef>
                <a:spcPts val="479"/>
              </a:spcBef>
              <a:buNone/>
            </a:pP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30000"/>
              </a:lnSpc>
              <a:spcBef>
                <a:spcPts val="320"/>
              </a:spcBef>
              <a:buNone/>
            </a:pP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" indent="-274320" algn="just" defTabSz="914400">
              <a:lnSpc>
                <a:spcPct val="112000"/>
              </a:lnSpc>
              <a:spcBef>
                <a:spcPts val="459"/>
              </a:spcBef>
              <a:buClr>
                <a:srgbClr val="9bbb59"/>
              </a:buClr>
              <a:buFont typeface="Wingdings" charset="2"/>
              <a:buChar char=""/>
            </a:pPr>
            <a:r>
              <a:rPr b="0" lang="en-US" sz="23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The </a:t>
            </a:r>
            <a:r>
              <a:rPr b="0" i="1" lang="en-US" sz="2300" strike="noStrike" u="none">
                <a:solidFill>
                  <a:srgbClr val="ff0000"/>
                </a:solidFill>
                <a:effectLst/>
                <a:uFillTx/>
                <a:latin typeface="Times New Roman"/>
              </a:rPr>
              <a:t>Inverse Shift Rows transformation </a:t>
            </a:r>
            <a:r>
              <a:rPr b="0" lang="en-US" sz="23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(known as </a:t>
            </a:r>
            <a:r>
              <a:rPr b="1" i="1" lang="en-US" sz="23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InvShiftRows</a:t>
            </a:r>
            <a:r>
              <a:rPr b="0" lang="en-US" sz="23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) performs these circular shifts in the opposite direction for each of the last 3 rows (the first row was unaltered to begin with).</a:t>
            </a:r>
            <a:endParaRPr b="0" lang="en-US" sz="23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Picture 2" descr=""/>
          <p:cNvPicPr/>
          <p:nvPr/>
        </p:nvPicPr>
        <p:blipFill>
          <a:blip r:embed="rId1"/>
          <a:stretch/>
        </p:blipFill>
        <p:spPr>
          <a:xfrm>
            <a:off x="533520" y="2982960"/>
            <a:ext cx="7935480" cy="250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6" dur="indefinite" restart="never" nodeType="tmRoot">
          <p:childTnLst>
            <p:seq>
              <p:cTn id="87" dur="indefinite" nodeType="mainSeq">
                <p:childTnLst>
                  <p:par>
                    <p:cTn id="88" nodeType="clickEffect" fill="hold">
                      <p:stCondLst>
                        <p:cond delay="indefinite"/>
                      </p:stCondLst>
                      <p:childTnLst>
                        <p:par>
                          <p:cTn id="89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90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92" dur="500"/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95" dur="500"/>
                                        <p:tgtEl>
                                          <p:spTgt spid="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98" dur="500"/>
                                        <p:tgtEl>
                                          <p:spTgt spid="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nodeType="with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101" dur="500"/>
                                        <p:tgtEl>
                                          <p:spTgt spid="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nodeType="clickEffect" fill="hold">
                      <p:stCondLst>
                        <p:cond delay="indefinite"/>
                      </p:stCondLst>
                      <p:childTnLst>
                        <p:par>
                          <p:cTn id="103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104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106" dur="500"/>
                                        <p:tgtEl>
                                          <p:spTgt spid="10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" name="Picture 2" descr=""/>
          <p:cNvPicPr/>
          <p:nvPr/>
        </p:nvPicPr>
        <p:blipFill>
          <a:blip r:embed="rId1"/>
          <a:stretch/>
        </p:blipFill>
        <p:spPr>
          <a:xfrm>
            <a:off x="576360" y="609480"/>
            <a:ext cx="7991280" cy="521928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6" name="Picture 2" descr=""/>
          <p:cNvPicPr/>
          <p:nvPr/>
        </p:nvPicPr>
        <p:blipFill>
          <a:blip r:embed="rId1"/>
          <a:stretch/>
        </p:blipFill>
        <p:spPr>
          <a:xfrm>
            <a:off x="533520" y="609480"/>
            <a:ext cx="8152920" cy="579096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8" name="Picture 2" descr=""/>
          <p:cNvPicPr/>
          <p:nvPr/>
        </p:nvPicPr>
        <p:blipFill>
          <a:blip r:embed="rId1"/>
          <a:stretch/>
        </p:blipFill>
        <p:spPr>
          <a:xfrm>
            <a:off x="457200" y="914400"/>
            <a:ext cx="7923240" cy="521136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0" name="Picture 2" descr=""/>
          <p:cNvPicPr/>
          <p:nvPr/>
        </p:nvPicPr>
        <p:blipFill>
          <a:blip r:embed="rId1"/>
          <a:stretch/>
        </p:blipFill>
        <p:spPr>
          <a:xfrm>
            <a:off x="380880" y="914400"/>
            <a:ext cx="8229240" cy="521136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3" name="Picture 2" descr=""/>
          <p:cNvPicPr/>
          <p:nvPr/>
        </p:nvPicPr>
        <p:blipFill>
          <a:blip r:embed="rId1"/>
          <a:stretch/>
        </p:blipFill>
        <p:spPr>
          <a:xfrm>
            <a:off x="604800" y="1004760"/>
            <a:ext cx="7934040" cy="484776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371</TotalTime>
  <Application>LibreOffice/25.2.3.2$Linux_X86_64 LibreOffice_project/520$Build-2</Application>
  <AppVersion>15.0000</AppVersion>
  <Words>402</Words>
  <Paragraphs>38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2013-07-22T07:01:04Z</dcterms:created>
  <dc:creator>ITHOD</dc:creator>
  <dc:description/>
  <dc:language>en-US</dc:language>
  <cp:lastModifiedBy/>
  <dcterms:modified xsi:type="dcterms:W3CDTF">2025-05-21T14:34:03Z</dcterms:modified>
  <cp:revision>13</cp:revision>
  <dc:subject/>
  <dc:title>Slide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21</vt:i4>
  </property>
</Properties>
</file>