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75" r:id="rId5"/>
    <p:sldId id="272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6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D4328-EC5D-4E4C-B558-3AE7E594585B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4FBA-540E-4A0A-A190-0D0E158D5C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1143000"/>
          </a:xfrm>
        </p:spPr>
        <p:txBody>
          <a:bodyPr/>
          <a:lstStyle/>
          <a:p>
            <a:r>
              <a:rPr lang="en-US" dirty="0" smtClean="0"/>
              <a:t>Advanced Encryption Standard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4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Chapter – </a:t>
            </a:r>
            <a:r>
              <a:rPr lang="en-GB" sz="4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5</a:t>
            </a:r>
            <a:r>
              <a:rPr lang="en-GB" sz="44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/>
            </a:r>
            <a:br>
              <a:rPr lang="en-GB" sz="44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</a:br>
            <a:r>
              <a:rPr lang="en-GB" sz="44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/>
            </a:r>
            <a:br>
              <a:rPr lang="en-GB" sz="44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</a:br>
            <a:endParaRPr lang="en-GB" sz="4400" dirty="0" smtClean="0">
              <a:solidFill>
                <a:srgbClr val="7030A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GB" sz="4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(AES)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6096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  <a:cs typeface="Times New Roman" pitchFamily="18" charset="0"/>
              </a:rPr>
              <a:t>Recall weakness of the DES</a:t>
            </a:r>
          </a:p>
        </p:txBody>
      </p:sp>
      <p:sp>
        <p:nvSpPr>
          <p:cNvPr id="37895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15400" cy="5943600"/>
          </a:xfrm>
        </p:spPr>
        <p:txBody>
          <a:bodyPr>
            <a:noAutofit/>
          </a:bodyPr>
          <a:lstStyle/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of the cryptographic algorithms we have looked at so far have some problem. </a:t>
            </a:r>
          </a:p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earlier ciphers can be broken with ease on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modern computation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systems. </a:t>
            </a:r>
          </a:p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DES algorithm was broken in 1998 using a system that cost about $250,000. </a:t>
            </a:r>
          </a:p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was also far too slow in software as it was developed for mid-1970’s hardware and does not produce efficient software code. </a:t>
            </a:r>
          </a:p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Triple DES on the other hand, has three times as many rounds as DES and is correspondingly slower.</a:t>
            </a:r>
          </a:p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was required? </a:t>
            </a:r>
            <a:r>
              <a:rPr lang="en-US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brand new encryption algorithm</a:t>
            </a:r>
          </a:p>
        </p:txBody>
      </p:sp>
    </p:spTree>
    <p:extLst>
      <p:ext uri="{BB962C8B-B14F-4D97-AF65-F5344CB8AC3E}">
        <p14:creationId xmlns:p14="http://schemas.microsoft.com/office/powerpoint/2010/main" val="79779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6096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  <a:cs typeface="Times New Roman" pitchFamily="18" charset="0"/>
              </a:rPr>
              <a:t> </a:t>
            </a:r>
            <a:r>
              <a:rPr lang="en-US" sz="36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  <a:cs typeface="Times New Roman" pitchFamily="18" charset="0"/>
              </a:rPr>
              <a:t>Inner Workings of a Round</a:t>
            </a:r>
            <a:endParaRPr lang="en-GB" sz="3600" b="1" dirty="0" smtClean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  <a:cs typeface="Times New Roman" pitchFamily="18" charset="0"/>
            </a:endParaRPr>
          </a:p>
        </p:txBody>
      </p:sp>
      <p:sp>
        <p:nvSpPr>
          <p:cNvPr id="37895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15400" cy="5943600"/>
          </a:xfrm>
        </p:spPr>
        <p:txBody>
          <a:bodyPr>
            <a:noAutofit/>
          </a:bodyPr>
          <a:lstStyle/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Step 1: </a:t>
            </a:r>
            <a:r>
              <a:rPr lang="en-US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State array construction and Key expansion</a:t>
            </a: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single 128 bit block both for en/decryption is called </a:t>
            </a:r>
            <a:r>
              <a:rPr lang="en-US" sz="2400" b="1" i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in matrix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in matrix block is grouped into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 bytes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copied into a </a:t>
            </a:r>
            <a:r>
              <a:rPr lang="en-US" sz="2400" b="1" i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state array (4 x 4 matrix)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is modified at each stage of an algorithm &amp; then copied to an </a:t>
            </a:r>
            <a:r>
              <a:rPr lang="en-US" sz="2400" b="1" i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output matrix. </a:t>
            </a: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the plaintext &amp; the encryption key are depicted as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128 bit square matrix of bytes. </a:t>
            </a: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encryption key is expanded into an array of </a:t>
            </a:r>
            <a:r>
              <a:rPr lang="en-US" sz="2400" b="1" i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key schedule words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the w matrix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must be noted that the ordering of bytes within the in matrix is by column. The same applies to the w-matrix.</a:t>
            </a:r>
          </a:p>
        </p:txBody>
      </p:sp>
    </p:spTree>
    <p:extLst>
      <p:ext uri="{BB962C8B-B14F-4D97-AF65-F5344CB8AC3E}">
        <p14:creationId xmlns:p14="http://schemas.microsoft.com/office/powerpoint/2010/main" val="26361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6096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GB" sz="3600" b="1" dirty="0" smtClean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  <a:cs typeface="Times New Roman" pitchFamily="18" charset="0"/>
            </a:endParaRPr>
          </a:p>
        </p:txBody>
      </p:sp>
      <p:sp>
        <p:nvSpPr>
          <p:cNvPr id="37895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15400" cy="5943600"/>
          </a:xfrm>
        </p:spPr>
        <p:txBody>
          <a:bodyPr>
            <a:noAutofit/>
          </a:bodyPr>
          <a:lstStyle/>
          <a:p>
            <a:pPr marL="641033" lvl="1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US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Add round key (making XOR)</a:t>
            </a:r>
          </a:p>
          <a:p>
            <a:pPr marL="1188720" lvl="3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algorithm begins with an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Add round key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stage followed by 9 rounds of four stages and a tenth round of three stages.</a:t>
            </a:r>
          </a:p>
          <a:p>
            <a:pPr marL="1188720" lvl="3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128 bit block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XORed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with the encryption key </a:t>
            </a:r>
          </a:p>
          <a:p>
            <a:pPr marL="641033" lvl="1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endParaRPr lang="en-US" sz="1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41033" lvl="1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Step 3: </a:t>
            </a:r>
            <a:r>
              <a:rPr lang="en-US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Round operations </a:t>
            </a:r>
          </a:p>
          <a:p>
            <a:pPr marL="1188720" lvl="3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3.1. Substitute bytes</a:t>
            </a:r>
          </a:p>
          <a:p>
            <a:pPr marL="1188720" lvl="3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3.2. Shift rows</a:t>
            </a:r>
          </a:p>
          <a:p>
            <a:pPr marL="1188720" lvl="3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3.3. Mix Columns (not used in the last round, 10</a:t>
            </a:r>
            <a:r>
              <a:rPr lang="en-US" sz="2400" i="1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round )</a:t>
            </a:r>
          </a:p>
          <a:p>
            <a:pPr marL="1188720" lvl="3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3.4. Add Round Key</a:t>
            </a:r>
          </a:p>
          <a:p>
            <a:pPr marL="641033" lvl="1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 2" panose="05020102010507070707" pitchFamily="18" charset="2"/>
              <a:buNone/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Output ---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Ciphertext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4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8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8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8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8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57200"/>
            <a:ext cx="8458200" cy="615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81000"/>
            <a:ext cx="7915275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838" y="457201"/>
            <a:ext cx="7934325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1025" y="381000"/>
            <a:ext cx="798195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1025" y="533400"/>
            <a:ext cx="798195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457200"/>
            <a:ext cx="7858125" cy="579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3888" y="533400"/>
            <a:ext cx="7896225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838" y="457200"/>
            <a:ext cx="7934325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" y="381000"/>
            <a:ext cx="790575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" y="304800"/>
            <a:ext cx="78867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8" y="457201"/>
            <a:ext cx="7972425" cy="542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229600" cy="6096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  <a:cs typeface="Times New Roman" pitchFamily="18" charset="0"/>
              </a:rPr>
              <a:t> </a:t>
            </a:r>
            <a:r>
              <a:rPr lang="en-US" sz="36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  <a:cs typeface="Times New Roman" pitchFamily="18" charset="0"/>
              </a:rPr>
              <a:t>Shift Row Transformation</a:t>
            </a:r>
            <a:endParaRPr lang="en-GB" sz="3600" b="1" dirty="0" smtClean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itchFamily="18" charset="0"/>
              <a:cs typeface="Times New Roman" pitchFamily="18" charset="0"/>
            </a:endParaRPr>
          </a:p>
        </p:txBody>
      </p:sp>
      <p:sp>
        <p:nvSpPr>
          <p:cNvPr id="37895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15400" cy="5791200"/>
          </a:xfrm>
        </p:spPr>
        <p:txBody>
          <a:bodyPr>
            <a:noAutofit/>
          </a:bodyPr>
          <a:lstStyle/>
          <a:p>
            <a:pPr marL="274320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simple permutation which works as follow:</a:t>
            </a:r>
          </a:p>
          <a:p>
            <a:pPr marL="915670" lvl="2" indent="-274320" algn="just" eaLnBrk="1" fontAlgn="auto" hangingPunct="1">
              <a:lnSpc>
                <a:spcPct val="112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The 2</a:t>
            </a:r>
            <a:r>
              <a:rPr lang="en-US" sz="2400" i="1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row is shifted 1 bytes to the left in a circular manner.</a:t>
            </a:r>
          </a:p>
          <a:p>
            <a:pPr marL="915670" lvl="2" indent="-274320" algn="just" eaLnBrk="1" fontAlgn="auto" hangingPunct="1">
              <a:lnSpc>
                <a:spcPct val="112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The 3</a:t>
            </a:r>
            <a:r>
              <a:rPr lang="en-US" sz="2400" i="1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row is shifted 2 bytes to the left in a circular manner.</a:t>
            </a:r>
          </a:p>
          <a:p>
            <a:pPr marL="915670" lvl="2" indent="-274320" algn="just" eaLnBrk="1" fontAlgn="auto" hangingPunct="1">
              <a:lnSpc>
                <a:spcPct val="112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The 4</a:t>
            </a:r>
            <a:r>
              <a:rPr lang="en-US" sz="2400" i="1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row is shifted 3 bytes to the left in a circular manner.</a:t>
            </a: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915670" lvl="2" indent="-274320" algn="just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1600" i="1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 eaLnBrk="1" fontAlgn="auto" hangingPunct="1">
              <a:lnSpc>
                <a:spcPct val="112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Char char="§"/>
              <a:defRPr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Inverse Shift Rows transformation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(known as </a:t>
            </a:r>
            <a:r>
              <a:rPr lang="en-US" sz="2300" b="1" i="1" dirty="0" err="1" smtClean="0">
                <a:latin typeface="Times New Roman" pitchFamily="18" charset="0"/>
                <a:cs typeface="Times New Roman" pitchFamily="18" charset="0"/>
              </a:rPr>
              <a:t>InvShiftRows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 performs these circular shifts in the opposite direction for each of the last 3 rows (the first row was unaltered to begin with).</a:t>
            </a:r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82913"/>
            <a:ext cx="7935913" cy="2503487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55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78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263" y="609600"/>
            <a:ext cx="799147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09600"/>
            <a:ext cx="81534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914400"/>
            <a:ext cx="7923779" cy="521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914400"/>
            <a:ext cx="8229599" cy="521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838" y="1004888"/>
            <a:ext cx="7934325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402</Words>
  <Application>Microsoft Office PowerPoint</Application>
  <PresentationFormat>On-screen Show (4:3)</PresentationFormat>
  <Paragraphs>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Baskerville Old Face</vt:lpstr>
      <vt:lpstr>Calibri</vt:lpstr>
      <vt:lpstr>Times New Roman</vt:lpstr>
      <vt:lpstr>Wingdings</vt:lpstr>
      <vt:lpstr>Wingdings 2</vt:lpstr>
      <vt:lpstr>Office Theme</vt:lpstr>
      <vt:lpstr>Advanced Encryption Standard </vt:lpstr>
      <vt:lpstr>Recall weakness of the DES</vt:lpstr>
      <vt:lpstr> Inner Workings of a 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Shift Row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ITHOD</dc:creator>
  <cp:lastModifiedBy>admin</cp:lastModifiedBy>
  <cp:revision>11</cp:revision>
  <dcterms:created xsi:type="dcterms:W3CDTF">2013-07-22T07:01:04Z</dcterms:created>
  <dcterms:modified xsi:type="dcterms:W3CDTF">2024-12-31T19:53:48Z</dcterms:modified>
</cp:coreProperties>
</file>