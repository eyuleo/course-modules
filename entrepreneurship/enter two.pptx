
<file path=[Content_Types].xml><?xml version="1.0" encoding="utf-8"?>
<Types xmlns="http://schemas.openxmlformats.org/package/2006/content-types">
  <Default Extension="emf" ContentType="image/x-emf"/>
  <Default Extension="gif" ContentType="image/gi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342" r:id="rId2"/>
    <p:sldId id="343" r:id="rId3"/>
    <p:sldId id="344" r:id="rId4"/>
    <p:sldId id="345" r:id="rId5"/>
    <p:sldId id="346" r:id="rId6"/>
    <p:sldId id="347" r:id="rId7"/>
    <p:sldId id="348" r:id="rId8"/>
    <p:sldId id="349" r:id="rId9"/>
    <p:sldId id="350" r:id="rId10"/>
    <p:sldId id="351" r:id="rId11"/>
    <p:sldId id="352" r:id="rId12"/>
    <p:sldId id="353" r:id="rId13"/>
    <p:sldId id="354" r:id="rId14"/>
    <p:sldId id="355" r:id="rId15"/>
    <p:sldId id="259" r:id="rId16"/>
    <p:sldId id="288" r:id="rId17"/>
    <p:sldId id="260" r:id="rId18"/>
    <p:sldId id="336" r:id="rId19"/>
    <p:sldId id="263" r:id="rId20"/>
    <p:sldId id="337" r:id="rId21"/>
    <p:sldId id="265" r:id="rId22"/>
    <p:sldId id="335" r:id="rId23"/>
    <p:sldId id="266" r:id="rId24"/>
    <p:sldId id="268" r:id="rId25"/>
    <p:sldId id="356" r:id="rId26"/>
    <p:sldId id="267" r:id="rId27"/>
    <p:sldId id="338" r:id="rId28"/>
    <p:sldId id="339" r:id="rId29"/>
    <p:sldId id="292" r:id="rId30"/>
    <p:sldId id="293" r:id="rId31"/>
    <p:sldId id="295"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4" d="100"/>
          <a:sy n="64" d="100"/>
        </p:scale>
        <p:origin x="68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jpeg"/><Relationship Id="rId4" Type="http://schemas.openxmlformats.org/officeDocument/2006/relationships/image" Target="../media/image4.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jpeg"/><Relationship Id="rId4" Type="http://schemas.openxmlformats.org/officeDocument/2006/relationships/image" Target="../media/image4.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5AE0B58-2281-4E9D-B0E5-07DFBB5BB2FF}"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n-US"/>
        </a:p>
      </dgm:t>
    </dgm:pt>
    <dgm:pt modelId="{E46EB41B-EC15-4E72-8CEB-4DF62FF85931}">
      <dgm:prSet phldrT="[Text]" custT="1"/>
      <dgm:spPr>
        <a:blipFill rotWithShape="0">
          <a:blip xmlns:r="http://schemas.openxmlformats.org/officeDocument/2006/relationships" r:embed="rId1"/>
          <a:tile tx="0" ty="0" sx="100000" sy="100000" flip="none" algn="tl"/>
        </a:blipFill>
      </dgm:spPr>
      <dgm:t>
        <a:bodyPr/>
        <a:lstStyle/>
        <a:p>
          <a:r>
            <a:rPr lang="en-US" sz="2800" b="1" dirty="0">
              <a:solidFill>
                <a:srgbClr val="FFFF00"/>
              </a:solidFill>
              <a:latin typeface="Times New Roman" pitchFamily="18" charset="0"/>
              <a:cs typeface="Times New Roman" pitchFamily="18" charset="0"/>
            </a:rPr>
            <a:t>New Venture Business Plan </a:t>
          </a:r>
        </a:p>
      </dgm:t>
    </dgm:pt>
    <dgm:pt modelId="{F4E8447D-8DAE-4B2F-BCA3-1A0155D414F4}" type="parTrans" cxnId="{6543DF4B-06CC-4E32-96CD-3BE983409135}">
      <dgm:prSet/>
      <dgm:spPr/>
      <dgm:t>
        <a:bodyPr/>
        <a:lstStyle/>
        <a:p>
          <a:endParaRPr lang="en-US"/>
        </a:p>
      </dgm:t>
    </dgm:pt>
    <dgm:pt modelId="{CC0A8AF8-D399-4E12-97A0-5C72248D86FE}" type="sibTrans" cxnId="{6543DF4B-06CC-4E32-96CD-3BE983409135}">
      <dgm:prSet/>
      <dgm:spPr/>
      <dgm:t>
        <a:bodyPr/>
        <a:lstStyle/>
        <a:p>
          <a:endParaRPr lang="en-US"/>
        </a:p>
      </dgm:t>
    </dgm:pt>
    <dgm:pt modelId="{8A29C04B-EEF1-425B-A9B9-55DDD145F285}">
      <dgm:prSet phldrT="[Text]" custT="1"/>
      <dgm:spPr>
        <a:blipFill rotWithShape="0">
          <a:blip xmlns:r="http://schemas.openxmlformats.org/officeDocument/2006/relationships" r:embed="rId2"/>
          <a:tile tx="0" ty="0" sx="100000" sy="100000" flip="none" algn="tl"/>
        </a:blipFill>
      </dgm:spPr>
      <dgm:t>
        <a:bodyPr/>
        <a:lstStyle/>
        <a:p>
          <a:r>
            <a:rPr lang="en-US" sz="2800" b="1" dirty="0">
              <a:solidFill>
                <a:srgbClr val="6600CC"/>
              </a:solidFill>
              <a:latin typeface="Times New Roman" pitchFamily="18" charset="0"/>
              <a:cs typeface="Times New Roman" pitchFamily="18" charset="0"/>
            </a:rPr>
            <a:t>Insiders </a:t>
          </a:r>
        </a:p>
      </dgm:t>
    </dgm:pt>
    <dgm:pt modelId="{220B0779-3756-4A48-B774-56EFF1BEA7B7}" type="parTrans" cxnId="{87DA3D26-6A71-4BF4-A1E9-5CCDDF8DDC0F}">
      <dgm:prSet custT="1"/>
      <dgm:spPr>
        <a:blipFill rotWithShape="0">
          <a:blip xmlns:r="http://schemas.openxmlformats.org/officeDocument/2006/relationships" r:embed="rId2"/>
          <a:tile tx="0" ty="0" sx="100000" sy="100000" flip="none" algn="tl"/>
        </a:blipFill>
      </dgm:spPr>
      <dgm:t>
        <a:bodyPr/>
        <a:lstStyle/>
        <a:p>
          <a:endParaRPr lang="en-US" sz="2800" b="1">
            <a:latin typeface="Times New Roman" pitchFamily="18" charset="0"/>
            <a:cs typeface="Times New Roman" pitchFamily="18" charset="0"/>
          </a:endParaRPr>
        </a:p>
      </dgm:t>
    </dgm:pt>
    <dgm:pt modelId="{A3D602A4-6803-4F45-B901-A0456A97282E}" type="sibTrans" cxnId="{87DA3D26-6A71-4BF4-A1E9-5CCDDF8DDC0F}">
      <dgm:prSet/>
      <dgm:spPr/>
      <dgm:t>
        <a:bodyPr/>
        <a:lstStyle/>
        <a:p>
          <a:endParaRPr lang="en-US"/>
        </a:p>
      </dgm:t>
    </dgm:pt>
    <dgm:pt modelId="{6E473DA6-2AE4-4875-9661-EBE98D66FE78}">
      <dgm:prSet phldrT="[Text]" custT="1"/>
      <dgm:spPr>
        <a:blipFill rotWithShape="0">
          <a:blip xmlns:r="http://schemas.openxmlformats.org/officeDocument/2006/relationships" r:embed="rId3"/>
          <a:tile tx="0" ty="0" sx="100000" sy="100000" flip="none" algn="tl"/>
        </a:blipFill>
      </dgm:spPr>
      <dgm:t>
        <a:bodyPr/>
        <a:lstStyle/>
        <a:p>
          <a:r>
            <a:rPr lang="en-US" sz="2800" b="1" dirty="0">
              <a:solidFill>
                <a:srgbClr val="CC0066"/>
              </a:solidFill>
              <a:latin typeface="Times New Roman" pitchFamily="18" charset="0"/>
              <a:cs typeface="Times New Roman" pitchFamily="18" charset="0"/>
            </a:rPr>
            <a:t>Firm’s Mgt</a:t>
          </a:r>
        </a:p>
      </dgm:t>
    </dgm:pt>
    <dgm:pt modelId="{51E27C38-F7D4-4F46-AE77-7CAECFC4499C}" type="parTrans" cxnId="{CB22B71A-5C32-4689-B522-4A4821CDE625}">
      <dgm:prSet custT="1"/>
      <dgm:spPr>
        <a:blipFill rotWithShape="0">
          <a:blip xmlns:r="http://schemas.openxmlformats.org/officeDocument/2006/relationships" r:embed="rId2"/>
          <a:tile tx="0" ty="0" sx="100000" sy="100000" flip="none" algn="tl"/>
        </a:blipFill>
      </dgm:spPr>
      <dgm:t>
        <a:bodyPr/>
        <a:lstStyle/>
        <a:p>
          <a:endParaRPr lang="en-US" sz="2800" b="1">
            <a:latin typeface="Times New Roman" pitchFamily="18" charset="0"/>
            <a:cs typeface="Times New Roman" pitchFamily="18" charset="0"/>
          </a:endParaRPr>
        </a:p>
      </dgm:t>
    </dgm:pt>
    <dgm:pt modelId="{60661557-3A51-4885-964C-34F69B02EFBB}" type="sibTrans" cxnId="{CB22B71A-5C32-4689-B522-4A4821CDE625}">
      <dgm:prSet/>
      <dgm:spPr/>
      <dgm:t>
        <a:bodyPr/>
        <a:lstStyle/>
        <a:p>
          <a:endParaRPr lang="en-US"/>
        </a:p>
      </dgm:t>
    </dgm:pt>
    <dgm:pt modelId="{63D37F02-FC26-4D35-BAC4-F3B4A03D80F2}">
      <dgm:prSet phldrT="[Text]" custT="1"/>
      <dgm:spPr>
        <a:blipFill rotWithShape="0">
          <a:blip xmlns:r="http://schemas.openxmlformats.org/officeDocument/2006/relationships" r:embed="rId3"/>
          <a:tile tx="0" ty="0" sx="100000" sy="100000" flip="none" algn="tl"/>
        </a:blipFill>
      </dgm:spPr>
      <dgm:t>
        <a:bodyPr/>
        <a:lstStyle/>
        <a:p>
          <a:r>
            <a:rPr lang="en-US" sz="2800" b="1" dirty="0">
              <a:solidFill>
                <a:srgbClr val="002060"/>
              </a:solidFill>
              <a:latin typeface="Times New Roman" pitchFamily="18" charset="0"/>
              <a:cs typeface="Times New Roman" pitchFamily="18" charset="0"/>
            </a:rPr>
            <a:t>Employees</a:t>
          </a:r>
        </a:p>
      </dgm:t>
    </dgm:pt>
    <dgm:pt modelId="{5D7BEED6-D220-47AF-BA70-79E28742935B}" type="parTrans" cxnId="{237BA175-DE0B-4800-9385-AEB34E11FA74}">
      <dgm:prSet custT="1"/>
      <dgm:spPr>
        <a:blipFill rotWithShape="0">
          <a:blip xmlns:r="http://schemas.openxmlformats.org/officeDocument/2006/relationships" r:embed="rId2"/>
          <a:tile tx="0" ty="0" sx="100000" sy="100000" flip="none" algn="tl"/>
        </a:blipFill>
      </dgm:spPr>
      <dgm:t>
        <a:bodyPr/>
        <a:lstStyle/>
        <a:p>
          <a:endParaRPr lang="en-US" sz="2800" b="1">
            <a:latin typeface="Times New Roman" pitchFamily="18" charset="0"/>
            <a:cs typeface="Times New Roman" pitchFamily="18" charset="0"/>
          </a:endParaRPr>
        </a:p>
      </dgm:t>
    </dgm:pt>
    <dgm:pt modelId="{F5DD81F9-C202-4E9D-9DDA-F3C69406CA6F}" type="sibTrans" cxnId="{237BA175-DE0B-4800-9385-AEB34E11FA74}">
      <dgm:prSet/>
      <dgm:spPr/>
      <dgm:t>
        <a:bodyPr/>
        <a:lstStyle/>
        <a:p>
          <a:endParaRPr lang="en-US"/>
        </a:p>
      </dgm:t>
    </dgm:pt>
    <dgm:pt modelId="{78DBFEC2-0077-4762-8A96-49209DD9EA01}">
      <dgm:prSet phldrT="[Text]" custT="1"/>
      <dgm:spPr>
        <a:blipFill rotWithShape="0">
          <a:blip xmlns:r="http://schemas.openxmlformats.org/officeDocument/2006/relationships" r:embed="rId2"/>
          <a:tile tx="0" ty="0" sx="100000" sy="100000" flip="none" algn="tl"/>
        </a:blipFill>
      </dgm:spPr>
      <dgm:t>
        <a:bodyPr/>
        <a:lstStyle/>
        <a:p>
          <a:r>
            <a:rPr lang="en-US" sz="2800" b="1" dirty="0">
              <a:solidFill>
                <a:srgbClr val="C00000"/>
              </a:solidFill>
              <a:latin typeface="Times New Roman" pitchFamily="18" charset="0"/>
              <a:cs typeface="Times New Roman" pitchFamily="18" charset="0"/>
            </a:rPr>
            <a:t>Outsiders</a:t>
          </a:r>
        </a:p>
      </dgm:t>
    </dgm:pt>
    <dgm:pt modelId="{311D3D2F-CF5F-42BE-A962-2DE5B863560B}" type="parTrans" cxnId="{7F4434EF-FA6D-4522-B77D-5542FD8A1B86}">
      <dgm:prSet custT="1"/>
      <dgm:spPr>
        <a:blipFill rotWithShape="0">
          <a:blip xmlns:r="http://schemas.openxmlformats.org/officeDocument/2006/relationships" r:embed="rId2"/>
          <a:tile tx="0" ty="0" sx="100000" sy="100000" flip="none" algn="tl"/>
        </a:blipFill>
      </dgm:spPr>
      <dgm:t>
        <a:bodyPr/>
        <a:lstStyle/>
        <a:p>
          <a:endParaRPr lang="en-US" sz="2800" b="1">
            <a:latin typeface="Times New Roman" pitchFamily="18" charset="0"/>
            <a:cs typeface="Times New Roman" pitchFamily="18" charset="0"/>
          </a:endParaRPr>
        </a:p>
      </dgm:t>
    </dgm:pt>
    <dgm:pt modelId="{937745EA-C31C-483C-B36E-FC1312C7B283}" type="sibTrans" cxnId="{7F4434EF-FA6D-4522-B77D-5542FD8A1B86}">
      <dgm:prSet/>
      <dgm:spPr/>
      <dgm:t>
        <a:bodyPr/>
        <a:lstStyle/>
        <a:p>
          <a:endParaRPr lang="en-US"/>
        </a:p>
      </dgm:t>
    </dgm:pt>
    <dgm:pt modelId="{AB5EE728-ED90-4691-97E2-DDCA69857D82}">
      <dgm:prSet phldrT="[Text]" custT="1"/>
      <dgm:spPr>
        <a:blipFill rotWithShape="0">
          <a:blip xmlns:r="http://schemas.openxmlformats.org/officeDocument/2006/relationships" r:embed="rId4"/>
          <a:tile tx="0" ty="0" sx="100000" sy="100000" flip="none" algn="tl"/>
        </a:blipFill>
      </dgm:spPr>
      <dgm:t>
        <a:bodyPr/>
        <a:lstStyle/>
        <a:p>
          <a:r>
            <a:rPr lang="en-US" sz="2800" b="1" dirty="0">
              <a:solidFill>
                <a:srgbClr val="FF0000"/>
              </a:solidFill>
              <a:latin typeface="Times New Roman" pitchFamily="18" charset="0"/>
              <a:cs typeface="Times New Roman" pitchFamily="18" charset="0"/>
            </a:rPr>
            <a:t>Customers </a:t>
          </a:r>
        </a:p>
      </dgm:t>
    </dgm:pt>
    <dgm:pt modelId="{5285D685-3075-4987-B5F2-FB53F8034500}" type="parTrans" cxnId="{0F6EE8EA-7F63-40A0-B285-628B3733FE8F}">
      <dgm:prSet custT="1"/>
      <dgm:spPr>
        <a:blipFill rotWithShape="0">
          <a:blip xmlns:r="http://schemas.openxmlformats.org/officeDocument/2006/relationships" r:embed="rId2"/>
          <a:tile tx="0" ty="0" sx="100000" sy="100000" flip="none" algn="tl"/>
        </a:blipFill>
      </dgm:spPr>
      <dgm:t>
        <a:bodyPr/>
        <a:lstStyle/>
        <a:p>
          <a:endParaRPr lang="en-US" sz="2800" b="1">
            <a:latin typeface="Times New Roman" pitchFamily="18" charset="0"/>
            <a:cs typeface="Times New Roman" pitchFamily="18" charset="0"/>
          </a:endParaRPr>
        </a:p>
      </dgm:t>
    </dgm:pt>
    <dgm:pt modelId="{8500E359-9A0A-4351-808C-E7A11DE045AA}" type="sibTrans" cxnId="{0F6EE8EA-7F63-40A0-B285-628B3733FE8F}">
      <dgm:prSet/>
      <dgm:spPr/>
      <dgm:t>
        <a:bodyPr/>
        <a:lstStyle/>
        <a:p>
          <a:endParaRPr lang="en-US"/>
        </a:p>
      </dgm:t>
    </dgm:pt>
    <dgm:pt modelId="{A8AA00A7-3E79-45FB-8F36-5BB807FDF31B}">
      <dgm:prSet custT="1"/>
      <dgm:spPr>
        <a:blipFill rotWithShape="0">
          <a:blip xmlns:r="http://schemas.openxmlformats.org/officeDocument/2006/relationships" r:embed="rId4"/>
          <a:tile tx="0" ty="0" sx="100000" sy="100000" flip="none" algn="tl"/>
        </a:blipFill>
      </dgm:spPr>
      <dgm:t>
        <a:bodyPr/>
        <a:lstStyle/>
        <a:p>
          <a:r>
            <a:rPr lang="en-US" sz="2800" b="1" dirty="0">
              <a:solidFill>
                <a:srgbClr val="0000FF"/>
              </a:solidFill>
              <a:latin typeface="Times New Roman" pitchFamily="18" charset="0"/>
              <a:cs typeface="Times New Roman" pitchFamily="18" charset="0"/>
            </a:rPr>
            <a:t>Suppliers </a:t>
          </a:r>
        </a:p>
      </dgm:t>
    </dgm:pt>
    <dgm:pt modelId="{9F8900A3-6BBA-42D3-8EE2-9A18E89C94ED}" type="parTrans" cxnId="{F349213E-CE2D-48C8-BECC-569D0248507D}">
      <dgm:prSet custT="1"/>
      <dgm:spPr>
        <a:blipFill rotWithShape="0">
          <a:blip xmlns:r="http://schemas.openxmlformats.org/officeDocument/2006/relationships" r:embed="rId2"/>
          <a:tile tx="0" ty="0" sx="100000" sy="100000" flip="none" algn="tl"/>
        </a:blipFill>
      </dgm:spPr>
      <dgm:t>
        <a:bodyPr/>
        <a:lstStyle/>
        <a:p>
          <a:endParaRPr lang="en-US" sz="2800" b="1">
            <a:latin typeface="Times New Roman" pitchFamily="18" charset="0"/>
            <a:cs typeface="Times New Roman" pitchFamily="18" charset="0"/>
          </a:endParaRPr>
        </a:p>
      </dgm:t>
    </dgm:pt>
    <dgm:pt modelId="{2974D308-D39D-4920-8274-B478CAE16E47}" type="sibTrans" cxnId="{F349213E-CE2D-48C8-BECC-569D0248507D}">
      <dgm:prSet/>
      <dgm:spPr/>
      <dgm:t>
        <a:bodyPr/>
        <a:lstStyle/>
        <a:p>
          <a:endParaRPr lang="en-US"/>
        </a:p>
      </dgm:t>
    </dgm:pt>
    <dgm:pt modelId="{76AE18D3-1443-4CBF-8E28-7CDED4133EB8}">
      <dgm:prSet custT="1"/>
      <dgm:spPr>
        <a:blipFill rotWithShape="0">
          <a:blip xmlns:r="http://schemas.openxmlformats.org/officeDocument/2006/relationships" r:embed="rId4"/>
          <a:tile tx="0" ty="0" sx="100000" sy="100000" flip="none" algn="tl"/>
        </a:blipFill>
      </dgm:spPr>
      <dgm:t>
        <a:bodyPr/>
        <a:lstStyle/>
        <a:p>
          <a:r>
            <a:rPr lang="en-US" sz="2800" b="1" dirty="0">
              <a:solidFill>
                <a:schemeClr val="tx1"/>
              </a:solidFill>
              <a:latin typeface="Times New Roman" pitchFamily="18" charset="0"/>
              <a:cs typeface="Times New Roman" pitchFamily="18" charset="0"/>
            </a:rPr>
            <a:t>Investors </a:t>
          </a:r>
        </a:p>
      </dgm:t>
    </dgm:pt>
    <dgm:pt modelId="{30982D16-396D-40BA-8CF9-D4AA9FF6FFBD}" type="parTrans" cxnId="{8266CA1D-B059-447B-A731-DF4543AAAC39}">
      <dgm:prSet custT="1"/>
      <dgm:spPr>
        <a:blipFill rotWithShape="0">
          <a:blip xmlns:r="http://schemas.openxmlformats.org/officeDocument/2006/relationships" r:embed="rId2"/>
          <a:tile tx="0" ty="0" sx="100000" sy="100000" flip="none" algn="tl"/>
        </a:blipFill>
      </dgm:spPr>
      <dgm:t>
        <a:bodyPr/>
        <a:lstStyle/>
        <a:p>
          <a:endParaRPr lang="en-US" sz="2800" b="1">
            <a:latin typeface="Times New Roman" pitchFamily="18" charset="0"/>
            <a:cs typeface="Times New Roman" pitchFamily="18" charset="0"/>
          </a:endParaRPr>
        </a:p>
      </dgm:t>
    </dgm:pt>
    <dgm:pt modelId="{4454BFC4-DCBA-40A6-BEA2-A7978D71615D}" type="sibTrans" cxnId="{8266CA1D-B059-447B-A731-DF4543AAAC39}">
      <dgm:prSet/>
      <dgm:spPr/>
      <dgm:t>
        <a:bodyPr/>
        <a:lstStyle/>
        <a:p>
          <a:endParaRPr lang="en-US"/>
        </a:p>
      </dgm:t>
    </dgm:pt>
    <dgm:pt modelId="{0573D702-06F1-4623-8629-2A8BF1C16B56}" type="pres">
      <dgm:prSet presAssocID="{75AE0B58-2281-4E9D-B0E5-07DFBB5BB2FF}" presName="diagram" presStyleCnt="0">
        <dgm:presLayoutVars>
          <dgm:chPref val="1"/>
          <dgm:dir/>
          <dgm:animOne val="branch"/>
          <dgm:animLvl val="lvl"/>
          <dgm:resizeHandles val="exact"/>
        </dgm:presLayoutVars>
      </dgm:prSet>
      <dgm:spPr/>
    </dgm:pt>
    <dgm:pt modelId="{29720873-242E-419A-9607-DF8C6AC12E3E}" type="pres">
      <dgm:prSet presAssocID="{E46EB41B-EC15-4E72-8CEB-4DF62FF85931}" presName="root1" presStyleCnt="0"/>
      <dgm:spPr/>
    </dgm:pt>
    <dgm:pt modelId="{50CEC25F-F304-42FB-A339-F4A2DB8C1FE1}" type="pres">
      <dgm:prSet presAssocID="{E46EB41B-EC15-4E72-8CEB-4DF62FF85931}" presName="LevelOneTextNode" presStyleLbl="node0" presStyleIdx="0" presStyleCnt="1" custScaleX="131053" custScaleY="134581">
        <dgm:presLayoutVars>
          <dgm:chPref val="3"/>
        </dgm:presLayoutVars>
      </dgm:prSet>
      <dgm:spPr/>
    </dgm:pt>
    <dgm:pt modelId="{CED4DA7F-7343-4D89-9107-34C6717954F6}" type="pres">
      <dgm:prSet presAssocID="{E46EB41B-EC15-4E72-8CEB-4DF62FF85931}" presName="level2hierChild" presStyleCnt="0"/>
      <dgm:spPr/>
    </dgm:pt>
    <dgm:pt modelId="{7ABE0660-C7F2-4FBD-9020-2FCDC4FA8380}" type="pres">
      <dgm:prSet presAssocID="{220B0779-3756-4A48-B774-56EFF1BEA7B7}" presName="conn2-1" presStyleLbl="parChTrans1D2" presStyleIdx="0" presStyleCnt="2"/>
      <dgm:spPr/>
    </dgm:pt>
    <dgm:pt modelId="{162C5C74-F18F-47B6-BC41-8A952D2D5B35}" type="pres">
      <dgm:prSet presAssocID="{220B0779-3756-4A48-B774-56EFF1BEA7B7}" presName="connTx" presStyleLbl="parChTrans1D2" presStyleIdx="0" presStyleCnt="2"/>
      <dgm:spPr/>
    </dgm:pt>
    <dgm:pt modelId="{7069BF7D-E21E-47C7-9E33-D2C491DEAE85}" type="pres">
      <dgm:prSet presAssocID="{8A29C04B-EEF1-425B-A9B9-55DDD145F285}" presName="root2" presStyleCnt="0"/>
      <dgm:spPr/>
    </dgm:pt>
    <dgm:pt modelId="{34E4CF66-65F2-42EE-B223-A4C6574FB4B7}" type="pres">
      <dgm:prSet presAssocID="{8A29C04B-EEF1-425B-A9B9-55DDD145F285}" presName="LevelTwoTextNode" presStyleLbl="node2" presStyleIdx="0" presStyleCnt="2">
        <dgm:presLayoutVars>
          <dgm:chPref val="3"/>
        </dgm:presLayoutVars>
      </dgm:prSet>
      <dgm:spPr/>
    </dgm:pt>
    <dgm:pt modelId="{824C7C78-FA03-4A0B-9561-78D5BB0CFF10}" type="pres">
      <dgm:prSet presAssocID="{8A29C04B-EEF1-425B-A9B9-55DDD145F285}" presName="level3hierChild" presStyleCnt="0"/>
      <dgm:spPr/>
    </dgm:pt>
    <dgm:pt modelId="{F303A969-2ADB-400A-9F97-8EF31944BE9A}" type="pres">
      <dgm:prSet presAssocID="{51E27C38-F7D4-4F46-AE77-7CAECFC4499C}" presName="conn2-1" presStyleLbl="parChTrans1D3" presStyleIdx="0" presStyleCnt="5"/>
      <dgm:spPr/>
    </dgm:pt>
    <dgm:pt modelId="{2718768B-B26F-4E01-9775-9B503DDFCF2C}" type="pres">
      <dgm:prSet presAssocID="{51E27C38-F7D4-4F46-AE77-7CAECFC4499C}" presName="connTx" presStyleLbl="parChTrans1D3" presStyleIdx="0" presStyleCnt="5"/>
      <dgm:spPr/>
    </dgm:pt>
    <dgm:pt modelId="{B819B8AC-F8EF-4BD6-8BCF-DCE684C036B8}" type="pres">
      <dgm:prSet presAssocID="{6E473DA6-2AE4-4875-9661-EBE98D66FE78}" presName="root2" presStyleCnt="0"/>
      <dgm:spPr/>
    </dgm:pt>
    <dgm:pt modelId="{687222F5-837B-4784-9E9A-02ABEAF4866B}" type="pres">
      <dgm:prSet presAssocID="{6E473DA6-2AE4-4875-9661-EBE98D66FE78}" presName="LevelTwoTextNode" presStyleLbl="node3" presStyleIdx="0" presStyleCnt="5" custScaleX="100000">
        <dgm:presLayoutVars>
          <dgm:chPref val="3"/>
        </dgm:presLayoutVars>
      </dgm:prSet>
      <dgm:spPr/>
    </dgm:pt>
    <dgm:pt modelId="{62974B44-9F66-47D1-A997-890B8D6422B8}" type="pres">
      <dgm:prSet presAssocID="{6E473DA6-2AE4-4875-9661-EBE98D66FE78}" presName="level3hierChild" presStyleCnt="0"/>
      <dgm:spPr/>
    </dgm:pt>
    <dgm:pt modelId="{323818B5-450E-43B0-B5DE-3883F4B939C3}" type="pres">
      <dgm:prSet presAssocID="{5D7BEED6-D220-47AF-BA70-79E28742935B}" presName="conn2-1" presStyleLbl="parChTrans1D3" presStyleIdx="1" presStyleCnt="5"/>
      <dgm:spPr/>
    </dgm:pt>
    <dgm:pt modelId="{91C7FB68-E7F6-45BF-8561-8648802A9749}" type="pres">
      <dgm:prSet presAssocID="{5D7BEED6-D220-47AF-BA70-79E28742935B}" presName="connTx" presStyleLbl="parChTrans1D3" presStyleIdx="1" presStyleCnt="5"/>
      <dgm:spPr/>
    </dgm:pt>
    <dgm:pt modelId="{78647AFC-5256-4396-AB4C-AB63CA880A56}" type="pres">
      <dgm:prSet presAssocID="{63D37F02-FC26-4D35-BAC4-F3B4A03D80F2}" presName="root2" presStyleCnt="0"/>
      <dgm:spPr/>
    </dgm:pt>
    <dgm:pt modelId="{9620AA42-3FE2-4DED-8D8A-85A9EB91C8D3}" type="pres">
      <dgm:prSet presAssocID="{63D37F02-FC26-4D35-BAC4-F3B4A03D80F2}" presName="LevelTwoTextNode" presStyleLbl="node3" presStyleIdx="1" presStyleCnt="5" custScaleX="100000">
        <dgm:presLayoutVars>
          <dgm:chPref val="3"/>
        </dgm:presLayoutVars>
      </dgm:prSet>
      <dgm:spPr/>
    </dgm:pt>
    <dgm:pt modelId="{3A8895AE-97A0-4372-926E-13D6C66489C4}" type="pres">
      <dgm:prSet presAssocID="{63D37F02-FC26-4D35-BAC4-F3B4A03D80F2}" presName="level3hierChild" presStyleCnt="0"/>
      <dgm:spPr/>
    </dgm:pt>
    <dgm:pt modelId="{1947E2D1-711F-4385-B019-6598F332BAD5}" type="pres">
      <dgm:prSet presAssocID="{311D3D2F-CF5F-42BE-A962-2DE5B863560B}" presName="conn2-1" presStyleLbl="parChTrans1D2" presStyleIdx="1" presStyleCnt="2"/>
      <dgm:spPr/>
    </dgm:pt>
    <dgm:pt modelId="{5DDE5916-6C13-44FB-8632-29E3E5BE8D87}" type="pres">
      <dgm:prSet presAssocID="{311D3D2F-CF5F-42BE-A962-2DE5B863560B}" presName="connTx" presStyleLbl="parChTrans1D2" presStyleIdx="1" presStyleCnt="2"/>
      <dgm:spPr/>
    </dgm:pt>
    <dgm:pt modelId="{64E0D2E1-AA3A-4BD8-AF87-2279F0B002E6}" type="pres">
      <dgm:prSet presAssocID="{78DBFEC2-0077-4762-8A96-49209DD9EA01}" presName="root2" presStyleCnt="0"/>
      <dgm:spPr/>
    </dgm:pt>
    <dgm:pt modelId="{88E2162D-DCAF-49EC-A223-BFFBB6919716}" type="pres">
      <dgm:prSet presAssocID="{78DBFEC2-0077-4762-8A96-49209DD9EA01}" presName="LevelTwoTextNode" presStyleLbl="node2" presStyleIdx="1" presStyleCnt="2">
        <dgm:presLayoutVars>
          <dgm:chPref val="3"/>
        </dgm:presLayoutVars>
      </dgm:prSet>
      <dgm:spPr/>
    </dgm:pt>
    <dgm:pt modelId="{F588CC1D-D2D4-4BF1-957F-51B02CCB89D1}" type="pres">
      <dgm:prSet presAssocID="{78DBFEC2-0077-4762-8A96-49209DD9EA01}" presName="level3hierChild" presStyleCnt="0"/>
      <dgm:spPr/>
    </dgm:pt>
    <dgm:pt modelId="{C7F9AB3B-6B61-4179-B07D-D4B51E310FB4}" type="pres">
      <dgm:prSet presAssocID="{5285D685-3075-4987-B5F2-FB53F8034500}" presName="conn2-1" presStyleLbl="parChTrans1D3" presStyleIdx="2" presStyleCnt="5"/>
      <dgm:spPr/>
    </dgm:pt>
    <dgm:pt modelId="{4FA7FFD1-3718-4BE6-81D4-546769F8EFB4}" type="pres">
      <dgm:prSet presAssocID="{5285D685-3075-4987-B5F2-FB53F8034500}" presName="connTx" presStyleLbl="parChTrans1D3" presStyleIdx="2" presStyleCnt="5"/>
      <dgm:spPr/>
    </dgm:pt>
    <dgm:pt modelId="{A4863EF4-0855-42F4-81CA-2D1F1797CC20}" type="pres">
      <dgm:prSet presAssocID="{AB5EE728-ED90-4691-97E2-DDCA69857D82}" presName="root2" presStyleCnt="0"/>
      <dgm:spPr/>
    </dgm:pt>
    <dgm:pt modelId="{84CED4AD-23B3-4CB0-A027-68DD45DD83B0}" type="pres">
      <dgm:prSet presAssocID="{AB5EE728-ED90-4691-97E2-DDCA69857D82}" presName="LevelTwoTextNode" presStyleLbl="node3" presStyleIdx="2" presStyleCnt="5">
        <dgm:presLayoutVars>
          <dgm:chPref val="3"/>
        </dgm:presLayoutVars>
      </dgm:prSet>
      <dgm:spPr/>
    </dgm:pt>
    <dgm:pt modelId="{92F89FAF-5C0B-45DC-B70E-3D4187D5B0EA}" type="pres">
      <dgm:prSet presAssocID="{AB5EE728-ED90-4691-97E2-DDCA69857D82}" presName="level3hierChild" presStyleCnt="0"/>
      <dgm:spPr/>
    </dgm:pt>
    <dgm:pt modelId="{1C01A1DF-765A-4E42-A3FD-0F115142E106}" type="pres">
      <dgm:prSet presAssocID="{9F8900A3-6BBA-42D3-8EE2-9A18E89C94ED}" presName="conn2-1" presStyleLbl="parChTrans1D3" presStyleIdx="3" presStyleCnt="5"/>
      <dgm:spPr/>
    </dgm:pt>
    <dgm:pt modelId="{A5129ACB-0856-44BC-A593-CDB373E0EBEA}" type="pres">
      <dgm:prSet presAssocID="{9F8900A3-6BBA-42D3-8EE2-9A18E89C94ED}" presName="connTx" presStyleLbl="parChTrans1D3" presStyleIdx="3" presStyleCnt="5"/>
      <dgm:spPr/>
    </dgm:pt>
    <dgm:pt modelId="{F38DC585-7105-42FE-81E0-D7908C569D87}" type="pres">
      <dgm:prSet presAssocID="{A8AA00A7-3E79-45FB-8F36-5BB807FDF31B}" presName="root2" presStyleCnt="0"/>
      <dgm:spPr/>
    </dgm:pt>
    <dgm:pt modelId="{BFD5A05A-B351-4A7E-9B62-127FEA6AAEB6}" type="pres">
      <dgm:prSet presAssocID="{A8AA00A7-3E79-45FB-8F36-5BB807FDF31B}" presName="LevelTwoTextNode" presStyleLbl="node3" presStyleIdx="3" presStyleCnt="5">
        <dgm:presLayoutVars>
          <dgm:chPref val="3"/>
        </dgm:presLayoutVars>
      </dgm:prSet>
      <dgm:spPr/>
    </dgm:pt>
    <dgm:pt modelId="{B107F88D-A3F0-4EA1-AFA1-0D9CB7ED7EA9}" type="pres">
      <dgm:prSet presAssocID="{A8AA00A7-3E79-45FB-8F36-5BB807FDF31B}" presName="level3hierChild" presStyleCnt="0"/>
      <dgm:spPr/>
    </dgm:pt>
    <dgm:pt modelId="{61A8F703-1A96-49B9-B1F1-3DF3D27A2C2A}" type="pres">
      <dgm:prSet presAssocID="{30982D16-396D-40BA-8CF9-D4AA9FF6FFBD}" presName="conn2-1" presStyleLbl="parChTrans1D3" presStyleIdx="4" presStyleCnt="5"/>
      <dgm:spPr/>
    </dgm:pt>
    <dgm:pt modelId="{E6F371D5-4C2C-4C98-B761-6264F2612F8E}" type="pres">
      <dgm:prSet presAssocID="{30982D16-396D-40BA-8CF9-D4AA9FF6FFBD}" presName="connTx" presStyleLbl="parChTrans1D3" presStyleIdx="4" presStyleCnt="5"/>
      <dgm:spPr/>
    </dgm:pt>
    <dgm:pt modelId="{8819754C-92A6-4D06-A02F-A8D314A2DDEC}" type="pres">
      <dgm:prSet presAssocID="{76AE18D3-1443-4CBF-8E28-7CDED4133EB8}" presName="root2" presStyleCnt="0"/>
      <dgm:spPr/>
    </dgm:pt>
    <dgm:pt modelId="{64146714-8329-49DF-82CA-46905CBC7151}" type="pres">
      <dgm:prSet presAssocID="{76AE18D3-1443-4CBF-8E28-7CDED4133EB8}" presName="LevelTwoTextNode" presStyleLbl="node3" presStyleIdx="4" presStyleCnt="5">
        <dgm:presLayoutVars>
          <dgm:chPref val="3"/>
        </dgm:presLayoutVars>
      </dgm:prSet>
      <dgm:spPr/>
    </dgm:pt>
    <dgm:pt modelId="{34A9743B-C869-4E06-ADE3-B728C835C810}" type="pres">
      <dgm:prSet presAssocID="{76AE18D3-1443-4CBF-8E28-7CDED4133EB8}" presName="level3hierChild" presStyleCnt="0"/>
      <dgm:spPr/>
    </dgm:pt>
  </dgm:ptLst>
  <dgm:cxnLst>
    <dgm:cxn modelId="{AE586D00-D709-4EDC-B99B-D55219FEE307}" type="presOf" srcId="{6E473DA6-2AE4-4875-9661-EBE98D66FE78}" destId="{687222F5-837B-4784-9E9A-02ABEAF4866B}" srcOrd="0" destOrd="0" presId="urn:microsoft.com/office/officeart/2005/8/layout/hierarchy2"/>
    <dgm:cxn modelId="{8960F900-1CE4-46A3-9B40-9CFB35BFFCA0}" type="presOf" srcId="{51E27C38-F7D4-4F46-AE77-7CAECFC4499C}" destId="{2718768B-B26F-4E01-9775-9B503DDFCF2C}" srcOrd="1" destOrd="0" presId="urn:microsoft.com/office/officeart/2005/8/layout/hierarchy2"/>
    <dgm:cxn modelId="{01EB6B04-3651-4BC8-8F22-FF569456F05F}" type="presOf" srcId="{75AE0B58-2281-4E9D-B0E5-07DFBB5BB2FF}" destId="{0573D702-06F1-4623-8629-2A8BF1C16B56}" srcOrd="0" destOrd="0" presId="urn:microsoft.com/office/officeart/2005/8/layout/hierarchy2"/>
    <dgm:cxn modelId="{BAD11610-5817-4CC9-B024-9AA6C7607207}" type="presOf" srcId="{220B0779-3756-4A48-B774-56EFF1BEA7B7}" destId="{7ABE0660-C7F2-4FBD-9020-2FCDC4FA8380}" srcOrd="0" destOrd="0" presId="urn:microsoft.com/office/officeart/2005/8/layout/hierarchy2"/>
    <dgm:cxn modelId="{E6C83312-8C52-4672-B9C9-8605215F8D22}" type="presOf" srcId="{8A29C04B-EEF1-425B-A9B9-55DDD145F285}" destId="{34E4CF66-65F2-42EE-B223-A4C6574FB4B7}" srcOrd="0" destOrd="0" presId="urn:microsoft.com/office/officeart/2005/8/layout/hierarchy2"/>
    <dgm:cxn modelId="{06074115-695F-41C2-A2D8-E05605C05D0B}" type="presOf" srcId="{78DBFEC2-0077-4762-8A96-49209DD9EA01}" destId="{88E2162D-DCAF-49EC-A223-BFFBB6919716}" srcOrd="0" destOrd="0" presId="urn:microsoft.com/office/officeart/2005/8/layout/hierarchy2"/>
    <dgm:cxn modelId="{CB22B71A-5C32-4689-B522-4A4821CDE625}" srcId="{8A29C04B-EEF1-425B-A9B9-55DDD145F285}" destId="{6E473DA6-2AE4-4875-9661-EBE98D66FE78}" srcOrd="0" destOrd="0" parTransId="{51E27C38-F7D4-4F46-AE77-7CAECFC4499C}" sibTransId="{60661557-3A51-4885-964C-34F69B02EFBB}"/>
    <dgm:cxn modelId="{8266CA1D-B059-447B-A731-DF4543AAAC39}" srcId="{78DBFEC2-0077-4762-8A96-49209DD9EA01}" destId="{76AE18D3-1443-4CBF-8E28-7CDED4133EB8}" srcOrd="2" destOrd="0" parTransId="{30982D16-396D-40BA-8CF9-D4AA9FF6FFBD}" sibTransId="{4454BFC4-DCBA-40A6-BEA2-A7978D71615D}"/>
    <dgm:cxn modelId="{87DA3D26-6A71-4BF4-A1E9-5CCDDF8DDC0F}" srcId="{E46EB41B-EC15-4E72-8CEB-4DF62FF85931}" destId="{8A29C04B-EEF1-425B-A9B9-55DDD145F285}" srcOrd="0" destOrd="0" parTransId="{220B0779-3756-4A48-B774-56EFF1BEA7B7}" sibTransId="{A3D602A4-6803-4F45-B901-A0456A97282E}"/>
    <dgm:cxn modelId="{F349213E-CE2D-48C8-BECC-569D0248507D}" srcId="{78DBFEC2-0077-4762-8A96-49209DD9EA01}" destId="{A8AA00A7-3E79-45FB-8F36-5BB807FDF31B}" srcOrd="1" destOrd="0" parTransId="{9F8900A3-6BBA-42D3-8EE2-9A18E89C94ED}" sibTransId="{2974D308-D39D-4920-8274-B478CAE16E47}"/>
    <dgm:cxn modelId="{18FE1462-6BB2-4BE6-A8E1-A72A96352038}" type="presOf" srcId="{A8AA00A7-3E79-45FB-8F36-5BB807FDF31B}" destId="{BFD5A05A-B351-4A7E-9B62-127FEA6AAEB6}" srcOrd="0" destOrd="0" presId="urn:microsoft.com/office/officeart/2005/8/layout/hierarchy2"/>
    <dgm:cxn modelId="{47F80149-B2E7-49D4-B5C6-FCC10ACBA6C5}" type="presOf" srcId="{E46EB41B-EC15-4E72-8CEB-4DF62FF85931}" destId="{50CEC25F-F304-42FB-A339-F4A2DB8C1FE1}" srcOrd="0" destOrd="0" presId="urn:microsoft.com/office/officeart/2005/8/layout/hierarchy2"/>
    <dgm:cxn modelId="{74F0356A-4254-4287-9F7C-0E6BCF16ABCC}" type="presOf" srcId="{30982D16-396D-40BA-8CF9-D4AA9FF6FFBD}" destId="{61A8F703-1A96-49B9-B1F1-3DF3D27A2C2A}" srcOrd="0" destOrd="0" presId="urn:microsoft.com/office/officeart/2005/8/layout/hierarchy2"/>
    <dgm:cxn modelId="{6543DF4B-06CC-4E32-96CD-3BE983409135}" srcId="{75AE0B58-2281-4E9D-B0E5-07DFBB5BB2FF}" destId="{E46EB41B-EC15-4E72-8CEB-4DF62FF85931}" srcOrd="0" destOrd="0" parTransId="{F4E8447D-8DAE-4B2F-BCA3-1A0155D414F4}" sibTransId="{CC0A8AF8-D399-4E12-97A0-5C72248D86FE}"/>
    <dgm:cxn modelId="{237BA175-DE0B-4800-9385-AEB34E11FA74}" srcId="{8A29C04B-EEF1-425B-A9B9-55DDD145F285}" destId="{63D37F02-FC26-4D35-BAC4-F3B4A03D80F2}" srcOrd="1" destOrd="0" parTransId="{5D7BEED6-D220-47AF-BA70-79E28742935B}" sibTransId="{F5DD81F9-C202-4E9D-9DDA-F3C69406CA6F}"/>
    <dgm:cxn modelId="{02444B76-3A3B-4553-8C98-DACEBEB47C83}" type="presOf" srcId="{5285D685-3075-4987-B5F2-FB53F8034500}" destId="{C7F9AB3B-6B61-4179-B07D-D4B51E310FB4}" srcOrd="0" destOrd="0" presId="urn:microsoft.com/office/officeart/2005/8/layout/hierarchy2"/>
    <dgm:cxn modelId="{69DAC577-2B82-4E73-BFBB-76BC059AAE97}" type="presOf" srcId="{311D3D2F-CF5F-42BE-A962-2DE5B863560B}" destId="{1947E2D1-711F-4385-B019-6598F332BAD5}" srcOrd="0" destOrd="0" presId="urn:microsoft.com/office/officeart/2005/8/layout/hierarchy2"/>
    <dgm:cxn modelId="{C9A1B892-DA8C-4C3C-8D1A-38A849DC1ED4}" type="presOf" srcId="{220B0779-3756-4A48-B774-56EFF1BEA7B7}" destId="{162C5C74-F18F-47B6-BC41-8A952D2D5B35}" srcOrd="1" destOrd="0" presId="urn:microsoft.com/office/officeart/2005/8/layout/hierarchy2"/>
    <dgm:cxn modelId="{5307DE96-9269-45DC-AAD1-582EEB24308C}" type="presOf" srcId="{5D7BEED6-D220-47AF-BA70-79E28742935B}" destId="{91C7FB68-E7F6-45BF-8561-8648802A9749}" srcOrd="1" destOrd="0" presId="urn:microsoft.com/office/officeart/2005/8/layout/hierarchy2"/>
    <dgm:cxn modelId="{A06E6C97-6416-4914-A7B5-AA023BB64BF7}" type="presOf" srcId="{AB5EE728-ED90-4691-97E2-DDCA69857D82}" destId="{84CED4AD-23B3-4CB0-A027-68DD45DD83B0}" srcOrd="0" destOrd="0" presId="urn:microsoft.com/office/officeart/2005/8/layout/hierarchy2"/>
    <dgm:cxn modelId="{90C7159C-C89D-4974-9661-0D8CF520FE5E}" type="presOf" srcId="{9F8900A3-6BBA-42D3-8EE2-9A18E89C94ED}" destId="{1C01A1DF-765A-4E42-A3FD-0F115142E106}" srcOrd="0" destOrd="0" presId="urn:microsoft.com/office/officeart/2005/8/layout/hierarchy2"/>
    <dgm:cxn modelId="{B5A07DA4-E6E7-44D1-910B-4A077147617F}" type="presOf" srcId="{51E27C38-F7D4-4F46-AE77-7CAECFC4499C}" destId="{F303A969-2ADB-400A-9F97-8EF31944BE9A}" srcOrd="0" destOrd="0" presId="urn:microsoft.com/office/officeart/2005/8/layout/hierarchy2"/>
    <dgm:cxn modelId="{487C01AB-3D9B-493C-B2A6-BF4A9F249CB2}" type="presOf" srcId="{5285D685-3075-4987-B5F2-FB53F8034500}" destId="{4FA7FFD1-3718-4BE6-81D4-546769F8EFB4}" srcOrd="1" destOrd="0" presId="urn:microsoft.com/office/officeart/2005/8/layout/hierarchy2"/>
    <dgm:cxn modelId="{EB27B0AD-7228-4C64-807C-7512C1BF7755}" type="presOf" srcId="{9F8900A3-6BBA-42D3-8EE2-9A18E89C94ED}" destId="{A5129ACB-0856-44BC-A593-CDB373E0EBEA}" srcOrd="1" destOrd="0" presId="urn:microsoft.com/office/officeart/2005/8/layout/hierarchy2"/>
    <dgm:cxn modelId="{E69D24B7-7720-4D10-AABB-0169C224C369}" type="presOf" srcId="{76AE18D3-1443-4CBF-8E28-7CDED4133EB8}" destId="{64146714-8329-49DF-82CA-46905CBC7151}" srcOrd="0" destOrd="0" presId="urn:microsoft.com/office/officeart/2005/8/layout/hierarchy2"/>
    <dgm:cxn modelId="{3F83EDBA-8957-4EB6-9DF8-230F0D651D92}" type="presOf" srcId="{5D7BEED6-D220-47AF-BA70-79E28742935B}" destId="{323818B5-450E-43B0-B5DE-3883F4B939C3}" srcOrd="0" destOrd="0" presId="urn:microsoft.com/office/officeart/2005/8/layout/hierarchy2"/>
    <dgm:cxn modelId="{88ABCCC1-2FAB-4920-A6DD-ACFA346CDA35}" type="presOf" srcId="{311D3D2F-CF5F-42BE-A962-2DE5B863560B}" destId="{5DDE5916-6C13-44FB-8632-29E3E5BE8D87}" srcOrd="1" destOrd="0" presId="urn:microsoft.com/office/officeart/2005/8/layout/hierarchy2"/>
    <dgm:cxn modelId="{1C359BE2-D0B2-416E-B5CF-3208C5DD9D5E}" type="presOf" srcId="{63D37F02-FC26-4D35-BAC4-F3B4A03D80F2}" destId="{9620AA42-3FE2-4DED-8D8A-85A9EB91C8D3}" srcOrd="0" destOrd="0" presId="urn:microsoft.com/office/officeart/2005/8/layout/hierarchy2"/>
    <dgm:cxn modelId="{EDDA64EA-BE6A-41DD-B650-DFD1CFA90638}" type="presOf" srcId="{30982D16-396D-40BA-8CF9-D4AA9FF6FFBD}" destId="{E6F371D5-4C2C-4C98-B761-6264F2612F8E}" srcOrd="1" destOrd="0" presId="urn:microsoft.com/office/officeart/2005/8/layout/hierarchy2"/>
    <dgm:cxn modelId="{0F6EE8EA-7F63-40A0-B285-628B3733FE8F}" srcId="{78DBFEC2-0077-4762-8A96-49209DD9EA01}" destId="{AB5EE728-ED90-4691-97E2-DDCA69857D82}" srcOrd="0" destOrd="0" parTransId="{5285D685-3075-4987-B5F2-FB53F8034500}" sibTransId="{8500E359-9A0A-4351-808C-E7A11DE045AA}"/>
    <dgm:cxn modelId="{7F4434EF-FA6D-4522-B77D-5542FD8A1B86}" srcId="{E46EB41B-EC15-4E72-8CEB-4DF62FF85931}" destId="{78DBFEC2-0077-4762-8A96-49209DD9EA01}" srcOrd="1" destOrd="0" parTransId="{311D3D2F-CF5F-42BE-A962-2DE5B863560B}" sibTransId="{937745EA-C31C-483C-B36E-FC1312C7B283}"/>
    <dgm:cxn modelId="{F6CE9A3C-C00B-43CC-84A9-D04E0EF0FAF6}" type="presParOf" srcId="{0573D702-06F1-4623-8629-2A8BF1C16B56}" destId="{29720873-242E-419A-9607-DF8C6AC12E3E}" srcOrd="0" destOrd="0" presId="urn:microsoft.com/office/officeart/2005/8/layout/hierarchy2"/>
    <dgm:cxn modelId="{8425017B-357D-4D3C-8357-D46A7E6C09B0}" type="presParOf" srcId="{29720873-242E-419A-9607-DF8C6AC12E3E}" destId="{50CEC25F-F304-42FB-A339-F4A2DB8C1FE1}" srcOrd="0" destOrd="0" presId="urn:microsoft.com/office/officeart/2005/8/layout/hierarchy2"/>
    <dgm:cxn modelId="{51753D0C-ECFD-4795-A880-4FAEC77B83F2}" type="presParOf" srcId="{29720873-242E-419A-9607-DF8C6AC12E3E}" destId="{CED4DA7F-7343-4D89-9107-34C6717954F6}" srcOrd="1" destOrd="0" presId="urn:microsoft.com/office/officeart/2005/8/layout/hierarchy2"/>
    <dgm:cxn modelId="{C960E853-F778-49CE-A060-3C6B0831F33A}" type="presParOf" srcId="{CED4DA7F-7343-4D89-9107-34C6717954F6}" destId="{7ABE0660-C7F2-4FBD-9020-2FCDC4FA8380}" srcOrd="0" destOrd="0" presId="urn:microsoft.com/office/officeart/2005/8/layout/hierarchy2"/>
    <dgm:cxn modelId="{0FCB69E5-2D21-4CCA-8967-AC0588EB7875}" type="presParOf" srcId="{7ABE0660-C7F2-4FBD-9020-2FCDC4FA8380}" destId="{162C5C74-F18F-47B6-BC41-8A952D2D5B35}" srcOrd="0" destOrd="0" presId="urn:microsoft.com/office/officeart/2005/8/layout/hierarchy2"/>
    <dgm:cxn modelId="{E55AF659-FBE9-453A-8380-1EB7B2E2E00F}" type="presParOf" srcId="{CED4DA7F-7343-4D89-9107-34C6717954F6}" destId="{7069BF7D-E21E-47C7-9E33-D2C491DEAE85}" srcOrd="1" destOrd="0" presId="urn:microsoft.com/office/officeart/2005/8/layout/hierarchy2"/>
    <dgm:cxn modelId="{50159348-4C91-475B-AA7A-8DD463D9AC94}" type="presParOf" srcId="{7069BF7D-E21E-47C7-9E33-D2C491DEAE85}" destId="{34E4CF66-65F2-42EE-B223-A4C6574FB4B7}" srcOrd="0" destOrd="0" presId="urn:microsoft.com/office/officeart/2005/8/layout/hierarchy2"/>
    <dgm:cxn modelId="{5DC3A272-255A-4154-A0B7-C7DB126E6DB7}" type="presParOf" srcId="{7069BF7D-E21E-47C7-9E33-D2C491DEAE85}" destId="{824C7C78-FA03-4A0B-9561-78D5BB0CFF10}" srcOrd="1" destOrd="0" presId="urn:microsoft.com/office/officeart/2005/8/layout/hierarchy2"/>
    <dgm:cxn modelId="{02E346AB-E4A8-4D01-B887-22B66083717D}" type="presParOf" srcId="{824C7C78-FA03-4A0B-9561-78D5BB0CFF10}" destId="{F303A969-2ADB-400A-9F97-8EF31944BE9A}" srcOrd="0" destOrd="0" presId="urn:microsoft.com/office/officeart/2005/8/layout/hierarchy2"/>
    <dgm:cxn modelId="{34DEDA22-C5C1-4A5D-B8BD-D2FFF7150216}" type="presParOf" srcId="{F303A969-2ADB-400A-9F97-8EF31944BE9A}" destId="{2718768B-B26F-4E01-9775-9B503DDFCF2C}" srcOrd="0" destOrd="0" presId="urn:microsoft.com/office/officeart/2005/8/layout/hierarchy2"/>
    <dgm:cxn modelId="{8EBD1EDA-1E83-4C64-B341-299436A643C4}" type="presParOf" srcId="{824C7C78-FA03-4A0B-9561-78D5BB0CFF10}" destId="{B819B8AC-F8EF-4BD6-8BCF-DCE684C036B8}" srcOrd="1" destOrd="0" presId="urn:microsoft.com/office/officeart/2005/8/layout/hierarchy2"/>
    <dgm:cxn modelId="{2274E61E-6EFF-4362-8A8D-89D04778157C}" type="presParOf" srcId="{B819B8AC-F8EF-4BD6-8BCF-DCE684C036B8}" destId="{687222F5-837B-4784-9E9A-02ABEAF4866B}" srcOrd="0" destOrd="0" presId="urn:microsoft.com/office/officeart/2005/8/layout/hierarchy2"/>
    <dgm:cxn modelId="{B882C011-37F8-478F-BA0F-82F8689700CC}" type="presParOf" srcId="{B819B8AC-F8EF-4BD6-8BCF-DCE684C036B8}" destId="{62974B44-9F66-47D1-A997-890B8D6422B8}" srcOrd="1" destOrd="0" presId="urn:microsoft.com/office/officeart/2005/8/layout/hierarchy2"/>
    <dgm:cxn modelId="{1A40DC8C-8019-4D68-8C24-D5E4E82958F7}" type="presParOf" srcId="{824C7C78-FA03-4A0B-9561-78D5BB0CFF10}" destId="{323818B5-450E-43B0-B5DE-3883F4B939C3}" srcOrd="2" destOrd="0" presId="urn:microsoft.com/office/officeart/2005/8/layout/hierarchy2"/>
    <dgm:cxn modelId="{0D55B39D-771E-4AD7-ACAA-6110287B5A1F}" type="presParOf" srcId="{323818B5-450E-43B0-B5DE-3883F4B939C3}" destId="{91C7FB68-E7F6-45BF-8561-8648802A9749}" srcOrd="0" destOrd="0" presId="urn:microsoft.com/office/officeart/2005/8/layout/hierarchy2"/>
    <dgm:cxn modelId="{6469619D-BB26-4523-842C-33D63234CAEB}" type="presParOf" srcId="{824C7C78-FA03-4A0B-9561-78D5BB0CFF10}" destId="{78647AFC-5256-4396-AB4C-AB63CA880A56}" srcOrd="3" destOrd="0" presId="urn:microsoft.com/office/officeart/2005/8/layout/hierarchy2"/>
    <dgm:cxn modelId="{5783A7E1-F189-4AF3-9480-1BA52DCAB1DC}" type="presParOf" srcId="{78647AFC-5256-4396-AB4C-AB63CA880A56}" destId="{9620AA42-3FE2-4DED-8D8A-85A9EB91C8D3}" srcOrd="0" destOrd="0" presId="urn:microsoft.com/office/officeart/2005/8/layout/hierarchy2"/>
    <dgm:cxn modelId="{AC806771-88EA-4CC1-80D0-77CA0A956942}" type="presParOf" srcId="{78647AFC-5256-4396-AB4C-AB63CA880A56}" destId="{3A8895AE-97A0-4372-926E-13D6C66489C4}" srcOrd="1" destOrd="0" presId="urn:microsoft.com/office/officeart/2005/8/layout/hierarchy2"/>
    <dgm:cxn modelId="{6B9A7663-8D18-41BA-82C6-C7F22555DC47}" type="presParOf" srcId="{CED4DA7F-7343-4D89-9107-34C6717954F6}" destId="{1947E2D1-711F-4385-B019-6598F332BAD5}" srcOrd="2" destOrd="0" presId="urn:microsoft.com/office/officeart/2005/8/layout/hierarchy2"/>
    <dgm:cxn modelId="{7B97CC77-5D6C-4723-82A4-D8C667A4599A}" type="presParOf" srcId="{1947E2D1-711F-4385-B019-6598F332BAD5}" destId="{5DDE5916-6C13-44FB-8632-29E3E5BE8D87}" srcOrd="0" destOrd="0" presId="urn:microsoft.com/office/officeart/2005/8/layout/hierarchy2"/>
    <dgm:cxn modelId="{5F0AC53A-84ED-4303-B830-9F7177B560DC}" type="presParOf" srcId="{CED4DA7F-7343-4D89-9107-34C6717954F6}" destId="{64E0D2E1-AA3A-4BD8-AF87-2279F0B002E6}" srcOrd="3" destOrd="0" presId="urn:microsoft.com/office/officeart/2005/8/layout/hierarchy2"/>
    <dgm:cxn modelId="{3A97DAEE-87EC-4B3F-B7EE-9431D06FBF44}" type="presParOf" srcId="{64E0D2E1-AA3A-4BD8-AF87-2279F0B002E6}" destId="{88E2162D-DCAF-49EC-A223-BFFBB6919716}" srcOrd="0" destOrd="0" presId="urn:microsoft.com/office/officeart/2005/8/layout/hierarchy2"/>
    <dgm:cxn modelId="{8AE5CBD4-B452-4CF9-80D3-E0C77398426C}" type="presParOf" srcId="{64E0D2E1-AA3A-4BD8-AF87-2279F0B002E6}" destId="{F588CC1D-D2D4-4BF1-957F-51B02CCB89D1}" srcOrd="1" destOrd="0" presId="urn:microsoft.com/office/officeart/2005/8/layout/hierarchy2"/>
    <dgm:cxn modelId="{65EEA7B7-DA96-4C75-840E-17FAE29AB07A}" type="presParOf" srcId="{F588CC1D-D2D4-4BF1-957F-51B02CCB89D1}" destId="{C7F9AB3B-6B61-4179-B07D-D4B51E310FB4}" srcOrd="0" destOrd="0" presId="urn:microsoft.com/office/officeart/2005/8/layout/hierarchy2"/>
    <dgm:cxn modelId="{1986E931-C260-4107-B5D5-05C00B7B5195}" type="presParOf" srcId="{C7F9AB3B-6B61-4179-B07D-D4B51E310FB4}" destId="{4FA7FFD1-3718-4BE6-81D4-546769F8EFB4}" srcOrd="0" destOrd="0" presId="urn:microsoft.com/office/officeart/2005/8/layout/hierarchy2"/>
    <dgm:cxn modelId="{C3CE5427-35CA-425F-9E16-EDAB2A21A526}" type="presParOf" srcId="{F588CC1D-D2D4-4BF1-957F-51B02CCB89D1}" destId="{A4863EF4-0855-42F4-81CA-2D1F1797CC20}" srcOrd="1" destOrd="0" presId="urn:microsoft.com/office/officeart/2005/8/layout/hierarchy2"/>
    <dgm:cxn modelId="{23B6A003-3F69-4C6D-ACFA-1214C1C8AB25}" type="presParOf" srcId="{A4863EF4-0855-42F4-81CA-2D1F1797CC20}" destId="{84CED4AD-23B3-4CB0-A027-68DD45DD83B0}" srcOrd="0" destOrd="0" presId="urn:microsoft.com/office/officeart/2005/8/layout/hierarchy2"/>
    <dgm:cxn modelId="{155C435D-78F7-4DAE-A227-48528BC44DF1}" type="presParOf" srcId="{A4863EF4-0855-42F4-81CA-2D1F1797CC20}" destId="{92F89FAF-5C0B-45DC-B70E-3D4187D5B0EA}" srcOrd="1" destOrd="0" presId="urn:microsoft.com/office/officeart/2005/8/layout/hierarchy2"/>
    <dgm:cxn modelId="{D2D7EF6A-2D11-481F-98B0-AB0AF57A0B4B}" type="presParOf" srcId="{F588CC1D-D2D4-4BF1-957F-51B02CCB89D1}" destId="{1C01A1DF-765A-4E42-A3FD-0F115142E106}" srcOrd="2" destOrd="0" presId="urn:microsoft.com/office/officeart/2005/8/layout/hierarchy2"/>
    <dgm:cxn modelId="{6A019EC7-4DCC-40A2-9698-3CE4CD0DCCFF}" type="presParOf" srcId="{1C01A1DF-765A-4E42-A3FD-0F115142E106}" destId="{A5129ACB-0856-44BC-A593-CDB373E0EBEA}" srcOrd="0" destOrd="0" presId="urn:microsoft.com/office/officeart/2005/8/layout/hierarchy2"/>
    <dgm:cxn modelId="{6AF78F7C-3BA6-489E-9D14-6788B654E6F3}" type="presParOf" srcId="{F588CC1D-D2D4-4BF1-957F-51B02CCB89D1}" destId="{F38DC585-7105-42FE-81E0-D7908C569D87}" srcOrd="3" destOrd="0" presId="urn:microsoft.com/office/officeart/2005/8/layout/hierarchy2"/>
    <dgm:cxn modelId="{966A5BE1-EE19-45F1-91B7-C28754B1C8D6}" type="presParOf" srcId="{F38DC585-7105-42FE-81E0-D7908C569D87}" destId="{BFD5A05A-B351-4A7E-9B62-127FEA6AAEB6}" srcOrd="0" destOrd="0" presId="urn:microsoft.com/office/officeart/2005/8/layout/hierarchy2"/>
    <dgm:cxn modelId="{CE2C95F4-CB83-4089-A657-08AE7ACCFFAC}" type="presParOf" srcId="{F38DC585-7105-42FE-81E0-D7908C569D87}" destId="{B107F88D-A3F0-4EA1-AFA1-0D9CB7ED7EA9}" srcOrd="1" destOrd="0" presId="urn:microsoft.com/office/officeart/2005/8/layout/hierarchy2"/>
    <dgm:cxn modelId="{E714B08E-0E54-47E2-B33B-FC241022A37A}" type="presParOf" srcId="{F588CC1D-D2D4-4BF1-957F-51B02CCB89D1}" destId="{61A8F703-1A96-49B9-B1F1-3DF3D27A2C2A}" srcOrd="4" destOrd="0" presId="urn:microsoft.com/office/officeart/2005/8/layout/hierarchy2"/>
    <dgm:cxn modelId="{3650DB5D-5CBF-4F6B-B2C6-9B2A7A415C91}" type="presParOf" srcId="{61A8F703-1A96-49B9-B1F1-3DF3D27A2C2A}" destId="{E6F371D5-4C2C-4C98-B761-6264F2612F8E}" srcOrd="0" destOrd="0" presId="urn:microsoft.com/office/officeart/2005/8/layout/hierarchy2"/>
    <dgm:cxn modelId="{65A98722-6F19-48A9-BA3C-413019A8D31D}" type="presParOf" srcId="{F588CC1D-D2D4-4BF1-957F-51B02CCB89D1}" destId="{8819754C-92A6-4D06-A02F-A8D314A2DDEC}" srcOrd="5" destOrd="0" presId="urn:microsoft.com/office/officeart/2005/8/layout/hierarchy2"/>
    <dgm:cxn modelId="{EC4EEA4D-6CC4-4FF8-952D-68996FDFF0B8}" type="presParOf" srcId="{8819754C-92A6-4D06-A02F-A8D314A2DDEC}" destId="{64146714-8329-49DF-82CA-46905CBC7151}" srcOrd="0" destOrd="0" presId="urn:microsoft.com/office/officeart/2005/8/layout/hierarchy2"/>
    <dgm:cxn modelId="{3326C30C-8622-48AD-AC30-5B1463445892}" type="presParOf" srcId="{8819754C-92A6-4D06-A02F-A8D314A2DDEC}" destId="{34A9743B-C869-4E06-ADE3-B728C835C810}"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CEC25F-F304-42FB-A339-F4A2DB8C1FE1}">
      <dsp:nvSpPr>
        <dsp:cNvPr id="0" name=""/>
        <dsp:cNvSpPr/>
      </dsp:nvSpPr>
      <dsp:spPr>
        <a:xfrm>
          <a:off x="187890" y="1778695"/>
          <a:ext cx="2528269" cy="1298165"/>
        </a:xfrm>
        <a:prstGeom prst="roundRect">
          <a:avLst>
            <a:gd name="adj" fmla="val 10000"/>
          </a:avLst>
        </a:prstGeom>
        <a:blipFill rotWithShape="0">
          <a:blip xmlns:r="http://schemas.openxmlformats.org/officeDocument/2006/relationships" r:embed="rId1"/>
          <a:tile tx="0" ty="0" sx="100000" sy="100000" flip="none" algn="tl"/>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rgbClr val="FFFF00"/>
              </a:solidFill>
              <a:latin typeface="Times New Roman" pitchFamily="18" charset="0"/>
              <a:cs typeface="Times New Roman" pitchFamily="18" charset="0"/>
            </a:rPr>
            <a:t>New Venture Business Plan </a:t>
          </a:r>
        </a:p>
      </dsp:txBody>
      <dsp:txXfrm>
        <a:off x="225912" y="1816717"/>
        <a:ext cx="2452225" cy="1222121"/>
      </dsp:txXfrm>
    </dsp:sp>
    <dsp:sp modelId="{7ABE0660-C7F2-4FBD-9020-2FCDC4FA8380}">
      <dsp:nvSpPr>
        <dsp:cNvPr id="0" name=""/>
        <dsp:cNvSpPr/>
      </dsp:nvSpPr>
      <dsp:spPr>
        <a:xfrm rot="17945813">
          <a:off x="2308561" y="1718426"/>
          <a:ext cx="1586875" cy="32092"/>
        </a:xfrm>
        <a:custGeom>
          <a:avLst/>
          <a:gdLst/>
          <a:ahLst/>
          <a:cxnLst/>
          <a:rect l="0" t="0" r="0" b="0"/>
          <a:pathLst>
            <a:path>
              <a:moveTo>
                <a:pt x="0" y="16046"/>
              </a:moveTo>
              <a:lnTo>
                <a:pt x="1586875" y="1604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244600">
            <a:lnSpc>
              <a:spcPct val="90000"/>
            </a:lnSpc>
            <a:spcBef>
              <a:spcPct val="0"/>
            </a:spcBef>
            <a:spcAft>
              <a:spcPct val="35000"/>
            </a:spcAft>
            <a:buNone/>
          </a:pPr>
          <a:endParaRPr lang="en-US" sz="2800" b="1" kern="1200">
            <a:latin typeface="Times New Roman" pitchFamily="18" charset="0"/>
            <a:cs typeface="Times New Roman" pitchFamily="18" charset="0"/>
          </a:endParaRPr>
        </a:p>
      </dsp:txBody>
      <dsp:txXfrm>
        <a:off x="3062327" y="1694801"/>
        <a:ext cx="79343" cy="79343"/>
      </dsp:txXfrm>
    </dsp:sp>
    <dsp:sp modelId="{34E4CF66-65F2-42EE-B223-A4C6574FB4B7}">
      <dsp:nvSpPr>
        <dsp:cNvPr id="0" name=""/>
        <dsp:cNvSpPr/>
      </dsp:nvSpPr>
      <dsp:spPr>
        <a:xfrm>
          <a:off x="3487838" y="558869"/>
          <a:ext cx="1929196" cy="964598"/>
        </a:xfrm>
        <a:prstGeom prst="roundRect">
          <a:avLst>
            <a:gd name="adj" fmla="val 10000"/>
          </a:avLst>
        </a:prstGeom>
        <a:blipFill rotWithShape="0">
          <a:blip xmlns:r="http://schemas.openxmlformats.org/officeDocument/2006/relationships" r:embed="rId2"/>
          <a:tile tx="0" ty="0" sx="100000" sy="100000" flip="none" algn="tl"/>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rgbClr val="6600CC"/>
              </a:solidFill>
              <a:latin typeface="Times New Roman" pitchFamily="18" charset="0"/>
              <a:cs typeface="Times New Roman" pitchFamily="18" charset="0"/>
            </a:rPr>
            <a:t>Insiders </a:t>
          </a:r>
        </a:p>
      </dsp:txBody>
      <dsp:txXfrm>
        <a:off x="3516090" y="587121"/>
        <a:ext cx="1872692" cy="908094"/>
      </dsp:txXfrm>
    </dsp:sp>
    <dsp:sp modelId="{F303A969-2ADB-400A-9F97-8EF31944BE9A}">
      <dsp:nvSpPr>
        <dsp:cNvPr id="0" name=""/>
        <dsp:cNvSpPr/>
      </dsp:nvSpPr>
      <dsp:spPr>
        <a:xfrm rot="19457599">
          <a:off x="5327711" y="747799"/>
          <a:ext cx="950325" cy="32092"/>
        </a:xfrm>
        <a:custGeom>
          <a:avLst/>
          <a:gdLst/>
          <a:ahLst/>
          <a:cxnLst/>
          <a:rect l="0" t="0" r="0" b="0"/>
          <a:pathLst>
            <a:path>
              <a:moveTo>
                <a:pt x="0" y="16046"/>
              </a:moveTo>
              <a:lnTo>
                <a:pt x="950325" y="16046"/>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244600">
            <a:lnSpc>
              <a:spcPct val="90000"/>
            </a:lnSpc>
            <a:spcBef>
              <a:spcPct val="0"/>
            </a:spcBef>
            <a:spcAft>
              <a:spcPct val="35000"/>
            </a:spcAft>
            <a:buNone/>
          </a:pPr>
          <a:endParaRPr lang="en-US" sz="2800" b="1" kern="1200">
            <a:latin typeface="Times New Roman" pitchFamily="18" charset="0"/>
            <a:cs typeface="Times New Roman" pitchFamily="18" charset="0"/>
          </a:endParaRPr>
        </a:p>
      </dsp:txBody>
      <dsp:txXfrm>
        <a:off x="5779115" y="740088"/>
        <a:ext cx="47516" cy="47516"/>
      </dsp:txXfrm>
    </dsp:sp>
    <dsp:sp modelId="{687222F5-837B-4784-9E9A-02ABEAF4866B}">
      <dsp:nvSpPr>
        <dsp:cNvPr id="0" name=""/>
        <dsp:cNvSpPr/>
      </dsp:nvSpPr>
      <dsp:spPr>
        <a:xfrm>
          <a:off x="6188713" y="4225"/>
          <a:ext cx="1929196" cy="964598"/>
        </a:xfrm>
        <a:prstGeom prst="roundRect">
          <a:avLst>
            <a:gd name="adj" fmla="val 10000"/>
          </a:avLst>
        </a:prstGeom>
        <a:blipFill rotWithShape="0">
          <a:blip xmlns:r="http://schemas.openxmlformats.org/officeDocument/2006/relationships" r:embed="rId3"/>
          <a:tile tx="0" ty="0" sx="100000" sy="100000" flip="none" algn="tl"/>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rgbClr val="CC0066"/>
              </a:solidFill>
              <a:latin typeface="Times New Roman" pitchFamily="18" charset="0"/>
              <a:cs typeface="Times New Roman" pitchFamily="18" charset="0"/>
            </a:rPr>
            <a:t>Firm’s Mgt</a:t>
          </a:r>
        </a:p>
      </dsp:txBody>
      <dsp:txXfrm>
        <a:off x="6216965" y="32477"/>
        <a:ext cx="1872692" cy="908094"/>
      </dsp:txXfrm>
    </dsp:sp>
    <dsp:sp modelId="{323818B5-450E-43B0-B5DE-3883F4B939C3}">
      <dsp:nvSpPr>
        <dsp:cNvPr id="0" name=""/>
        <dsp:cNvSpPr/>
      </dsp:nvSpPr>
      <dsp:spPr>
        <a:xfrm rot="2142401">
          <a:off x="5327711" y="1302443"/>
          <a:ext cx="950325" cy="32092"/>
        </a:xfrm>
        <a:custGeom>
          <a:avLst/>
          <a:gdLst/>
          <a:ahLst/>
          <a:cxnLst/>
          <a:rect l="0" t="0" r="0" b="0"/>
          <a:pathLst>
            <a:path>
              <a:moveTo>
                <a:pt x="0" y="16046"/>
              </a:moveTo>
              <a:lnTo>
                <a:pt x="950325" y="16046"/>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244600">
            <a:lnSpc>
              <a:spcPct val="90000"/>
            </a:lnSpc>
            <a:spcBef>
              <a:spcPct val="0"/>
            </a:spcBef>
            <a:spcAft>
              <a:spcPct val="35000"/>
            </a:spcAft>
            <a:buNone/>
          </a:pPr>
          <a:endParaRPr lang="en-US" sz="2800" b="1" kern="1200">
            <a:latin typeface="Times New Roman" pitchFamily="18" charset="0"/>
            <a:cs typeface="Times New Roman" pitchFamily="18" charset="0"/>
          </a:endParaRPr>
        </a:p>
      </dsp:txBody>
      <dsp:txXfrm>
        <a:off x="5779115" y="1294732"/>
        <a:ext cx="47516" cy="47516"/>
      </dsp:txXfrm>
    </dsp:sp>
    <dsp:sp modelId="{9620AA42-3FE2-4DED-8D8A-85A9EB91C8D3}">
      <dsp:nvSpPr>
        <dsp:cNvPr id="0" name=""/>
        <dsp:cNvSpPr/>
      </dsp:nvSpPr>
      <dsp:spPr>
        <a:xfrm>
          <a:off x="6188713" y="1113513"/>
          <a:ext cx="1929196" cy="964598"/>
        </a:xfrm>
        <a:prstGeom prst="roundRect">
          <a:avLst>
            <a:gd name="adj" fmla="val 10000"/>
          </a:avLst>
        </a:prstGeom>
        <a:blipFill rotWithShape="0">
          <a:blip xmlns:r="http://schemas.openxmlformats.org/officeDocument/2006/relationships" r:embed="rId3"/>
          <a:tile tx="0" ty="0" sx="100000" sy="100000" flip="none" algn="tl"/>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rgbClr val="002060"/>
              </a:solidFill>
              <a:latin typeface="Times New Roman" pitchFamily="18" charset="0"/>
              <a:cs typeface="Times New Roman" pitchFamily="18" charset="0"/>
            </a:rPr>
            <a:t>Employees</a:t>
          </a:r>
        </a:p>
      </dsp:txBody>
      <dsp:txXfrm>
        <a:off x="6216965" y="1141765"/>
        <a:ext cx="1872692" cy="908094"/>
      </dsp:txXfrm>
    </dsp:sp>
    <dsp:sp modelId="{1947E2D1-711F-4385-B019-6598F332BAD5}">
      <dsp:nvSpPr>
        <dsp:cNvPr id="0" name=""/>
        <dsp:cNvSpPr/>
      </dsp:nvSpPr>
      <dsp:spPr>
        <a:xfrm rot="3654187">
          <a:off x="2308561" y="3105036"/>
          <a:ext cx="1586875" cy="32092"/>
        </a:xfrm>
        <a:custGeom>
          <a:avLst/>
          <a:gdLst/>
          <a:ahLst/>
          <a:cxnLst/>
          <a:rect l="0" t="0" r="0" b="0"/>
          <a:pathLst>
            <a:path>
              <a:moveTo>
                <a:pt x="0" y="16046"/>
              </a:moveTo>
              <a:lnTo>
                <a:pt x="1586875" y="1604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244600">
            <a:lnSpc>
              <a:spcPct val="90000"/>
            </a:lnSpc>
            <a:spcBef>
              <a:spcPct val="0"/>
            </a:spcBef>
            <a:spcAft>
              <a:spcPct val="35000"/>
            </a:spcAft>
            <a:buNone/>
          </a:pPr>
          <a:endParaRPr lang="en-US" sz="2800" b="1" kern="1200">
            <a:latin typeface="Times New Roman" pitchFamily="18" charset="0"/>
            <a:cs typeface="Times New Roman" pitchFamily="18" charset="0"/>
          </a:endParaRPr>
        </a:p>
      </dsp:txBody>
      <dsp:txXfrm>
        <a:off x="3062327" y="3081411"/>
        <a:ext cx="79343" cy="79343"/>
      </dsp:txXfrm>
    </dsp:sp>
    <dsp:sp modelId="{88E2162D-DCAF-49EC-A223-BFFBB6919716}">
      <dsp:nvSpPr>
        <dsp:cNvPr id="0" name=""/>
        <dsp:cNvSpPr/>
      </dsp:nvSpPr>
      <dsp:spPr>
        <a:xfrm>
          <a:off x="3487838" y="3332088"/>
          <a:ext cx="1929196" cy="964598"/>
        </a:xfrm>
        <a:prstGeom prst="roundRect">
          <a:avLst>
            <a:gd name="adj" fmla="val 10000"/>
          </a:avLst>
        </a:prstGeom>
        <a:blipFill rotWithShape="0">
          <a:blip xmlns:r="http://schemas.openxmlformats.org/officeDocument/2006/relationships" r:embed="rId2"/>
          <a:tile tx="0" ty="0" sx="100000" sy="100000" flip="none" algn="tl"/>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rgbClr val="C00000"/>
              </a:solidFill>
              <a:latin typeface="Times New Roman" pitchFamily="18" charset="0"/>
              <a:cs typeface="Times New Roman" pitchFamily="18" charset="0"/>
            </a:rPr>
            <a:t>Outsiders</a:t>
          </a:r>
        </a:p>
      </dsp:txBody>
      <dsp:txXfrm>
        <a:off x="3516090" y="3360340"/>
        <a:ext cx="1872692" cy="908094"/>
      </dsp:txXfrm>
    </dsp:sp>
    <dsp:sp modelId="{C7F9AB3B-6B61-4179-B07D-D4B51E310FB4}">
      <dsp:nvSpPr>
        <dsp:cNvPr id="0" name=""/>
        <dsp:cNvSpPr/>
      </dsp:nvSpPr>
      <dsp:spPr>
        <a:xfrm rot="18289469">
          <a:off x="5127224" y="3243697"/>
          <a:ext cx="1351298" cy="32092"/>
        </a:xfrm>
        <a:custGeom>
          <a:avLst/>
          <a:gdLst/>
          <a:ahLst/>
          <a:cxnLst/>
          <a:rect l="0" t="0" r="0" b="0"/>
          <a:pathLst>
            <a:path>
              <a:moveTo>
                <a:pt x="0" y="16046"/>
              </a:moveTo>
              <a:lnTo>
                <a:pt x="1351298" y="16046"/>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244600">
            <a:lnSpc>
              <a:spcPct val="90000"/>
            </a:lnSpc>
            <a:spcBef>
              <a:spcPct val="0"/>
            </a:spcBef>
            <a:spcAft>
              <a:spcPct val="35000"/>
            </a:spcAft>
            <a:buNone/>
          </a:pPr>
          <a:endParaRPr lang="en-US" sz="2800" b="1" kern="1200">
            <a:latin typeface="Times New Roman" pitchFamily="18" charset="0"/>
            <a:cs typeface="Times New Roman" pitchFamily="18" charset="0"/>
          </a:endParaRPr>
        </a:p>
      </dsp:txBody>
      <dsp:txXfrm>
        <a:off x="5769091" y="3225961"/>
        <a:ext cx="67564" cy="67564"/>
      </dsp:txXfrm>
    </dsp:sp>
    <dsp:sp modelId="{84CED4AD-23B3-4CB0-A027-68DD45DD83B0}">
      <dsp:nvSpPr>
        <dsp:cNvPr id="0" name=""/>
        <dsp:cNvSpPr/>
      </dsp:nvSpPr>
      <dsp:spPr>
        <a:xfrm>
          <a:off x="6188713" y="2222800"/>
          <a:ext cx="1929196" cy="964598"/>
        </a:xfrm>
        <a:prstGeom prst="roundRect">
          <a:avLst>
            <a:gd name="adj" fmla="val 10000"/>
          </a:avLst>
        </a:prstGeom>
        <a:blipFill rotWithShape="0">
          <a:blip xmlns:r="http://schemas.openxmlformats.org/officeDocument/2006/relationships" r:embed="rId4"/>
          <a:tile tx="0" ty="0" sx="100000" sy="100000" flip="none" algn="tl"/>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rgbClr val="FF0000"/>
              </a:solidFill>
              <a:latin typeface="Times New Roman" pitchFamily="18" charset="0"/>
              <a:cs typeface="Times New Roman" pitchFamily="18" charset="0"/>
            </a:rPr>
            <a:t>Customers </a:t>
          </a:r>
        </a:p>
      </dsp:txBody>
      <dsp:txXfrm>
        <a:off x="6216965" y="2251052"/>
        <a:ext cx="1872692" cy="908094"/>
      </dsp:txXfrm>
    </dsp:sp>
    <dsp:sp modelId="{1C01A1DF-765A-4E42-A3FD-0F115142E106}">
      <dsp:nvSpPr>
        <dsp:cNvPr id="0" name=""/>
        <dsp:cNvSpPr/>
      </dsp:nvSpPr>
      <dsp:spPr>
        <a:xfrm>
          <a:off x="5417034" y="3798341"/>
          <a:ext cx="771678" cy="32092"/>
        </a:xfrm>
        <a:custGeom>
          <a:avLst/>
          <a:gdLst/>
          <a:ahLst/>
          <a:cxnLst/>
          <a:rect l="0" t="0" r="0" b="0"/>
          <a:pathLst>
            <a:path>
              <a:moveTo>
                <a:pt x="0" y="16046"/>
              </a:moveTo>
              <a:lnTo>
                <a:pt x="771678" y="16046"/>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244600">
            <a:lnSpc>
              <a:spcPct val="90000"/>
            </a:lnSpc>
            <a:spcBef>
              <a:spcPct val="0"/>
            </a:spcBef>
            <a:spcAft>
              <a:spcPct val="35000"/>
            </a:spcAft>
            <a:buNone/>
          </a:pPr>
          <a:endParaRPr lang="en-US" sz="2800" b="1" kern="1200">
            <a:latin typeface="Times New Roman" pitchFamily="18" charset="0"/>
            <a:cs typeface="Times New Roman" pitchFamily="18" charset="0"/>
          </a:endParaRPr>
        </a:p>
      </dsp:txBody>
      <dsp:txXfrm>
        <a:off x="5783582" y="3795095"/>
        <a:ext cx="38583" cy="38583"/>
      </dsp:txXfrm>
    </dsp:sp>
    <dsp:sp modelId="{BFD5A05A-B351-4A7E-9B62-127FEA6AAEB6}">
      <dsp:nvSpPr>
        <dsp:cNvPr id="0" name=""/>
        <dsp:cNvSpPr/>
      </dsp:nvSpPr>
      <dsp:spPr>
        <a:xfrm>
          <a:off x="6188713" y="3332088"/>
          <a:ext cx="1929196" cy="964598"/>
        </a:xfrm>
        <a:prstGeom prst="roundRect">
          <a:avLst>
            <a:gd name="adj" fmla="val 10000"/>
          </a:avLst>
        </a:prstGeom>
        <a:blipFill rotWithShape="0">
          <a:blip xmlns:r="http://schemas.openxmlformats.org/officeDocument/2006/relationships" r:embed="rId4"/>
          <a:tile tx="0" ty="0" sx="100000" sy="100000" flip="none" algn="tl"/>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rgbClr val="0000FF"/>
              </a:solidFill>
              <a:latin typeface="Times New Roman" pitchFamily="18" charset="0"/>
              <a:cs typeface="Times New Roman" pitchFamily="18" charset="0"/>
            </a:rPr>
            <a:t>Suppliers </a:t>
          </a:r>
        </a:p>
      </dsp:txBody>
      <dsp:txXfrm>
        <a:off x="6216965" y="3360340"/>
        <a:ext cx="1872692" cy="908094"/>
      </dsp:txXfrm>
    </dsp:sp>
    <dsp:sp modelId="{61A8F703-1A96-49B9-B1F1-3DF3D27A2C2A}">
      <dsp:nvSpPr>
        <dsp:cNvPr id="0" name=""/>
        <dsp:cNvSpPr/>
      </dsp:nvSpPr>
      <dsp:spPr>
        <a:xfrm rot="3310531">
          <a:off x="5127224" y="4352985"/>
          <a:ext cx="1351298" cy="32092"/>
        </a:xfrm>
        <a:custGeom>
          <a:avLst/>
          <a:gdLst/>
          <a:ahLst/>
          <a:cxnLst/>
          <a:rect l="0" t="0" r="0" b="0"/>
          <a:pathLst>
            <a:path>
              <a:moveTo>
                <a:pt x="0" y="16046"/>
              </a:moveTo>
              <a:lnTo>
                <a:pt x="1351298" y="16046"/>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244600">
            <a:lnSpc>
              <a:spcPct val="90000"/>
            </a:lnSpc>
            <a:spcBef>
              <a:spcPct val="0"/>
            </a:spcBef>
            <a:spcAft>
              <a:spcPct val="35000"/>
            </a:spcAft>
            <a:buNone/>
          </a:pPr>
          <a:endParaRPr lang="en-US" sz="2800" b="1" kern="1200">
            <a:latin typeface="Times New Roman" pitchFamily="18" charset="0"/>
            <a:cs typeface="Times New Roman" pitchFamily="18" charset="0"/>
          </a:endParaRPr>
        </a:p>
      </dsp:txBody>
      <dsp:txXfrm>
        <a:off x="5769091" y="4335249"/>
        <a:ext cx="67564" cy="67564"/>
      </dsp:txXfrm>
    </dsp:sp>
    <dsp:sp modelId="{64146714-8329-49DF-82CA-46905CBC7151}">
      <dsp:nvSpPr>
        <dsp:cNvPr id="0" name=""/>
        <dsp:cNvSpPr/>
      </dsp:nvSpPr>
      <dsp:spPr>
        <a:xfrm>
          <a:off x="6188713" y="4441376"/>
          <a:ext cx="1929196" cy="964598"/>
        </a:xfrm>
        <a:prstGeom prst="roundRect">
          <a:avLst>
            <a:gd name="adj" fmla="val 10000"/>
          </a:avLst>
        </a:prstGeom>
        <a:blipFill rotWithShape="0">
          <a:blip xmlns:r="http://schemas.openxmlformats.org/officeDocument/2006/relationships" r:embed="rId4"/>
          <a:tile tx="0" ty="0" sx="100000" sy="100000" flip="none" algn="tl"/>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chemeClr val="tx1"/>
              </a:solidFill>
              <a:latin typeface="Times New Roman" pitchFamily="18" charset="0"/>
              <a:cs typeface="Times New Roman" pitchFamily="18" charset="0"/>
            </a:rPr>
            <a:t>Investors </a:t>
          </a:r>
        </a:p>
      </dsp:txBody>
      <dsp:txXfrm>
        <a:off x="6216965" y="4469628"/>
        <a:ext cx="1872692" cy="908094"/>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0CDD41-6155-4CA3-8004-D8A199031DA4}" type="datetimeFigureOut">
              <a:rPr lang="en-US" smtClean="0"/>
              <a:t>6/6/2021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5C65CB-50F3-4349-88F4-A704798DB5F9}" type="slidenum">
              <a:rPr lang="en-US" smtClean="0"/>
              <a:t>‹#›</a:t>
            </a:fld>
            <a:endParaRPr lang="en-US"/>
          </a:p>
        </p:txBody>
      </p:sp>
    </p:spTree>
    <p:extLst>
      <p:ext uri="{BB962C8B-B14F-4D97-AF65-F5344CB8AC3E}">
        <p14:creationId xmlns:p14="http://schemas.microsoft.com/office/powerpoint/2010/main" val="10110565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a:extLst>
              <a:ext uri="{FF2B5EF4-FFF2-40B4-BE49-F238E27FC236}">
                <a16:creationId xmlns:a16="http://schemas.microsoft.com/office/drawing/2014/main" id="{8505EE28-E7E3-4C8E-85C6-E0EEE305FDC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Notes Placeholder 2">
            <a:extLst>
              <a:ext uri="{FF2B5EF4-FFF2-40B4-BE49-F238E27FC236}">
                <a16:creationId xmlns:a16="http://schemas.microsoft.com/office/drawing/2014/main" id="{BBA597F8-13F4-491B-A6D6-7C0F6E9C82D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3316" name="Slide Number Placeholder 3">
            <a:extLst>
              <a:ext uri="{FF2B5EF4-FFF2-40B4-BE49-F238E27FC236}">
                <a16:creationId xmlns:a16="http://schemas.microsoft.com/office/drawing/2014/main" id="{5348A04C-B472-40F5-8635-1C9F7DEB62E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41B0648F-1CB4-46AF-8AB7-973CC2C4C498}" type="slidenum">
              <a:rPr lang="en-US" altLang="en-US"/>
              <a:pPr>
                <a:spcBef>
                  <a:spcPct val="0"/>
                </a:spcBef>
              </a:pPr>
              <a:t>22</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40E6D-EF0E-422E-8C99-65C03420BEE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C7D94D8-9A35-4C93-8E61-358154D1698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2797AE2-7B82-4602-8259-E168AE40629F}"/>
              </a:ext>
            </a:extLst>
          </p:cNvPr>
          <p:cNvSpPr>
            <a:spLocks noGrp="1"/>
          </p:cNvSpPr>
          <p:nvPr>
            <p:ph type="dt" sz="half" idx="10"/>
          </p:nvPr>
        </p:nvSpPr>
        <p:spPr/>
        <p:txBody>
          <a:bodyPr/>
          <a:lstStyle/>
          <a:p>
            <a:fld id="{7C164E6F-16B4-40D8-A95F-7ABA929D3437}" type="datetimeFigureOut">
              <a:rPr lang="en-US" smtClean="0"/>
              <a:t>6/6/2021</a:t>
            </a:fld>
            <a:endParaRPr lang="en-US"/>
          </a:p>
        </p:txBody>
      </p:sp>
      <p:sp>
        <p:nvSpPr>
          <p:cNvPr id="5" name="Footer Placeholder 4">
            <a:extLst>
              <a:ext uri="{FF2B5EF4-FFF2-40B4-BE49-F238E27FC236}">
                <a16:creationId xmlns:a16="http://schemas.microsoft.com/office/drawing/2014/main" id="{739B0779-71E5-44B4-9067-354B5CE97F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187F89-8E71-4CDB-9AC9-8A3B273D6E65}"/>
              </a:ext>
            </a:extLst>
          </p:cNvPr>
          <p:cNvSpPr>
            <a:spLocks noGrp="1"/>
          </p:cNvSpPr>
          <p:nvPr>
            <p:ph type="sldNum" sz="quarter" idx="12"/>
          </p:nvPr>
        </p:nvSpPr>
        <p:spPr/>
        <p:txBody>
          <a:bodyPr/>
          <a:lstStyle/>
          <a:p>
            <a:fld id="{0E608D3D-B33E-4A36-92F4-A528159AB887}" type="slidenum">
              <a:rPr lang="en-US" smtClean="0"/>
              <a:t>‹#›</a:t>
            </a:fld>
            <a:endParaRPr lang="en-US"/>
          </a:p>
        </p:txBody>
      </p:sp>
    </p:spTree>
    <p:extLst>
      <p:ext uri="{BB962C8B-B14F-4D97-AF65-F5344CB8AC3E}">
        <p14:creationId xmlns:p14="http://schemas.microsoft.com/office/powerpoint/2010/main" val="13108976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370C8-338E-46D3-821E-C04ECD6167C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8D6D803-1124-4A5D-9F11-9CF3C45E1F1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F8DF79-7CEE-45CB-8B57-63ADCDD667C3}"/>
              </a:ext>
            </a:extLst>
          </p:cNvPr>
          <p:cNvSpPr>
            <a:spLocks noGrp="1"/>
          </p:cNvSpPr>
          <p:nvPr>
            <p:ph type="dt" sz="half" idx="10"/>
          </p:nvPr>
        </p:nvSpPr>
        <p:spPr/>
        <p:txBody>
          <a:bodyPr/>
          <a:lstStyle/>
          <a:p>
            <a:fld id="{7C164E6F-16B4-40D8-A95F-7ABA929D3437}" type="datetimeFigureOut">
              <a:rPr lang="en-US" smtClean="0"/>
              <a:t>6/6/2021</a:t>
            </a:fld>
            <a:endParaRPr lang="en-US"/>
          </a:p>
        </p:txBody>
      </p:sp>
      <p:sp>
        <p:nvSpPr>
          <p:cNvPr id="5" name="Footer Placeholder 4">
            <a:extLst>
              <a:ext uri="{FF2B5EF4-FFF2-40B4-BE49-F238E27FC236}">
                <a16:creationId xmlns:a16="http://schemas.microsoft.com/office/drawing/2014/main" id="{D276730F-99B7-4282-8A4F-8E9020E709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594705-1D05-4CCC-9BF0-0ED33718B0DE}"/>
              </a:ext>
            </a:extLst>
          </p:cNvPr>
          <p:cNvSpPr>
            <a:spLocks noGrp="1"/>
          </p:cNvSpPr>
          <p:nvPr>
            <p:ph type="sldNum" sz="quarter" idx="12"/>
          </p:nvPr>
        </p:nvSpPr>
        <p:spPr/>
        <p:txBody>
          <a:bodyPr/>
          <a:lstStyle/>
          <a:p>
            <a:fld id="{0E608D3D-B33E-4A36-92F4-A528159AB887}" type="slidenum">
              <a:rPr lang="en-US" smtClean="0"/>
              <a:t>‹#›</a:t>
            </a:fld>
            <a:endParaRPr lang="en-US"/>
          </a:p>
        </p:txBody>
      </p:sp>
    </p:spTree>
    <p:extLst>
      <p:ext uri="{BB962C8B-B14F-4D97-AF65-F5344CB8AC3E}">
        <p14:creationId xmlns:p14="http://schemas.microsoft.com/office/powerpoint/2010/main" val="81970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D7182-0EAA-41CE-B52B-00E9315600D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C22F23C-C428-4DB0-8FDA-A15AAC1EF16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579AF7D-F0D8-4789-8955-2A1DB728B9B8}"/>
              </a:ext>
            </a:extLst>
          </p:cNvPr>
          <p:cNvSpPr>
            <a:spLocks noGrp="1"/>
          </p:cNvSpPr>
          <p:nvPr>
            <p:ph type="dt" sz="half" idx="10"/>
          </p:nvPr>
        </p:nvSpPr>
        <p:spPr/>
        <p:txBody>
          <a:bodyPr/>
          <a:lstStyle/>
          <a:p>
            <a:fld id="{7C164E6F-16B4-40D8-A95F-7ABA929D3437}" type="datetimeFigureOut">
              <a:rPr lang="en-US" smtClean="0"/>
              <a:t>6/6/2021</a:t>
            </a:fld>
            <a:endParaRPr lang="en-US"/>
          </a:p>
        </p:txBody>
      </p:sp>
      <p:sp>
        <p:nvSpPr>
          <p:cNvPr id="5" name="Footer Placeholder 4">
            <a:extLst>
              <a:ext uri="{FF2B5EF4-FFF2-40B4-BE49-F238E27FC236}">
                <a16:creationId xmlns:a16="http://schemas.microsoft.com/office/drawing/2014/main" id="{17F4CE7C-841B-408E-AA91-B3F0B4E14E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F5DDEE-25E6-4DCB-ABFD-D7492037A511}"/>
              </a:ext>
            </a:extLst>
          </p:cNvPr>
          <p:cNvSpPr>
            <a:spLocks noGrp="1"/>
          </p:cNvSpPr>
          <p:nvPr>
            <p:ph type="sldNum" sz="quarter" idx="12"/>
          </p:nvPr>
        </p:nvSpPr>
        <p:spPr/>
        <p:txBody>
          <a:bodyPr/>
          <a:lstStyle/>
          <a:p>
            <a:fld id="{0E608D3D-B33E-4A36-92F4-A528159AB887}" type="slidenum">
              <a:rPr lang="en-US" smtClean="0"/>
              <a:t>‹#›</a:t>
            </a:fld>
            <a:endParaRPr lang="en-US"/>
          </a:p>
        </p:txBody>
      </p:sp>
    </p:spTree>
    <p:extLst>
      <p:ext uri="{BB962C8B-B14F-4D97-AF65-F5344CB8AC3E}">
        <p14:creationId xmlns:p14="http://schemas.microsoft.com/office/powerpoint/2010/main" val="21646288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20BF2-9126-4D48-AEC9-5073826F950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E39400C-7DED-4505-A915-AF5B8285E32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21F5538-97F4-42D2-B3D4-5608D93350C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AE1D0AC-1B69-4875-B402-6E4BA3A10CB6}"/>
              </a:ext>
            </a:extLst>
          </p:cNvPr>
          <p:cNvSpPr>
            <a:spLocks noGrp="1"/>
          </p:cNvSpPr>
          <p:nvPr>
            <p:ph type="dt" sz="half" idx="10"/>
          </p:nvPr>
        </p:nvSpPr>
        <p:spPr/>
        <p:txBody>
          <a:bodyPr/>
          <a:lstStyle/>
          <a:p>
            <a:fld id="{7C164E6F-16B4-40D8-A95F-7ABA929D3437}" type="datetimeFigureOut">
              <a:rPr lang="en-US" smtClean="0"/>
              <a:t>6/6/2021</a:t>
            </a:fld>
            <a:endParaRPr lang="en-US"/>
          </a:p>
        </p:txBody>
      </p:sp>
      <p:sp>
        <p:nvSpPr>
          <p:cNvPr id="6" name="Footer Placeholder 5">
            <a:extLst>
              <a:ext uri="{FF2B5EF4-FFF2-40B4-BE49-F238E27FC236}">
                <a16:creationId xmlns:a16="http://schemas.microsoft.com/office/drawing/2014/main" id="{51A22EB3-8DDE-4189-8604-4538A8D4A0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654CD2-C13A-4D06-8819-9723845D676B}"/>
              </a:ext>
            </a:extLst>
          </p:cNvPr>
          <p:cNvSpPr>
            <a:spLocks noGrp="1"/>
          </p:cNvSpPr>
          <p:nvPr>
            <p:ph type="sldNum" sz="quarter" idx="12"/>
          </p:nvPr>
        </p:nvSpPr>
        <p:spPr/>
        <p:txBody>
          <a:bodyPr/>
          <a:lstStyle/>
          <a:p>
            <a:fld id="{0E608D3D-B33E-4A36-92F4-A528159AB887}" type="slidenum">
              <a:rPr lang="en-US" smtClean="0"/>
              <a:t>‹#›</a:t>
            </a:fld>
            <a:endParaRPr lang="en-US"/>
          </a:p>
        </p:txBody>
      </p:sp>
    </p:spTree>
    <p:extLst>
      <p:ext uri="{BB962C8B-B14F-4D97-AF65-F5344CB8AC3E}">
        <p14:creationId xmlns:p14="http://schemas.microsoft.com/office/powerpoint/2010/main" val="12152232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C0EAF-335E-42D6-B819-F7626C2E111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68077B5-5AF7-41AE-911B-17F8B6F3C7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522F7B7-7984-4B06-A198-3B55AAACB9F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B54D345-5AF2-415E-80D6-DDBDD18F6EB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3BD218B-12E5-4F72-AA7A-1891981F895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9765A77-21C8-4B5A-BCF4-2A9EEA36DCE9}"/>
              </a:ext>
            </a:extLst>
          </p:cNvPr>
          <p:cNvSpPr>
            <a:spLocks noGrp="1"/>
          </p:cNvSpPr>
          <p:nvPr>
            <p:ph type="dt" sz="half" idx="10"/>
          </p:nvPr>
        </p:nvSpPr>
        <p:spPr/>
        <p:txBody>
          <a:bodyPr/>
          <a:lstStyle/>
          <a:p>
            <a:fld id="{7C164E6F-16B4-40D8-A95F-7ABA929D3437}" type="datetimeFigureOut">
              <a:rPr lang="en-US" smtClean="0"/>
              <a:t>6/6/2021</a:t>
            </a:fld>
            <a:endParaRPr lang="en-US"/>
          </a:p>
        </p:txBody>
      </p:sp>
      <p:sp>
        <p:nvSpPr>
          <p:cNvPr id="8" name="Footer Placeholder 7">
            <a:extLst>
              <a:ext uri="{FF2B5EF4-FFF2-40B4-BE49-F238E27FC236}">
                <a16:creationId xmlns:a16="http://schemas.microsoft.com/office/drawing/2014/main" id="{872F4053-7089-4CF7-A8AF-10B25E5565B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0F3F77D-A899-46C1-B471-1639EEB0E5F9}"/>
              </a:ext>
            </a:extLst>
          </p:cNvPr>
          <p:cNvSpPr>
            <a:spLocks noGrp="1"/>
          </p:cNvSpPr>
          <p:nvPr>
            <p:ph type="sldNum" sz="quarter" idx="12"/>
          </p:nvPr>
        </p:nvSpPr>
        <p:spPr/>
        <p:txBody>
          <a:bodyPr/>
          <a:lstStyle/>
          <a:p>
            <a:fld id="{0E608D3D-B33E-4A36-92F4-A528159AB887}" type="slidenum">
              <a:rPr lang="en-US" smtClean="0"/>
              <a:t>‹#›</a:t>
            </a:fld>
            <a:endParaRPr lang="en-US"/>
          </a:p>
        </p:txBody>
      </p:sp>
    </p:spTree>
    <p:extLst>
      <p:ext uri="{BB962C8B-B14F-4D97-AF65-F5344CB8AC3E}">
        <p14:creationId xmlns:p14="http://schemas.microsoft.com/office/powerpoint/2010/main" val="13638480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5E1D5-F0ED-4CA1-A65C-42ACE14AFE4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BEA7A14-5D39-402E-9653-D08F21F3C208}"/>
              </a:ext>
            </a:extLst>
          </p:cNvPr>
          <p:cNvSpPr>
            <a:spLocks noGrp="1"/>
          </p:cNvSpPr>
          <p:nvPr>
            <p:ph type="dt" sz="half" idx="10"/>
          </p:nvPr>
        </p:nvSpPr>
        <p:spPr/>
        <p:txBody>
          <a:bodyPr/>
          <a:lstStyle/>
          <a:p>
            <a:fld id="{7C164E6F-16B4-40D8-A95F-7ABA929D3437}" type="datetimeFigureOut">
              <a:rPr lang="en-US" smtClean="0"/>
              <a:t>6/6/2021</a:t>
            </a:fld>
            <a:endParaRPr lang="en-US"/>
          </a:p>
        </p:txBody>
      </p:sp>
      <p:sp>
        <p:nvSpPr>
          <p:cNvPr id="4" name="Footer Placeholder 3">
            <a:extLst>
              <a:ext uri="{FF2B5EF4-FFF2-40B4-BE49-F238E27FC236}">
                <a16:creationId xmlns:a16="http://schemas.microsoft.com/office/drawing/2014/main" id="{C9BA8DB1-8F5E-4F48-9FAD-E0B2CF4948A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C82A1F7-E0E1-4B29-9739-7A424B4F8E7E}"/>
              </a:ext>
            </a:extLst>
          </p:cNvPr>
          <p:cNvSpPr>
            <a:spLocks noGrp="1"/>
          </p:cNvSpPr>
          <p:nvPr>
            <p:ph type="sldNum" sz="quarter" idx="12"/>
          </p:nvPr>
        </p:nvSpPr>
        <p:spPr/>
        <p:txBody>
          <a:bodyPr/>
          <a:lstStyle/>
          <a:p>
            <a:fld id="{0E608D3D-B33E-4A36-92F4-A528159AB887}" type="slidenum">
              <a:rPr lang="en-US" smtClean="0"/>
              <a:t>‹#›</a:t>
            </a:fld>
            <a:endParaRPr lang="en-US"/>
          </a:p>
        </p:txBody>
      </p:sp>
    </p:spTree>
    <p:extLst>
      <p:ext uri="{BB962C8B-B14F-4D97-AF65-F5344CB8AC3E}">
        <p14:creationId xmlns:p14="http://schemas.microsoft.com/office/powerpoint/2010/main" val="28756424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1AC2CA1-7D62-4D59-80D6-960E3AE9AD4F}"/>
              </a:ext>
            </a:extLst>
          </p:cNvPr>
          <p:cNvSpPr>
            <a:spLocks noGrp="1"/>
          </p:cNvSpPr>
          <p:nvPr>
            <p:ph type="dt" sz="half" idx="10"/>
          </p:nvPr>
        </p:nvSpPr>
        <p:spPr/>
        <p:txBody>
          <a:bodyPr/>
          <a:lstStyle/>
          <a:p>
            <a:fld id="{7C164E6F-16B4-40D8-A95F-7ABA929D3437}" type="datetimeFigureOut">
              <a:rPr lang="en-US" smtClean="0"/>
              <a:t>6/6/2021</a:t>
            </a:fld>
            <a:endParaRPr lang="en-US"/>
          </a:p>
        </p:txBody>
      </p:sp>
      <p:sp>
        <p:nvSpPr>
          <p:cNvPr id="3" name="Footer Placeholder 2">
            <a:extLst>
              <a:ext uri="{FF2B5EF4-FFF2-40B4-BE49-F238E27FC236}">
                <a16:creationId xmlns:a16="http://schemas.microsoft.com/office/drawing/2014/main" id="{7CD88759-11D6-4284-B46D-47A1A08CBED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FD597C6-38A1-416A-89AD-C322EBF99BDE}"/>
              </a:ext>
            </a:extLst>
          </p:cNvPr>
          <p:cNvSpPr>
            <a:spLocks noGrp="1"/>
          </p:cNvSpPr>
          <p:nvPr>
            <p:ph type="sldNum" sz="quarter" idx="12"/>
          </p:nvPr>
        </p:nvSpPr>
        <p:spPr/>
        <p:txBody>
          <a:bodyPr/>
          <a:lstStyle/>
          <a:p>
            <a:fld id="{0E608D3D-B33E-4A36-92F4-A528159AB887}" type="slidenum">
              <a:rPr lang="en-US" smtClean="0"/>
              <a:t>‹#›</a:t>
            </a:fld>
            <a:endParaRPr lang="en-US"/>
          </a:p>
        </p:txBody>
      </p:sp>
    </p:spTree>
    <p:extLst>
      <p:ext uri="{BB962C8B-B14F-4D97-AF65-F5344CB8AC3E}">
        <p14:creationId xmlns:p14="http://schemas.microsoft.com/office/powerpoint/2010/main" val="34307750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AFE8B-F415-4934-A723-F81FBCD427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55AFE61-78CA-474C-A7A1-E2FB994E0FC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53D8634-7176-40B6-ADEB-C384AFDDB3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68511E-473F-41B9-98E8-D13BBDEB3BCD}"/>
              </a:ext>
            </a:extLst>
          </p:cNvPr>
          <p:cNvSpPr>
            <a:spLocks noGrp="1"/>
          </p:cNvSpPr>
          <p:nvPr>
            <p:ph type="dt" sz="half" idx="10"/>
          </p:nvPr>
        </p:nvSpPr>
        <p:spPr/>
        <p:txBody>
          <a:bodyPr/>
          <a:lstStyle/>
          <a:p>
            <a:fld id="{7C164E6F-16B4-40D8-A95F-7ABA929D3437}" type="datetimeFigureOut">
              <a:rPr lang="en-US" smtClean="0"/>
              <a:t>6/6/2021</a:t>
            </a:fld>
            <a:endParaRPr lang="en-US"/>
          </a:p>
        </p:txBody>
      </p:sp>
      <p:sp>
        <p:nvSpPr>
          <p:cNvPr id="6" name="Footer Placeholder 5">
            <a:extLst>
              <a:ext uri="{FF2B5EF4-FFF2-40B4-BE49-F238E27FC236}">
                <a16:creationId xmlns:a16="http://schemas.microsoft.com/office/drawing/2014/main" id="{7C6E36E1-6D4F-4351-B51A-6B0734769D1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3192AE-22F5-41FB-B779-2B2399415DFA}"/>
              </a:ext>
            </a:extLst>
          </p:cNvPr>
          <p:cNvSpPr>
            <a:spLocks noGrp="1"/>
          </p:cNvSpPr>
          <p:nvPr>
            <p:ph type="sldNum" sz="quarter" idx="12"/>
          </p:nvPr>
        </p:nvSpPr>
        <p:spPr/>
        <p:txBody>
          <a:bodyPr/>
          <a:lstStyle/>
          <a:p>
            <a:fld id="{0E608D3D-B33E-4A36-92F4-A528159AB887}" type="slidenum">
              <a:rPr lang="en-US" smtClean="0"/>
              <a:t>‹#›</a:t>
            </a:fld>
            <a:endParaRPr lang="en-US"/>
          </a:p>
        </p:txBody>
      </p:sp>
    </p:spTree>
    <p:extLst>
      <p:ext uri="{BB962C8B-B14F-4D97-AF65-F5344CB8AC3E}">
        <p14:creationId xmlns:p14="http://schemas.microsoft.com/office/powerpoint/2010/main" val="29734944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A0DA6-9425-4C4E-8BC9-90F3C071CC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39F68C6-48AE-4952-9E1E-A479A5F9757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72870B9-31AD-45A1-97D6-8FE9873332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76D5D4-8B63-4772-ACD4-955643C04C74}"/>
              </a:ext>
            </a:extLst>
          </p:cNvPr>
          <p:cNvSpPr>
            <a:spLocks noGrp="1"/>
          </p:cNvSpPr>
          <p:nvPr>
            <p:ph type="dt" sz="half" idx="10"/>
          </p:nvPr>
        </p:nvSpPr>
        <p:spPr/>
        <p:txBody>
          <a:bodyPr/>
          <a:lstStyle/>
          <a:p>
            <a:fld id="{7C164E6F-16B4-40D8-A95F-7ABA929D3437}" type="datetimeFigureOut">
              <a:rPr lang="en-US" smtClean="0"/>
              <a:t>6/6/2021</a:t>
            </a:fld>
            <a:endParaRPr lang="en-US"/>
          </a:p>
        </p:txBody>
      </p:sp>
      <p:sp>
        <p:nvSpPr>
          <p:cNvPr id="6" name="Footer Placeholder 5">
            <a:extLst>
              <a:ext uri="{FF2B5EF4-FFF2-40B4-BE49-F238E27FC236}">
                <a16:creationId xmlns:a16="http://schemas.microsoft.com/office/drawing/2014/main" id="{16957879-E483-42CC-87B4-BA7CB16DB97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840AE43-D76A-461E-8931-16D60D19D763}"/>
              </a:ext>
            </a:extLst>
          </p:cNvPr>
          <p:cNvSpPr>
            <a:spLocks noGrp="1"/>
          </p:cNvSpPr>
          <p:nvPr>
            <p:ph type="sldNum" sz="quarter" idx="12"/>
          </p:nvPr>
        </p:nvSpPr>
        <p:spPr/>
        <p:txBody>
          <a:bodyPr/>
          <a:lstStyle/>
          <a:p>
            <a:fld id="{0E608D3D-B33E-4A36-92F4-A528159AB887}" type="slidenum">
              <a:rPr lang="en-US" smtClean="0"/>
              <a:t>‹#›</a:t>
            </a:fld>
            <a:endParaRPr lang="en-US"/>
          </a:p>
        </p:txBody>
      </p:sp>
    </p:spTree>
    <p:extLst>
      <p:ext uri="{BB962C8B-B14F-4D97-AF65-F5344CB8AC3E}">
        <p14:creationId xmlns:p14="http://schemas.microsoft.com/office/powerpoint/2010/main" val="27649121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40AAC-9C9D-433E-A942-358D9488DDA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F285A21-25B2-46DA-A7F7-2CEDBDF4C0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A3943C-10EB-42A4-88DA-D646D53DF100}"/>
              </a:ext>
            </a:extLst>
          </p:cNvPr>
          <p:cNvSpPr>
            <a:spLocks noGrp="1"/>
          </p:cNvSpPr>
          <p:nvPr>
            <p:ph type="dt" sz="half" idx="10"/>
          </p:nvPr>
        </p:nvSpPr>
        <p:spPr/>
        <p:txBody>
          <a:bodyPr/>
          <a:lstStyle/>
          <a:p>
            <a:fld id="{7C164E6F-16B4-40D8-A95F-7ABA929D3437}" type="datetimeFigureOut">
              <a:rPr lang="en-US" smtClean="0"/>
              <a:t>6/6/2021</a:t>
            </a:fld>
            <a:endParaRPr lang="en-US"/>
          </a:p>
        </p:txBody>
      </p:sp>
      <p:sp>
        <p:nvSpPr>
          <p:cNvPr id="5" name="Footer Placeholder 4">
            <a:extLst>
              <a:ext uri="{FF2B5EF4-FFF2-40B4-BE49-F238E27FC236}">
                <a16:creationId xmlns:a16="http://schemas.microsoft.com/office/drawing/2014/main" id="{4BC5028D-10CC-4E2E-914B-DA45CE9644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3FFA57-E0BD-4B74-91F6-5C6143F3D549}"/>
              </a:ext>
            </a:extLst>
          </p:cNvPr>
          <p:cNvSpPr>
            <a:spLocks noGrp="1"/>
          </p:cNvSpPr>
          <p:nvPr>
            <p:ph type="sldNum" sz="quarter" idx="12"/>
          </p:nvPr>
        </p:nvSpPr>
        <p:spPr/>
        <p:txBody>
          <a:bodyPr/>
          <a:lstStyle/>
          <a:p>
            <a:fld id="{0E608D3D-B33E-4A36-92F4-A528159AB887}" type="slidenum">
              <a:rPr lang="en-US" smtClean="0"/>
              <a:t>‹#›</a:t>
            </a:fld>
            <a:endParaRPr lang="en-US"/>
          </a:p>
        </p:txBody>
      </p:sp>
    </p:spTree>
    <p:extLst>
      <p:ext uri="{BB962C8B-B14F-4D97-AF65-F5344CB8AC3E}">
        <p14:creationId xmlns:p14="http://schemas.microsoft.com/office/powerpoint/2010/main" val="30006436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44DC842-3C89-4C45-9515-E353DF5A9EC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44BA300-DA73-4CC2-B65F-7391FA5EF26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B1DCB0-ACD9-47C6-AE61-B55B8E9AB763}"/>
              </a:ext>
            </a:extLst>
          </p:cNvPr>
          <p:cNvSpPr>
            <a:spLocks noGrp="1"/>
          </p:cNvSpPr>
          <p:nvPr>
            <p:ph type="dt" sz="half" idx="10"/>
          </p:nvPr>
        </p:nvSpPr>
        <p:spPr/>
        <p:txBody>
          <a:bodyPr/>
          <a:lstStyle/>
          <a:p>
            <a:fld id="{7C164E6F-16B4-40D8-A95F-7ABA929D3437}" type="datetimeFigureOut">
              <a:rPr lang="en-US" smtClean="0"/>
              <a:t>6/6/2021</a:t>
            </a:fld>
            <a:endParaRPr lang="en-US"/>
          </a:p>
        </p:txBody>
      </p:sp>
      <p:sp>
        <p:nvSpPr>
          <p:cNvPr id="5" name="Footer Placeholder 4">
            <a:extLst>
              <a:ext uri="{FF2B5EF4-FFF2-40B4-BE49-F238E27FC236}">
                <a16:creationId xmlns:a16="http://schemas.microsoft.com/office/drawing/2014/main" id="{C9132D64-2F65-4709-B13B-F211AFFF6B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3F3651-641B-4F93-B2C8-E8EF1C1D2274}"/>
              </a:ext>
            </a:extLst>
          </p:cNvPr>
          <p:cNvSpPr>
            <a:spLocks noGrp="1"/>
          </p:cNvSpPr>
          <p:nvPr>
            <p:ph type="sldNum" sz="quarter" idx="12"/>
          </p:nvPr>
        </p:nvSpPr>
        <p:spPr/>
        <p:txBody>
          <a:bodyPr/>
          <a:lstStyle/>
          <a:p>
            <a:fld id="{0E608D3D-B33E-4A36-92F4-A528159AB887}" type="slidenum">
              <a:rPr lang="en-US" smtClean="0"/>
              <a:t>‹#›</a:t>
            </a:fld>
            <a:endParaRPr lang="en-US"/>
          </a:p>
        </p:txBody>
      </p:sp>
    </p:spTree>
    <p:extLst>
      <p:ext uri="{BB962C8B-B14F-4D97-AF65-F5344CB8AC3E}">
        <p14:creationId xmlns:p14="http://schemas.microsoft.com/office/powerpoint/2010/main" val="18670707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C9744B7-3713-40C9-A898-7569596FA0C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6E348BE-EC22-4F0A-A7A1-86499B2ED65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ECC746-53CD-43AB-B6E9-4CAD2EAA66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C164E6F-16B4-40D8-A95F-7ABA929D3437}" type="datetimeFigureOut">
              <a:rPr lang="en-US" smtClean="0"/>
              <a:t>6/6/2021</a:t>
            </a:fld>
            <a:endParaRPr lang="en-US"/>
          </a:p>
        </p:txBody>
      </p:sp>
      <p:sp>
        <p:nvSpPr>
          <p:cNvPr id="5" name="Footer Placeholder 4">
            <a:extLst>
              <a:ext uri="{FF2B5EF4-FFF2-40B4-BE49-F238E27FC236}">
                <a16:creationId xmlns:a16="http://schemas.microsoft.com/office/drawing/2014/main" id="{94A8B956-8150-4951-9622-F717329BDE8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8CF9719-A3A9-490D-AFBE-93AF929980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E608D3D-B33E-4A36-92F4-A528159AB887}" type="slidenum">
              <a:rPr lang="en-US" smtClean="0"/>
              <a:t>‹#›</a:t>
            </a:fld>
            <a:endParaRPr lang="en-US"/>
          </a:p>
        </p:txBody>
      </p:sp>
    </p:spTree>
    <p:extLst>
      <p:ext uri="{BB962C8B-B14F-4D97-AF65-F5344CB8AC3E}">
        <p14:creationId xmlns:p14="http://schemas.microsoft.com/office/powerpoint/2010/main" val="30783907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diagramLayout" Target="../diagrams/layout1.xml"/><Relationship Id="rId7" Type="http://schemas.openxmlformats.org/officeDocument/2006/relationships/image" Target="../media/image5.emf"/><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 Id="rId9" Type="http://schemas.openxmlformats.org/officeDocument/2006/relationships/image" Target="../media/image7.emf"/></Relationships>
</file>

<file path=ppt/slides/_rels/slide18.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F23CB31-906A-411D-8997-234EFD3BA860}"/>
              </a:ext>
            </a:extLst>
          </p:cNvPr>
          <p:cNvSpPr>
            <a:spLocks noGrp="1"/>
          </p:cNvSpPr>
          <p:nvPr>
            <p:ph type="ctrTitle"/>
          </p:nvPr>
        </p:nvSpPr>
        <p:spPr>
          <a:xfrm>
            <a:off x="2133600" y="1828801"/>
            <a:ext cx="7924800" cy="1470025"/>
          </a:xfrm>
          <a:ln>
            <a:miter lim="800000"/>
            <a:headEnd/>
            <a:tailEnd/>
          </a:ln>
        </p:spPr>
        <p:txBody>
          <a:bodyPr/>
          <a:lstStyle/>
          <a:p>
            <a:pPr>
              <a:defRPr/>
            </a:pPr>
            <a:r>
              <a:rPr lang="en-US" sz="4600" dirty="0">
                <a:ln w="10541" cmpd="sng">
                  <a:solidFill>
                    <a:srgbClr val="7D7D7D">
                      <a:tint val="100000"/>
                      <a:shade val="100000"/>
                      <a:satMod val="110000"/>
                    </a:srgbClr>
                  </a:solidFill>
                  <a:prstDash val="solid"/>
                </a:ln>
                <a:effectLst>
                  <a:outerShdw blurRad="38100" dist="38100" dir="2700000" algn="tl">
                    <a:srgbClr val="000000">
                      <a:alpha val="43137"/>
                    </a:srgbClr>
                  </a:outerShdw>
                </a:effectLst>
                <a:latin typeface="Monotype Corsiva" pitchFamily="66" charset="0"/>
                <a:cs typeface="Times New Roman" pitchFamily="18" charset="0"/>
              </a:rPr>
              <a:t>Entrepreneurship and Small Business Management</a:t>
            </a:r>
            <a:endParaRPr lang="en-US" sz="4600" dirty="0"/>
          </a:p>
        </p:txBody>
      </p:sp>
      <p:sp>
        <p:nvSpPr>
          <p:cNvPr id="5" name="Subtitle 4">
            <a:extLst>
              <a:ext uri="{FF2B5EF4-FFF2-40B4-BE49-F238E27FC236}">
                <a16:creationId xmlns:a16="http://schemas.microsoft.com/office/drawing/2014/main" id="{2F595735-76C9-4B0F-BD94-F7CCE1871A8E}"/>
              </a:ext>
            </a:extLst>
          </p:cNvPr>
          <p:cNvSpPr>
            <a:spLocks noGrp="1"/>
          </p:cNvSpPr>
          <p:nvPr>
            <p:ph type="subTitle" idx="1"/>
          </p:nvPr>
        </p:nvSpPr>
        <p:spPr>
          <a:xfrm>
            <a:off x="2895600" y="4114800"/>
            <a:ext cx="6400800" cy="1752600"/>
          </a:xfrm>
        </p:spPr>
        <p:txBody>
          <a:bodyPr/>
          <a:lstStyle/>
          <a:p>
            <a:pPr>
              <a:buFont typeface="Arial" charset="0"/>
              <a:buNone/>
              <a:defRPr/>
            </a:pPr>
            <a:r>
              <a:rPr lang="en-US" sz="3800" dirty="0">
                <a:effectLst>
                  <a:outerShdw blurRad="38100" dist="38100" dir="2700000" algn="tl">
                    <a:srgbClr val="000000">
                      <a:alpha val="43137"/>
                    </a:srgbClr>
                  </a:outerShdw>
                </a:effectLst>
                <a:latin typeface="Times New Roman" pitchFamily="18" charset="0"/>
                <a:cs typeface="Times New Roman" pitchFamily="18" charset="0"/>
              </a:rPr>
              <a:t>Chapter Two</a:t>
            </a:r>
          </a:p>
          <a:p>
            <a:pPr>
              <a:buFont typeface="Arial" charset="0"/>
              <a:buNone/>
              <a:defRPr/>
            </a:pPr>
            <a:r>
              <a:rPr lang="en-US" sz="3800" dirty="0">
                <a:effectLst>
                  <a:outerShdw blurRad="38100" dist="38100" dir="2700000" algn="tl">
                    <a:srgbClr val="000000">
                      <a:alpha val="43137"/>
                    </a:srgbClr>
                  </a:outerShdw>
                </a:effectLst>
                <a:latin typeface="Times New Roman" pitchFamily="18" charset="0"/>
                <a:cs typeface="Times New Roman" pitchFamily="18" charset="0"/>
              </a:rPr>
              <a:t>Developing Business Plan</a:t>
            </a:r>
          </a:p>
        </p:txBody>
      </p:sp>
      <p:cxnSp>
        <p:nvCxnSpPr>
          <p:cNvPr id="8" name="Straight Connector 7">
            <a:extLst>
              <a:ext uri="{FF2B5EF4-FFF2-40B4-BE49-F238E27FC236}">
                <a16:creationId xmlns:a16="http://schemas.microsoft.com/office/drawing/2014/main" id="{FF23AD9B-583A-4ED4-8EF7-06B4D69F07BA}"/>
              </a:ext>
            </a:extLst>
          </p:cNvPr>
          <p:cNvCxnSpPr/>
          <p:nvPr/>
        </p:nvCxnSpPr>
        <p:spPr>
          <a:xfrm>
            <a:off x="1676400" y="3810000"/>
            <a:ext cx="8686800" cy="0"/>
          </a:xfrm>
          <a:prstGeom prst="line">
            <a:avLst/>
          </a:prstGeom>
        </p:spPr>
        <p:style>
          <a:lnRef idx="3">
            <a:schemeClr val="dk1"/>
          </a:lnRef>
          <a:fillRef idx="0">
            <a:schemeClr val="dk1"/>
          </a:fillRef>
          <a:effectRef idx="2">
            <a:schemeClr val="dk1"/>
          </a:effectRef>
          <a:fontRef idx="minor">
            <a:schemeClr val="tx1"/>
          </a:fontRef>
        </p:style>
      </p:cxnSp>
      <p:sp>
        <p:nvSpPr>
          <p:cNvPr id="10" name="Rectangle 9">
            <a:extLst>
              <a:ext uri="{FF2B5EF4-FFF2-40B4-BE49-F238E27FC236}">
                <a16:creationId xmlns:a16="http://schemas.microsoft.com/office/drawing/2014/main" id="{21B83720-B75D-41B0-9858-F6630ECDEB00}"/>
              </a:ext>
            </a:extLst>
          </p:cNvPr>
          <p:cNvSpPr/>
          <p:nvPr/>
        </p:nvSpPr>
        <p:spPr>
          <a:xfrm>
            <a:off x="6400801" y="6096000"/>
            <a:ext cx="2949575" cy="400050"/>
          </a:xfrm>
          <a:prstGeom prst="rect">
            <a:avLst/>
          </a:prstGeom>
        </p:spPr>
        <p:txBody>
          <a:bodyPr wrap="none">
            <a:spAutoFit/>
          </a:bodyPr>
          <a:lstStyle/>
          <a:p>
            <a:pPr eaLnBrk="1" hangingPunct="1">
              <a:defRPr/>
            </a:pPr>
            <a:r>
              <a:rPr lang="en-US" sz="2000" dirty="0">
                <a:effectLst>
                  <a:outerShdw blurRad="38100" dist="38100" dir="2700000" algn="tl">
                    <a:srgbClr val="000000">
                      <a:alpha val="43137"/>
                    </a:srgbClr>
                  </a:outerShdw>
                </a:effectLst>
                <a:latin typeface="Arial" charset="0"/>
                <a:cs typeface="Arial" charset="0"/>
              </a:rPr>
              <a:t>By:-KALKIDAN.Y( MBA)</a:t>
            </a:r>
          </a:p>
        </p:txBody>
      </p:sp>
    </p:spTree>
  </p:cSld>
  <p:clrMapOvr>
    <a:masterClrMapping/>
  </p:clrMapOvr>
  <p:transition>
    <p:cover dir="l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1E0BF8-8611-4D4F-B968-383F5364604D}"/>
              </a:ext>
            </a:extLst>
          </p:cNvPr>
          <p:cNvSpPr>
            <a:spLocks noGrp="1"/>
          </p:cNvSpPr>
          <p:nvPr>
            <p:ph idx="1"/>
          </p:nvPr>
        </p:nvSpPr>
        <p:spPr>
          <a:xfrm>
            <a:off x="508000" y="419100"/>
            <a:ext cx="10845800" cy="6071152"/>
          </a:xfrm>
        </p:spPr>
        <p:txBody>
          <a:bodyPr/>
          <a:lstStyle/>
          <a:p>
            <a:pPr marL="0" indent="0">
              <a:buNone/>
            </a:pPr>
            <a:r>
              <a:rPr lang="en-US" sz="3200" b="1" u="sng" dirty="0"/>
              <a:t>Opportunity Identification and Evaluation</a:t>
            </a:r>
          </a:p>
          <a:p>
            <a:pPr marL="0" indent="0">
              <a:buNone/>
            </a:pPr>
            <a:r>
              <a:rPr lang="en-US" sz="3200" dirty="0"/>
              <a:t> </a:t>
            </a:r>
            <a:r>
              <a:rPr lang="en-US" sz="3600" dirty="0"/>
              <a:t>The opportunity identification and evaluation stage can be divided into five main steps namely</a:t>
            </a:r>
          </a:p>
          <a:p>
            <a:pPr marL="514350" indent="-514350">
              <a:buAutoNum type="arabicPeriod"/>
            </a:pPr>
            <a:r>
              <a:rPr lang="en-US" sz="4400" dirty="0"/>
              <a:t>Getting the idea/scanning the environment</a:t>
            </a:r>
          </a:p>
          <a:p>
            <a:pPr marL="514350" indent="-514350">
              <a:buAutoNum type="arabicPeriod"/>
            </a:pPr>
            <a:r>
              <a:rPr lang="en-US" sz="4400" dirty="0"/>
              <a:t>Identifying the opportunity,</a:t>
            </a:r>
          </a:p>
          <a:p>
            <a:pPr marL="514350" indent="-514350">
              <a:buAutoNum type="arabicPeriod"/>
            </a:pPr>
            <a:r>
              <a:rPr lang="en-US" sz="4400" dirty="0"/>
              <a:t> Developing the opportunity, </a:t>
            </a:r>
          </a:p>
          <a:p>
            <a:pPr marL="514350" indent="-514350">
              <a:buAutoNum type="arabicPeriod"/>
            </a:pPr>
            <a:r>
              <a:rPr lang="en-US" sz="4400" dirty="0"/>
              <a:t>Evaluating the opportunity and </a:t>
            </a:r>
          </a:p>
          <a:p>
            <a:pPr marL="514350" indent="-514350">
              <a:buAutoNum type="arabicPeriod"/>
            </a:pPr>
            <a:r>
              <a:rPr lang="en-US" sz="4400" dirty="0"/>
              <a:t>Evaluating the team.  </a:t>
            </a:r>
          </a:p>
        </p:txBody>
      </p:sp>
    </p:spTree>
    <p:extLst>
      <p:ext uri="{BB962C8B-B14F-4D97-AF65-F5344CB8AC3E}">
        <p14:creationId xmlns:p14="http://schemas.microsoft.com/office/powerpoint/2010/main" val="2405912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AC6DEA-E46A-400E-A8E9-46973E3E3D29}"/>
              </a:ext>
            </a:extLst>
          </p:cNvPr>
          <p:cNvSpPr>
            <a:spLocks noGrp="1"/>
          </p:cNvSpPr>
          <p:nvPr>
            <p:ph idx="1"/>
          </p:nvPr>
        </p:nvSpPr>
        <p:spPr>
          <a:xfrm>
            <a:off x="425302" y="255181"/>
            <a:ext cx="11238614" cy="6315740"/>
          </a:xfrm>
        </p:spPr>
        <p:txBody>
          <a:bodyPr>
            <a:normAutofit fontScale="92500" lnSpcReduction="10000"/>
          </a:bodyPr>
          <a:lstStyle/>
          <a:p>
            <a:pPr marL="514350" indent="-514350" algn="just">
              <a:buAutoNum type="arabicParenR"/>
            </a:pPr>
            <a:r>
              <a:rPr lang="en-US" b="1" u="sng" dirty="0"/>
              <a:t>Scanning the Environment/ Getting the Idea:-  </a:t>
            </a:r>
            <a:r>
              <a:rPr lang="en-US" dirty="0"/>
              <a:t>A business opportunity is a gap left in a market by those who currently serve it, giving a chance to others to add unrealized value by performing differently from and better than competitors in order to create new possibilities.</a:t>
            </a:r>
          </a:p>
          <a:p>
            <a:pPr marL="514350" indent="-514350" algn="just">
              <a:buAutoNum type="arabicParenR"/>
            </a:pPr>
            <a:r>
              <a:rPr lang="en-US" b="1" u="sng" dirty="0"/>
              <a:t>Opportunity Identification :- </a:t>
            </a:r>
            <a:r>
              <a:rPr lang="en-US" dirty="0"/>
              <a:t>Opportunity identification is ability to see, to discover and exploit opportunities that others miss. </a:t>
            </a:r>
          </a:p>
          <a:p>
            <a:pPr algn="just"/>
            <a:r>
              <a:rPr lang="en-US" dirty="0"/>
              <a:t>It is the process of seeking out better ways of competing. It includes scanning the informational environment, being able to capture, recognize and make effective use of abstract, implicit and changing information from the changing external environments.</a:t>
            </a:r>
          </a:p>
          <a:p>
            <a:pPr marL="0" indent="0" algn="just">
              <a:buNone/>
            </a:pPr>
            <a:r>
              <a:rPr lang="en-US" b="1" u="sng" dirty="0"/>
              <a:t>3. Opportunity Development :-</a:t>
            </a:r>
            <a:r>
              <a:rPr lang="en-US" dirty="0"/>
              <a:t>This involves systematic research to refine </a:t>
            </a:r>
          </a:p>
          <a:p>
            <a:pPr marL="0" indent="0" algn="just">
              <a:buNone/>
            </a:pPr>
            <a:r>
              <a:rPr lang="en-US" dirty="0"/>
              <a:t>the idea to the most promising high potential opportunity that can be transformed into marketable items. </a:t>
            </a:r>
          </a:p>
          <a:p>
            <a:pPr marL="0" indent="0" algn="just">
              <a:buNone/>
            </a:pPr>
            <a:r>
              <a:rPr lang="en-US" b="1" u="sng" dirty="0"/>
              <a:t>4. Opportunity Evaluation:-   </a:t>
            </a:r>
            <a:r>
              <a:rPr lang="en-US" dirty="0"/>
              <a:t>professional executed evaluation can tell whether the specific product or service has the returns needed to justify the investment and the risk to be taken.</a:t>
            </a:r>
          </a:p>
        </p:txBody>
      </p:sp>
    </p:spTree>
    <p:extLst>
      <p:ext uri="{BB962C8B-B14F-4D97-AF65-F5344CB8AC3E}">
        <p14:creationId xmlns:p14="http://schemas.microsoft.com/office/powerpoint/2010/main" val="2240760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3D7444-237B-4FF7-A597-5ABA0C30C7D2}"/>
              </a:ext>
            </a:extLst>
          </p:cNvPr>
          <p:cNvSpPr>
            <a:spLocks noGrp="1"/>
          </p:cNvSpPr>
          <p:nvPr>
            <p:ph idx="1"/>
          </p:nvPr>
        </p:nvSpPr>
        <p:spPr>
          <a:xfrm>
            <a:off x="170121" y="425302"/>
            <a:ext cx="11791507" cy="6134986"/>
          </a:xfrm>
        </p:spPr>
        <p:txBody>
          <a:bodyPr/>
          <a:lstStyle/>
          <a:p>
            <a:pPr marL="0" indent="0">
              <a:buNone/>
            </a:pPr>
            <a:r>
              <a:rPr lang="en-US" dirty="0"/>
              <a:t>5) Assessment of the Entrepreneurial Team </a:t>
            </a:r>
          </a:p>
          <a:p>
            <a:pPr marL="0" indent="0">
              <a:buNone/>
            </a:pPr>
            <a:r>
              <a:rPr lang="en-US" sz="3200" b="1" u="sng" dirty="0"/>
              <a:t>Business Idea Development </a:t>
            </a:r>
          </a:p>
          <a:p>
            <a:pPr marL="0" indent="0">
              <a:buNone/>
            </a:pPr>
            <a:r>
              <a:rPr lang="en-US" sz="3200" dirty="0"/>
              <a:t>A business idea is a short and precise description of the basic operation of an intended business. </a:t>
            </a:r>
          </a:p>
          <a:p>
            <a:pPr marL="0" indent="0">
              <a:buNone/>
            </a:pPr>
            <a:r>
              <a:rPr lang="en-US" sz="3200" dirty="0"/>
              <a:t>There are three types of business ideas. They are: </a:t>
            </a:r>
          </a:p>
          <a:p>
            <a:pPr marL="0" indent="0" algn="just">
              <a:buNone/>
            </a:pPr>
            <a:r>
              <a:rPr lang="en-US" sz="3200" dirty="0"/>
              <a:t>1. </a:t>
            </a:r>
            <a:r>
              <a:rPr lang="en-US" sz="3200" b="1" u="sng" dirty="0"/>
              <a:t>Old Idea – </a:t>
            </a:r>
            <a:r>
              <a:rPr lang="en-US" sz="3200" dirty="0"/>
              <a:t>Here an individual copies an existing business idea from someone. </a:t>
            </a:r>
          </a:p>
          <a:p>
            <a:pPr marL="0" indent="0" algn="just">
              <a:buNone/>
            </a:pPr>
            <a:r>
              <a:rPr lang="en-US" sz="3200" dirty="0"/>
              <a:t>2. </a:t>
            </a:r>
            <a:r>
              <a:rPr lang="en-US" sz="3200" b="1" u="sng" dirty="0"/>
              <a:t>Old Idea with Modification </a:t>
            </a:r>
            <a:r>
              <a:rPr lang="en-US" sz="3200" dirty="0"/>
              <a:t>– In this case the person accepts an old idea from someone and then modifies it in some way to fit a potential customer’s demand. </a:t>
            </a:r>
          </a:p>
          <a:p>
            <a:pPr marL="0" indent="0" algn="just">
              <a:buNone/>
            </a:pPr>
            <a:r>
              <a:rPr lang="en-US" sz="3200" dirty="0"/>
              <a:t>3. </a:t>
            </a:r>
            <a:r>
              <a:rPr lang="en-US" sz="3200" b="1" u="sng" dirty="0"/>
              <a:t>A New Idea </a:t>
            </a:r>
            <a:r>
              <a:rPr lang="en-US" sz="3200" dirty="0"/>
              <a:t>– This one involves the invention of something new for the first time </a:t>
            </a:r>
          </a:p>
        </p:txBody>
      </p:sp>
    </p:spTree>
    <p:extLst>
      <p:ext uri="{BB962C8B-B14F-4D97-AF65-F5344CB8AC3E}">
        <p14:creationId xmlns:p14="http://schemas.microsoft.com/office/powerpoint/2010/main" val="28877247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003C51-9130-4B16-8A18-E707AEF07A72}"/>
              </a:ext>
            </a:extLst>
          </p:cNvPr>
          <p:cNvSpPr>
            <a:spLocks noGrp="1"/>
          </p:cNvSpPr>
          <p:nvPr>
            <p:ph idx="1"/>
          </p:nvPr>
        </p:nvSpPr>
        <p:spPr>
          <a:xfrm>
            <a:off x="404037" y="531628"/>
            <a:ext cx="11440633" cy="5943600"/>
          </a:xfrm>
        </p:spPr>
        <p:txBody>
          <a:bodyPr/>
          <a:lstStyle/>
          <a:p>
            <a:pPr marL="0" indent="0">
              <a:buNone/>
            </a:pPr>
            <a:r>
              <a:rPr lang="en-US" sz="3200" b="1" dirty="0"/>
              <a:t>Business Idea Identification</a:t>
            </a:r>
          </a:p>
          <a:p>
            <a:pPr marL="0" indent="0">
              <a:buNone/>
            </a:pPr>
            <a:r>
              <a:rPr lang="en-US" sz="3200" dirty="0"/>
              <a:t>Before you start a business, you need to have a clear idea of the sort of business you want to run. </a:t>
            </a:r>
          </a:p>
          <a:p>
            <a:pPr marL="0" indent="0">
              <a:buNone/>
            </a:pPr>
            <a:r>
              <a:rPr lang="en-US" sz="3200" dirty="0"/>
              <a:t>Your business idea will tell you</a:t>
            </a:r>
          </a:p>
          <a:p>
            <a:pPr>
              <a:buFont typeface="Wingdings" panose="05000000000000000000" pitchFamily="2" charset="2"/>
              <a:buChar char="§"/>
            </a:pPr>
            <a:r>
              <a:rPr lang="en-US" sz="3200" dirty="0"/>
              <a:t>Which need will your business fulfill for the customers and what kind of customers will you attract? </a:t>
            </a:r>
          </a:p>
          <a:p>
            <a:pPr>
              <a:buFont typeface="Wingdings" panose="05000000000000000000" pitchFamily="2" charset="2"/>
              <a:buChar char="§"/>
            </a:pPr>
            <a:r>
              <a:rPr lang="en-US" sz="3200" dirty="0"/>
              <a:t>What good or service will your business sell? </a:t>
            </a:r>
          </a:p>
          <a:p>
            <a:pPr>
              <a:buFont typeface="Wingdings" panose="05000000000000000000" pitchFamily="2" charset="2"/>
              <a:buChar char="§"/>
            </a:pPr>
            <a:r>
              <a:rPr lang="en-US" sz="3200" dirty="0"/>
              <a:t>Who will your business sell to? </a:t>
            </a:r>
          </a:p>
          <a:p>
            <a:pPr>
              <a:buFont typeface="Wingdings" panose="05000000000000000000" pitchFamily="2" charset="2"/>
              <a:buChar char="§"/>
            </a:pPr>
            <a:r>
              <a:rPr lang="en-US" sz="3200" dirty="0"/>
              <a:t>How is your business going to sell its goods or services?</a:t>
            </a:r>
          </a:p>
          <a:p>
            <a:pPr>
              <a:buFont typeface="Wingdings" panose="05000000000000000000" pitchFamily="2" charset="2"/>
              <a:buChar char="§"/>
            </a:pPr>
            <a:r>
              <a:rPr lang="en-US" sz="3200" dirty="0"/>
              <a:t> How much will your business depend upon and impact the environment</a:t>
            </a:r>
            <a:r>
              <a:rPr lang="en-US" dirty="0"/>
              <a:t>? </a:t>
            </a:r>
          </a:p>
        </p:txBody>
      </p:sp>
    </p:spTree>
    <p:extLst>
      <p:ext uri="{BB962C8B-B14F-4D97-AF65-F5344CB8AC3E}">
        <p14:creationId xmlns:p14="http://schemas.microsoft.com/office/powerpoint/2010/main" val="1426597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F76FD9-4B92-4CDE-9C0D-40D9F6566519}"/>
              </a:ext>
            </a:extLst>
          </p:cNvPr>
          <p:cNvSpPr>
            <a:spLocks noGrp="1"/>
          </p:cNvSpPr>
          <p:nvPr>
            <p:ph idx="1"/>
          </p:nvPr>
        </p:nvSpPr>
        <p:spPr>
          <a:xfrm>
            <a:off x="404037" y="435935"/>
            <a:ext cx="11366205" cy="6018028"/>
          </a:xfrm>
        </p:spPr>
        <p:txBody>
          <a:bodyPr>
            <a:normAutofit lnSpcReduction="10000"/>
          </a:bodyPr>
          <a:lstStyle/>
          <a:p>
            <a:pPr marL="0" indent="0">
              <a:buNone/>
            </a:pPr>
            <a:r>
              <a:rPr lang="en-US" sz="4000" b="1" u="sng" dirty="0"/>
              <a:t>Good or Service will your Business Sell </a:t>
            </a:r>
          </a:p>
          <a:p>
            <a:pPr marL="0" indent="0">
              <a:buNone/>
            </a:pPr>
            <a:r>
              <a:rPr lang="en-US" sz="4000" dirty="0"/>
              <a:t>Depending on your skills and the needs of the customers, you should decide which good or service your business will sell. Also, keep in mind that they must be goods or services that people are willing to pay for and at a price that will allow you to make a profit.</a:t>
            </a:r>
          </a:p>
          <a:p>
            <a:pPr marL="0" indent="0">
              <a:buNone/>
            </a:pPr>
            <a:r>
              <a:rPr lang="en-US" sz="4000" b="1" u="sng" dirty="0"/>
              <a:t>Identifies Potential Customer  </a:t>
            </a:r>
          </a:p>
          <a:p>
            <a:pPr marL="0" indent="0">
              <a:buNone/>
            </a:pPr>
            <a:r>
              <a:rPr lang="en-US" sz="4000" dirty="0"/>
              <a:t>Any business cannot succeed without customers. Therefore, it is essential that you know who your customers will be.</a:t>
            </a:r>
          </a:p>
        </p:txBody>
      </p:sp>
    </p:spTree>
    <p:extLst>
      <p:ext uri="{BB962C8B-B14F-4D97-AF65-F5344CB8AC3E}">
        <p14:creationId xmlns:p14="http://schemas.microsoft.com/office/powerpoint/2010/main" val="11080580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3A63FE-4A2A-4F23-8564-C0EB43801EB9}"/>
              </a:ext>
            </a:extLst>
          </p:cNvPr>
          <p:cNvSpPr>
            <a:spLocks noGrp="1"/>
          </p:cNvSpPr>
          <p:nvPr>
            <p:ph idx="1"/>
          </p:nvPr>
        </p:nvSpPr>
        <p:spPr>
          <a:xfrm>
            <a:off x="350873" y="393404"/>
            <a:ext cx="11525693" cy="6092455"/>
          </a:xfrm>
        </p:spPr>
        <p:txBody>
          <a:bodyPr>
            <a:normAutofit fontScale="92500"/>
          </a:bodyPr>
          <a:lstStyle/>
          <a:p>
            <a:pPr marL="0" indent="0">
              <a:buNone/>
            </a:pPr>
            <a:r>
              <a:rPr lang="en-US" sz="3900" b="1" dirty="0"/>
              <a:t>Methods for Generating Business Ideas</a:t>
            </a:r>
          </a:p>
          <a:p>
            <a:pPr marL="0" indent="0">
              <a:buNone/>
            </a:pPr>
            <a:r>
              <a:rPr lang="en-US" b="1" dirty="0"/>
              <a:t>1. </a:t>
            </a:r>
            <a:r>
              <a:rPr lang="en-US" sz="3600" b="1" dirty="0"/>
              <a:t>Learn from successful business owners </a:t>
            </a:r>
          </a:p>
          <a:p>
            <a:pPr marL="0" indent="0">
              <a:buNone/>
            </a:pPr>
            <a:r>
              <a:rPr lang="en-US" sz="3600" dirty="0"/>
              <a:t>You can learn a lot from people in your area who have already gone through the process of establishing a business. </a:t>
            </a:r>
          </a:p>
          <a:p>
            <a:pPr marL="0" indent="0">
              <a:buNone/>
            </a:pPr>
            <a:r>
              <a:rPr lang="en-US" sz="3600" dirty="0"/>
              <a:t>You should try to get the following information from them</a:t>
            </a:r>
          </a:p>
          <a:p>
            <a:r>
              <a:rPr lang="en-US" sz="3600" dirty="0"/>
              <a:t>What kind of idea did these businesses start with? </a:t>
            </a:r>
          </a:p>
          <a:p>
            <a:r>
              <a:rPr lang="en-US" sz="3600" dirty="0"/>
              <a:t> Where did the ideas come from? </a:t>
            </a:r>
          </a:p>
          <a:p>
            <a:r>
              <a:rPr lang="en-US" sz="3600" dirty="0"/>
              <a:t> How did they develop their ideas into successful businesses? </a:t>
            </a:r>
          </a:p>
          <a:p>
            <a:r>
              <a:rPr lang="en-US" sz="3600" dirty="0"/>
              <a:t>How does the business profit and fit into the local environment? </a:t>
            </a:r>
          </a:p>
          <a:p>
            <a:r>
              <a:rPr lang="en-US" sz="3600" dirty="0"/>
              <a:t> Where did they get the money to start their business? </a:t>
            </a:r>
          </a:p>
        </p:txBody>
      </p:sp>
    </p:spTree>
    <p:extLst>
      <p:ext uri="{BB962C8B-B14F-4D97-AF65-F5344CB8AC3E}">
        <p14:creationId xmlns:p14="http://schemas.microsoft.com/office/powerpoint/2010/main" val="29315953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8ACD5F-562D-4EEC-9C50-92D048A73587}"/>
              </a:ext>
            </a:extLst>
          </p:cNvPr>
          <p:cNvSpPr>
            <a:spLocks noGrp="1"/>
          </p:cNvSpPr>
          <p:nvPr>
            <p:ph idx="1"/>
          </p:nvPr>
        </p:nvSpPr>
        <p:spPr>
          <a:xfrm>
            <a:off x="361507" y="318977"/>
            <a:ext cx="11685181" cy="6400800"/>
          </a:xfrm>
        </p:spPr>
        <p:txBody>
          <a:bodyPr>
            <a:normAutofit lnSpcReduction="10000"/>
          </a:bodyPr>
          <a:lstStyle/>
          <a:p>
            <a:pPr marL="0" indent="0">
              <a:buNone/>
            </a:pPr>
            <a:r>
              <a:rPr lang="en-US" b="1" dirty="0"/>
              <a:t>2. Draw From Experience </a:t>
            </a:r>
          </a:p>
          <a:p>
            <a:pPr marL="0" indent="0">
              <a:buNone/>
            </a:pPr>
            <a:r>
              <a:rPr lang="en-US" b="1" dirty="0"/>
              <a:t>2.1 Your own Experience  </a:t>
            </a:r>
          </a:p>
          <a:p>
            <a:r>
              <a:rPr lang="en-US" dirty="0"/>
              <a:t>Look at the list of your interests, your experiences and your networks. Are there any possible business ideas that you can derive from your own past experience? Think about each type of experience. </a:t>
            </a:r>
          </a:p>
          <a:p>
            <a:pPr marL="0" indent="0">
              <a:buNone/>
            </a:pPr>
            <a:r>
              <a:rPr lang="en-US" dirty="0"/>
              <a:t> </a:t>
            </a:r>
            <a:r>
              <a:rPr lang="en-US" b="1" dirty="0"/>
              <a:t>2.2 Other People’s Experience  </a:t>
            </a:r>
          </a:p>
          <a:p>
            <a:pPr marL="0" indent="0">
              <a:buNone/>
            </a:pPr>
            <a:r>
              <a:rPr lang="en-US" dirty="0"/>
              <a:t>The people around you are potential customers. It is important to understand their experience trying to find goods and services that are unavailable or not exactly what they need. Listen carefully to what these people say about their shopping experience. </a:t>
            </a:r>
          </a:p>
          <a:p>
            <a:pPr marL="0" indent="0">
              <a:buNone/>
            </a:pPr>
            <a:r>
              <a:rPr lang="en-US" b="1" dirty="0"/>
              <a:t>3. Survey Your Local Business Area </a:t>
            </a:r>
          </a:p>
          <a:p>
            <a:pPr marL="0" indent="0" algn="just">
              <a:buNone/>
            </a:pPr>
            <a:r>
              <a:rPr lang="en-US" dirty="0"/>
              <a:t>Another way of discovering business ideas is to look around your local community. Find out what type of businesses are already operating in your area and see if you can identify any gaps in the market. </a:t>
            </a:r>
          </a:p>
          <a:p>
            <a:pPr marL="0" indent="0" algn="just">
              <a:buNone/>
            </a:pPr>
            <a:r>
              <a:rPr lang="en-US" dirty="0"/>
              <a:t> </a:t>
            </a:r>
          </a:p>
        </p:txBody>
      </p:sp>
    </p:spTree>
    <p:extLst>
      <p:ext uri="{BB962C8B-B14F-4D97-AF65-F5344CB8AC3E}">
        <p14:creationId xmlns:p14="http://schemas.microsoft.com/office/powerpoint/2010/main" val="39264079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83D232-D365-4AFC-A14C-C72C8EB75339}"/>
              </a:ext>
            </a:extLst>
          </p:cNvPr>
          <p:cNvSpPr>
            <a:spLocks noGrp="1"/>
          </p:cNvSpPr>
          <p:nvPr>
            <p:ph idx="1"/>
          </p:nvPr>
        </p:nvSpPr>
        <p:spPr>
          <a:xfrm>
            <a:off x="425302" y="361507"/>
            <a:ext cx="11355572" cy="6092456"/>
          </a:xfrm>
        </p:spPr>
        <p:txBody>
          <a:bodyPr>
            <a:normAutofit fontScale="92500" lnSpcReduction="10000"/>
          </a:bodyPr>
          <a:lstStyle/>
          <a:p>
            <a:pPr marL="0" indent="0">
              <a:buNone/>
            </a:pPr>
            <a:r>
              <a:rPr lang="en-US" b="1" dirty="0"/>
              <a:t>4. Scanning Your Environment</a:t>
            </a:r>
          </a:p>
          <a:p>
            <a:r>
              <a:rPr lang="en-US" dirty="0"/>
              <a:t>Natural resources,  </a:t>
            </a:r>
          </a:p>
          <a:p>
            <a:r>
              <a:rPr lang="en-US" dirty="0"/>
              <a:t>Characteristics and skills of people in the local community,</a:t>
            </a:r>
          </a:p>
          <a:p>
            <a:r>
              <a:rPr lang="en-US" dirty="0"/>
              <a:t> Import substitution, </a:t>
            </a:r>
          </a:p>
          <a:p>
            <a:r>
              <a:rPr lang="en-US" dirty="0"/>
              <a:t> Waste products, </a:t>
            </a:r>
          </a:p>
          <a:p>
            <a:r>
              <a:rPr lang="en-US" dirty="0"/>
              <a:t>Publications, </a:t>
            </a:r>
          </a:p>
          <a:p>
            <a:r>
              <a:rPr lang="en-US" dirty="0"/>
              <a:t> Trade fairs and exhibition</a:t>
            </a:r>
          </a:p>
          <a:p>
            <a:pPr marL="0" indent="0">
              <a:buNone/>
            </a:pPr>
            <a:r>
              <a:rPr lang="en-US" b="1" dirty="0"/>
              <a:t>5. Brainstorming:- </a:t>
            </a:r>
            <a:r>
              <a:rPr lang="en-US" dirty="0"/>
              <a:t>Brainstorming means opening up your mind and thinking about many different ideas. You start with a word or a topic and then write down everything that comes to mind relating to that subject.</a:t>
            </a:r>
          </a:p>
          <a:p>
            <a:pPr marL="0" indent="0">
              <a:buNone/>
            </a:pPr>
            <a:r>
              <a:rPr lang="en-US" b="1" dirty="0"/>
              <a:t>6. Structured Brainstorming </a:t>
            </a:r>
          </a:p>
          <a:p>
            <a:pPr marL="0" indent="0" algn="just">
              <a:buNone/>
            </a:pPr>
            <a:r>
              <a:rPr lang="en-US" dirty="0"/>
              <a:t>Structured brainstorming is when you think of the different processes that are involved in the operation of a particular business and the goods/services that can be offered with respect to those processes. </a:t>
            </a:r>
          </a:p>
        </p:txBody>
      </p:sp>
    </p:spTree>
    <p:extLst>
      <p:ext uri="{BB962C8B-B14F-4D97-AF65-F5344CB8AC3E}">
        <p14:creationId xmlns:p14="http://schemas.microsoft.com/office/powerpoint/2010/main" val="15344176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1B5717-8FD4-4057-BCA2-09692B37AB28}"/>
              </a:ext>
            </a:extLst>
          </p:cNvPr>
          <p:cNvSpPr>
            <a:spLocks noGrp="1"/>
          </p:cNvSpPr>
          <p:nvPr>
            <p:ph idx="1"/>
          </p:nvPr>
        </p:nvSpPr>
        <p:spPr>
          <a:xfrm>
            <a:off x="361507" y="435934"/>
            <a:ext cx="11451265" cy="6007395"/>
          </a:xfrm>
        </p:spPr>
        <p:txBody>
          <a:bodyPr>
            <a:normAutofit/>
          </a:bodyPr>
          <a:lstStyle/>
          <a:p>
            <a:pPr marL="0" indent="0">
              <a:buNone/>
            </a:pPr>
            <a:r>
              <a:rPr lang="en-US" dirty="0"/>
              <a:t>Try to think of all the businesses that are related to different aspects of a product: </a:t>
            </a:r>
          </a:p>
          <a:p>
            <a:r>
              <a:rPr lang="en-US" dirty="0"/>
              <a:t>Those involved in production, </a:t>
            </a:r>
          </a:p>
          <a:p>
            <a:r>
              <a:rPr lang="en-US" dirty="0"/>
              <a:t> Those involved in the selling process, </a:t>
            </a:r>
          </a:p>
          <a:p>
            <a:r>
              <a:rPr lang="en-US" dirty="0"/>
              <a:t>Those involved in recycling or re-using materials, </a:t>
            </a:r>
          </a:p>
          <a:p>
            <a:r>
              <a:rPr lang="en-US" dirty="0"/>
              <a:t> Those indirectly related (spin-offs), </a:t>
            </a:r>
          </a:p>
          <a:p>
            <a:r>
              <a:rPr lang="en-US" dirty="0"/>
              <a:t> Those involved in servicing</a:t>
            </a:r>
          </a:p>
          <a:p>
            <a:pPr marL="0" indent="0">
              <a:buNone/>
            </a:pPr>
            <a:r>
              <a:rPr lang="en-US" b="1" dirty="0"/>
              <a:t>7. Focus Group  </a:t>
            </a:r>
          </a:p>
          <a:p>
            <a:pPr marL="0" indent="0">
              <a:buNone/>
            </a:pPr>
            <a:r>
              <a:rPr lang="en-US" dirty="0"/>
              <a:t>Focus group is a group of individuals providing information on a structured format which is led by moderators. It is characterized by an open and in depth discussion: rather than simply asking questions to solicit student response.</a:t>
            </a:r>
          </a:p>
        </p:txBody>
      </p:sp>
    </p:spTree>
    <p:extLst>
      <p:ext uri="{BB962C8B-B14F-4D97-AF65-F5344CB8AC3E}">
        <p14:creationId xmlns:p14="http://schemas.microsoft.com/office/powerpoint/2010/main" val="10531334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C64970-DBCA-4DF9-9427-0CEDD0A9495C}"/>
              </a:ext>
            </a:extLst>
          </p:cNvPr>
          <p:cNvSpPr>
            <a:spLocks noGrp="1"/>
          </p:cNvSpPr>
          <p:nvPr>
            <p:ph idx="1"/>
          </p:nvPr>
        </p:nvSpPr>
        <p:spPr>
          <a:xfrm>
            <a:off x="338470" y="414669"/>
            <a:ext cx="11515060" cy="6347637"/>
          </a:xfrm>
        </p:spPr>
        <p:txBody>
          <a:bodyPr>
            <a:normAutofit/>
          </a:bodyPr>
          <a:lstStyle/>
          <a:p>
            <a:pPr marL="0" indent="0">
              <a:buNone/>
            </a:pPr>
            <a:r>
              <a:rPr lang="en-US" b="1" dirty="0"/>
              <a:t>8. Problem Inventory Analysis  </a:t>
            </a:r>
          </a:p>
          <a:p>
            <a:pPr marL="0" indent="0" algn="just">
              <a:buNone/>
            </a:pPr>
            <a:r>
              <a:rPr lang="en-US" dirty="0"/>
              <a:t>It is similar to focus group to generate new product ideas. The difference is rather than generating new idea themselves, consumers are provided with a list of problems in general product category. It is a method of obtaining “New Idea” and solutions by focusing on problems.</a:t>
            </a:r>
          </a:p>
          <a:p>
            <a:pPr marL="0" indent="0" algn="just">
              <a:buNone/>
            </a:pPr>
            <a:r>
              <a:rPr lang="en-US" b="1" dirty="0"/>
              <a:t>9. Free Association  </a:t>
            </a:r>
          </a:p>
          <a:p>
            <a:pPr marL="0" indent="0" algn="just">
              <a:buNone/>
            </a:pPr>
            <a:r>
              <a:rPr lang="en-US" dirty="0"/>
              <a:t>One of the simplest methods that entrepreneurs can use to generate new ideas is free association. This technique is particularly helpful in developing an entirely new slant to a problem. </a:t>
            </a:r>
          </a:p>
          <a:p>
            <a:pPr marL="0" indent="0" algn="just">
              <a:buNone/>
            </a:pPr>
            <a:r>
              <a:rPr lang="en-US" b="1" dirty="0"/>
              <a:t>10. Forced Relationships  </a:t>
            </a:r>
          </a:p>
          <a:p>
            <a:pPr marL="0" indent="0" algn="just">
              <a:buNone/>
            </a:pPr>
            <a:r>
              <a:rPr lang="en-US" dirty="0"/>
              <a:t>Forced relationships- as the name implies- is the process of forcing relationships among some product combinations. It is a technique that asks questions about objects or ideas in an effort to </a:t>
            </a:r>
          </a:p>
          <a:p>
            <a:pPr marL="0" indent="0" algn="just">
              <a:buNone/>
            </a:pPr>
            <a:r>
              <a:rPr lang="en-US" dirty="0"/>
              <a:t>develop a new idea. </a:t>
            </a:r>
          </a:p>
        </p:txBody>
      </p:sp>
    </p:spTree>
    <p:extLst>
      <p:ext uri="{BB962C8B-B14F-4D97-AF65-F5344CB8AC3E}">
        <p14:creationId xmlns:p14="http://schemas.microsoft.com/office/powerpoint/2010/main" val="32165959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883C57-1443-4DD4-B5D3-C6F0BFFF834F}"/>
              </a:ext>
            </a:extLst>
          </p:cNvPr>
          <p:cNvSpPr>
            <a:spLocks noGrp="1"/>
          </p:cNvSpPr>
          <p:nvPr>
            <p:ph idx="1"/>
          </p:nvPr>
        </p:nvSpPr>
        <p:spPr>
          <a:xfrm>
            <a:off x="170121" y="340242"/>
            <a:ext cx="11600121" cy="6262577"/>
          </a:xfrm>
        </p:spPr>
        <p:txBody>
          <a:bodyPr>
            <a:normAutofit lnSpcReduction="10000"/>
          </a:bodyPr>
          <a:lstStyle/>
          <a:p>
            <a:pPr marL="0" indent="0">
              <a:buNone/>
            </a:pPr>
            <a:r>
              <a:rPr lang="en-US" b="1" dirty="0"/>
              <a:t>11. Attribute Listing </a:t>
            </a:r>
          </a:p>
          <a:p>
            <a:pPr marL="0" indent="0" algn="just">
              <a:buNone/>
            </a:pPr>
            <a:r>
              <a:rPr lang="en-US" dirty="0"/>
              <a:t>Attribute listing is an idea-finding technique that has the entrepreneur list the attributes of an item or problem and then look at each from a variety of viewpoints. Through this process, originally unrelated objects can be brought together to form a new combination and possibly a new product/service that better satisfies a need. </a:t>
            </a:r>
          </a:p>
          <a:p>
            <a:pPr marL="0" indent="0" algn="just">
              <a:buNone/>
            </a:pPr>
            <a:r>
              <a:rPr lang="en-US" b="1" dirty="0"/>
              <a:t>Business idea generation</a:t>
            </a:r>
          </a:p>
          <a:p>
            <a:pPr marL="0" indent="0" algn="just">
              <a:buNone/>
            </a:pPr>
            <a:r>
              <a:rPr lang="en-US" b="1" dirty="0"/>
              <a:t> 1. Macro screening: </a:t>
            </a:r>
            <a:r>
              <a:rPr lang="en-US" dirty="0"/>
              <a:t>is aimed screening down ideas to 10. And the common criteria are:  </a:t>
            </a:r>
          </a:p>
          <a:p>
            <a:pPr algn="just"/>
            <a:r>
              <a:rPr lang="en-US" dirty="0"/>
              <a:t> Are my own competencies (see strength detector) sufficient? </a:t>
            </a:r>
          </a:p>
          <a:p>
            <a:pPr algn="just"/>
            <a:r>
              <a:rPr lang="en-US" dirty="0"/>
              <a:t> Can I finance it to a large extent with my own equity?   </a:t>
            </a:r>
          </a:p>
          <a:p>
            <a:pPr algn="just"/>
            <a:r>
              <a:rPr lang="en-US" dirty="0"/>
              <a:t>Will people buy my product/service (i.e. is it needed and can people afford it)?  </a:t>
            </a:r>
          </a:p>
          <a:p>
            <a:pPr marL="0" indent="0" algn="just">
              <a:buNone/>
            </a:pPr>
            <a:r>
              <a:rPr lang="en-US" dirty="0"/>
              <a:t>2.  </a:t>
            </a:r>
            <a:r>
              <a:rPr lang="en-US" b="1" dirty="0"/>
              <a:t>Micro Screening: </a:t>
            </a:r>
            <a:r>
              <a:rPr lang="en-US" dirty="0"/>
              <a:t>is aimed screening down ideas into 3. The common criteria used for screening are: </a:t>
            </a:r>
          </a:p>
        </p:txBody>
      </p:sp>
    </p:spTree>
    <p:extLst>
      <p:ext uri="{BB962C8B-B14F-4D97-AF65-F5344CB8AC3E}">
        <p14:creationId xmlns:p14="http://schemas.microsoft.com/office/powerpoint/2010/main" val="39560734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5F848C-3D8D-4216-9DE9-A2F1545F00D7}"/>
              </a:ext>
            </a:extLst>
          </p:cNvPr>
          <p:cNvSpPr>
            <a:spLocks noGrp="1"/>
          </p:cNvSpPr>
          <p:nvPr>
            <p:ph idx="1"/>
          </p:nvPr>
        </p:nvSpPr>
        <p:spPr>
          <a:xfrm>
            <a:off x="159487" y="233916"/>
            <a:ext cx="11791507" cy="6400800"/>
          </a:xfrm>
        </p:spPr>
        <p:txBody>
          <a:bodyPr>
            <a:normAutofit/>
          </a:bodyPr>
          <a:lstStyle/>
          <a:p>
            <a:r>
              <a:rPr lang="en-US" sz="3600" dirty="0"/>
              <a:t>Solvent demand  </a:t>
            </a:r>
          </a:p>
          <a:p>
            <a:r>
              <a:rPr lang="en-US" sz="3600" dirty="0"/>
              <a:t>Availability of raw materials   </a:t>
            </a:r>
          </a:p>
          <a:p>
            <a:r>
              <a:rPr lang="en-US" sz="3600" dirty="0"/>
              <a:t>Availability of personal skills </a:t>
            </a:r>
          </a:p>
          <a:p>
            <a:r>
              <a:rPr lang="en-US" sz="3600" dirty="0"/>
              <a:t>Availability of financial resources</a:t>
            </a:r>
          </a:p>
          <a:p>
            <a:pPr marL="0" indent="0">
              <a:buNone/>
            </a:pPr>
            <a:r>
              <a:rPr lang="en-US" sz="3600" b="1" dirty="0"/>
              <a:t>3. Scoring the Suitability of Business Idea</a:t>
            </a:r>
          </a:p>
          <a:p>
            <a:pPr marL="0" indent="0" algn="just">
              <a:buNone/>
            </a:pPr>
            <a:r>
              <a:rPr lang="en-US" sz="3600" dirty="0"/>
              <a:t>This approach is most appropriate when deciding on starting a business. When there are more than one possible business ideas and one needs to decide which one to follow, we use score business ideas by assigning a rating from 1 to 3 for each question, with 3 being the strongest. After we score the ideas we sum the total and select the idea with the highest score. </a:t>
            </a:r>
          </a:p>
          <a:p>
            <a:pPr marL="0" indent="0">
              <a:buNone/>
            </a:pPr>
            <a:endParaRPr lang="en-US" dirty="0"/>
          </a:p>
        </p:txBody>
      </p:sp>
    </p:spTree>
    <p:extLst>
      <p:ext uri="{BB962C8B-B14F-4D97-AF65-F5344CB8AC3E}">
        <p14:creationId xmlns:p14="http://schemas.microsoft.com/office/powerpoint/2010/main" val="8417621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5CE88-BB32-432E-AC52-FEA3F522FD67}"/>
              </a:ext>
            </a:extLst>
          </p:cNvPr>
          <p:cNvSpPr>
            <a:spLocks noGrp="1"/>
          </p:cNvSpPr>
          <p:nvPr>
            <p:ph type="title"/>
          </p:nvPr>
        </p:nvSpPr>
        <p:spPr>
          <a:xfrm>
            <a:off x="838200" y="365126"/>
            <a:ext cx="10515600" cy="496112"/>
          </a:xfrm>
        </p:spPr>
        <p:txBody>
          <a:bodyPr>
            <a:normAutofit fontScale="90000"/>
          </a:bodyPr>
          <a:lstStyle/>
          <a:p>
            <a:r>
              <a:rPr lang="en-US" b="1" cap="all" dirty="0">
                <a:solidFill>
                  <a:srgbClr val="C00000"/>
                </a:solidFill>
                <a:effectLst>
                  <a:outerShdw blurRad="50800" dist="38100" algn="tr" rotWithShape="0">
                    <a:prstClr val="black">
                      <a:alpha val="40000"/>
                    </a:prstClr>
                  </a:outerShdw>
                </a:effectLst>
                <a:latin typeface="Times New Roman" pitchFamily="18" charset="0"/>
                <a:cs typeface="Times New Roman" pitchFamily="18" charset="0"/>
              </a:rPr>
              <a:t>developing Business   plan</a:t>
            </a:r>
            <a:endParaRPr lang="en-US" dirty="0"/>
          </a:p>
        </p:txBody>
      </p:sp>
      <p:sp>
        <p:nvSpPr>
          <p:cNvPr id="3" name="Content Placeholder 2">
            <a:extLst>
              <a:ext uri="{FF2B5EF4-FFF2-40B4-BE49-F238E27FC236}">
                <a16:creationId xmlns:a16="http://schemas.microsoft.com/office/drawing/2014/main" id="{1489D0D6-4E9D-40C6-BFCF-B683D7BCBD64}"/>
              </a:ext>
            </a:extLst>
          </p:cNvPr>
          <p:cNvSpPr>
            <a:spLocks noGrp="1"/>
          </p:cNvSpPr>
          <p:nvPr>
            <p:ph idx="1"/>
          </p:nvPr>
        </p:nvSpPr>
        <p:spPr>
          <a:xfrm>
            <a:off x="838200" y="861238"/>
            <a:ext cx="10515600" cy="5752213"/>
          </a:xfrm>
        </p:spPr>
        <p:txBody>
          <a:bodyPr>
            <a:normAutofit fontScale="92500" lnSpcReduction="10000"/>
          </a:bodyPr>
          <a:lstStyle/>
          <a:p>
            <a:pPr algn="just">
              <a:buFont typeface="Arial" charset="0"/>
              <a:buNone/>
              <a:defRPr/>
            </a:pPr>
            <a:r>
              <a:rPr lang="en-US" b="1" dirty="0">
                <a:effectLst>
                  <a:outerShdw blurRad="50800" dist="38100" algn="tr" rotWithShape="0">
                    <a:prstClr val="black">
                      <a:alpha val="40000"/>
                    </a:prstClr>
                  </a:outerShdw>
                </a:effectLst>
                <a:latin typeface="Times New Roman" pitchFamily="18" charset="0"/>
                <a:cs typeface="Times New Roman" pitchFamily="18" charset="0"/>
              </a:rPr>
              <a:t>WHAT IS A BUSINESS PLAN?</a:t>
            </a:r>
            <a:endParaRPr lang="en-US" b="1" dirty="0">
              <a:latin typeface="Times New Roman" pitchFamily="18" charset="0"/>
              <a:cs typeface="Times New Roman" pitchFamily="18" charset="0"/>
            </a:endParaRPr>
          </a:p>
          <a:p>
            <a:pPr algn="just">
              <a:buFont typeface="Arial" charset="0"/>
              <a:buNone/>
              <a:defRPr/>
            </a:pPr>
            <a:r>
              <a:rPr lang="en-US" sz="2400" dirty="0">
                <a:effectLst>
                  <a:outerShdw blurRad="50800" dist="38100" algn="tr" rotWithShape="0">
                    <a:prstClr val="black">
                      <a:alpha val="40000"/>
                    </a:prstClr>
                  </a:outerShdw>
                </a:effectLst>
                <a:latin typeface="Times New Roman" pitchFamily="18" charset="0"/>
                <a:cs typeface="Times New Roman" pitchFamily="18" charset="0"/>
              </a:rPr>
              <a:t>A business plan is a written document that sets out the basic idea underlying a business and related start-up considerations. </a:t>
            </a:r>
            <a:endParaRPr lang="en-US" sz="2400" dirty="0">
              <a:latin typeface="Times New Roman" pitchFamily="18" charset="0"/>
              <a:cs typeface="Times New Roman" pitchFamily="18" charset="0"/>
            </a:endParaRPr>
          </a:p>
          <a:p>
            <a:pPr algn="just">
              <a:buFont typeface="Arial" charset="0"/>
              <a:buNone/>
              <a:defRPr/>
            </a:pPr>
            <a:r>
              <a:rPr lang="en-US" sz="2400" dirty="0">
                <a:effectLst>
                  <a:outerShdw blurRad="50800" dist="38100" algn="tr" rotWithShape="0">
                    <a:prstClr val="black">
                      <a:alpha val="40000"/>
                    </a:prstClr>
                  </a:outerShdw>
                </a:effectLst>
                <a:latin typeface="Times New Roman" pitchFamily="18" charset="0"/>
                <a:cs typeface="Times New Roman" pitchFamily="18" charset="0"/>
              </a:rPr>
              <a:t>It is a written document that the entrepreneur prepares before going to the implementation stage</a:t>
            </a:r>
            <a:r>
              <a:rPr lang="en-US" dirty="0">
                <a:effectLst>
                  <a:outerShdw blurRad="50800" dist="38100" algn="tr" rotWithShape="0">
                    <a:prstClr val="black">
                      <a:alpha val="40000"/>
                    </a:prstClr>
                  </a:outerShdw>
                </a:effectLst>
                <a:latin typeface="Times New Roman" pitchFamily="18" charset="0"/>
                <a:cs typeface="Times New Roman" pitchFamily="18" charset="0"/>
              </a:rPr>
              <a:t>.</a:t>
            </a:r>
          </a:p>
          <a:p>
            <a:pPr algn="just">
              <a:buFont typeface="Arial" charset="0"/>
              <a:buNone/>
              <a:defRPr/>
            </a:pPr>
            <a:r>
              <a:rPr lang="en-US" sz="2400" b="1" dirty="0">
                <a:effectLst>
                  <a:outerShdw blurRad="50800" dist="38100" algn="tr" rotWithShape="0">
                    <a:prstClr val="black">
                      <a:alpha val="40000"/>
                    </a:prstClr>
                  </a:outerShdw>
                </a:effectLst>
                <a:latin typeface="Times New Roman" pitchFamily="18" charset="0"/>
                <a:cs typeface="Times New Roman" pitchFamily="18" charset="0"/>
              </a:rPr>
              <a:t>Purpose of business plan</a:t>
            </a:r>
            <a:endParaRPr lang="en-US" sz="2400" dirty="0">
              <a:latin typeface="Times New Roman" pitchFamily="18" charset="0"/>
              <a:cs typeface="Times New Roman" pitchFamily="18" charset="0"/>
            </a:endParaRPr>
          </a:p>
          <a:p>
            <a:pPr lvl="1" algn="just">
              <a:buFont typeface="Wingdings" pitchFamily="2" charset="2"/>
              <a:buChar char="v"/>
              <a:defRPr/>
            </a:pPr>
            <a:r>
              <a:rPr lang="en-US" sz="2600" dirty="0">
                <a:effectLst>
                  <a:outerShdw blurRad="50800" dist="38100" algn="tr" rotWithShape="0">
                    <a:prstClr val="black">
                      <a:alpha val="40000"/>
                    </a:prstClr>
                  </a:outerShdw>
                </a:effectLst>
                <a:latin typeface="Times New Roman" pitchFamily="18" charset="0"/>
                <a:cs typeface="Times New Roman" pitchFamily="18" charset="0"/>
              </a:rPr>
              <a:t>Helps to crystallize the dreams and hopes that motivates the entrepreneur to start the business.</a:t>
            </a:r>
            <a:endParaRPr lang="en-US" sz="2600" dirty="0">
              <a:latin typeface="Times New Roman" pitchFamily="18" charset="0"/>
              <a:cs typeface="Times New Roman" pitchFamily="18" charset="0"/>
            </a:endParaRPr>
          </a:p>
          <a:p>
            <a:pPr lvl="1" algn="just">
              <a:buFont typeface="Wingdings" pitchFamily="2" charset="2"/>
              <a:buChar char="v"/>
              <a:defRPr/>
            </a:pPr>
            <a:r>
              <a:rPr lang="en-US" sz="2600" dirty="0">
                <a:effectLst>
                  <a:outerShdw blurRad="50800" dist="38100" algn="tr" rotWithShape="0">
                    <a:prstClr val="black">
                      <a:alpha val="40000"/>
                    </a:prstClr>
                  </a:outerShdw>
                </a:effectLst>
                <a:latin typeface="Times New Roman" pitchFamily="18" charset="0"/>
                <a:cs typeface="Times New Roman" pitchFamily="18" charset="0"/>
              </a:rPr>
              <a:t>Helps to avoid a random jump in to a business</a:t>
            </a:r>
            <a:endParaRPr lang="en-US" sz="2600" dirty="0">
              <a:latin typeface="Times New Roman" pitchFamily="18" charset="0"/>
              <a:cs typeface="Times New Roman" pitchFamily="18" charset="0"/>
            </a:endParaRPr>
          </a:p>
          <a:p>
            <a:pPr lvl="1" algn="just">
              <a:buFont typeface="Wingdings" pitchFamily="2" charset="2"/>
              <a:buChar char="v"/>
              <a:defRPr/>
            </a:pPr>
            <a:r>
              <a:rPr lang="en-US" sz="2600" dirty="0">
                <a:effectLst>
                  <a:outerShdw blurRad="50800" dist="38100" algn="tr" rotWithShape="0">
                    <a:prstClr val="black">
                      <a:alpha val="40000"/>
                    </a:prstClr>
                  </a:outerShdw>
                </a:effectLst>
                <a:latin typeface="Times New Roman" pitchFamily="18" charset="0"/>
                <a:cs typeface="Times New Roman" pitchFamily="18" charset="0"/>
              </a:rPr>
              <a:t>Helps to quantify rough ideas on a paper</a:t>
            </a:r>
            <a:endParaRPr lang="en-US" sz="2600" dirty="0">
              <a:latin typeface="Times New Roman" pitchFamily="18" charset="0"/>
              <a:cs typeface="Times New Roman" pitchFamily="18" charset="0"/>
            </a:endParaRPr>
          </a:p>
          <a:p>
            <a:pPr lvl="1" algn="just">
              <a:buFont typeface="Wingdings" pitchFamily="2" charset="2"/>
              <a:buChar char="v"/>
              <a:defRPr/>
            </a:pPr>
            <a:r>
              <a:rPr lang="en-US" sz="2600" dirty="0">
                <a:effectLst>
                  <a:outerShdw blurRad="50800" dist="38100" algn="tr" rotWithShape="0">
                    <a:prstClr val="black">
                      <a:alpha val="40000"/>
                    </a:prstClr>
                  </a:outerShdw>
                </a:effectLst>
                <a:latin typeface="Times New Roman" pitchFamily="18" charset="0"/>
                <a:cs typeface="Times New Roman" pitchFamily="18" charset="0"/>
              </a:rPr>
              <a:t>Helps to set objectives and gives a yardstick against which to monitor performance</a:t>
            </a:r>
            <a:endParaRPr lang="en-US" sz="2600" dirty="0">
              <a:latin typeface="Times New Roman" pitchFamily="18" charset="0"/>
              <a:cs typeface="Times New Roman" pitchFamily="18" charset="0"/>
            </a:endParaRPr>
          </a:p>
          <a:p>
            <a:pPr lvl="1" algn="just">
              <a:buFont typeface="Wingdings" pitchFamily="2" charset="2"/>
              <a:buChar char="v"/>
              <a:defRPr/>
            </a:pPr>
            <a:r>
              <a:rPr lang="en-US" sz="2600" dirty="0">
                <a:effectLst>
                  <a:outerShdw blurRad="50800" dist="38100" algn="tr" rotWithShape="0">
                    <a:prstClr val="black">
                      <a:alpha val="40000"/>
                    </a:prstClr>
                  </a:outerShdw>
                </a:effectLst>
                <a:latin typeface="Times New Roman" pitchFamily="18" charset="0"/>
                <a:cs typeface="Times New Roman" pitchFamily="18" charset="0"/>
              </a:rPr>
              <a:t>Helps to attract external fund</a:t>
            </a:r>
            <a:endParaRPr lang="en-US" sz="2600" dirty="0">
              <a:latin typeface="Times New Roman" pitchFamily="18" charset="0"/>
              <a:cs typeface="Times New Roman" pitchFamily="18" charset="0"/>
            </a:endParaRPr>
          </a:p>
          <a:p>
            <a:pPr lvl="1" algn="just">
              <a:buFont typeface="Wingdings" pitchFamily="2" charset="2"/>
              <a:buChar char="v"/>
              <a:defRPr/>
            </a:pPr>
            <a:r>
              <a:rPr lang="en-US" sz="2600" dirty="0">
                <a:effectLst>
                  <a:outerShdw blurRad="50800" dist="38100" algn="tr" rotWithShape="0">
                    <a:prstClr val="black">
                      <a:alpha val="40000"/>
                    </a:prstClr>
                  </a:outerShdw>
                </a:effectLst>
                <a:latin typeface="Times New Roman" pitchFamily="18" charset="0"/>
                <a:cs typeface="Times New Roman" pitchFamily="18" charset="0"/>
              </a:rPr>
              <a:t>Helps to take a long term view of your business and its environment</a:t>
            </a:r>
            <a:endParaRPr lang="en-US" sz="2600" dirty="0">
              <a:latin typeface="Times New Roman" pitchFamily="18" charset="0"/>
              <a:cs typeface="Times New Roman" pitchFamily="18" charset="0"/>
            </a:endParaRPr>
          </a:p>
          <a:p>
            <a:pPr lvl="1" algn="just">
              <a:buFont typeface="Wingdings" pitchFamily="2" charset="2"/>
              <a:buChar char="v"/>
              <a:defRPr/>
            </a:pPr>
            <a:r>
              <a:rPr lang="en-US" sz="2600" dirty="0">
                <a:effectLst>
                  <a:outerShdw blurRad="50800" dist="38100" algn="tr" rotWithShape="0">
                    <a:prstClr val="black">
                      <a:alpha val="40000"/>
                    </a:prstClr>
                  </a:outerShdw>
                </a:effectLst>
                <a:latin typeface="Times New Roman" pitchFamily="18" charset="0"/>
                <a:cs typeface="Times New Roman" pitchFamily="18" charset="0"/>
              </a:rPr>
              <a:t>Helps to identify the SWOT of a business venture</a:t>
            </a:r>
            <a:endParaRPr lang="en-US" sz="2600" dirty="0">
              <a:latin typeface="Times New Roman" pitchFamily="18" charset="0"/>
              <a:cs typeface="Times New Roman" pitchFamily="18" charset="0"/>
            </a:endParaRPr>
          </a:p>
          <a:p>
            <a:pPr algn="just">
              <a:buFont typeface="Arial" charset="0"/>
              <a:buNone/>
              <a:defRPr/>
            </a:pPr>
            <a:endParaRPr lang="en-US" dirty="0">
              <a:latin typeface="Times New Roman" pitchFamily="18" charset="0"/>
              <a:cs typeface="Times New Roman" pitchFamily="18" charset="0"/>
            </a:endParaRPr>
          </a:p>
          <a:p>
            <a:endParaRPr lang="en-US" dirty="0"/>
          </a:p>
        </p:txBody>
      </p:sp>
    </p:spTree>
    <p:extLst>
      <p:ext uri="{BB962C8B-B14F-4D97-AF65-F5344CB8AC3E}">
        <p14:creationId xmlns:p14="http://schemas.microsoft.com/office/powerpoint/2010/main" val="21361708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Content Placeholder 2">
            <a:extLst>
              <a:ext uri="{FF2B5EF4-FFF2-40B4-BE49-F238E27FC236}">
                <a16:creationId xmlns:a16="http://schemas.microsoft.com/office/drawing/2014/main" id="{869DDA01-2CA7-41D3-B4E6-0AC5CB69E1CF}"/>
              </a:ext>
            </a:extLst>
          </p:cNvPr>
          <p:cNvSpPr>
            <a:spLocks noGrp="1"/>
          </p:cNvSpPr>
          <p:nvPr>
            <p:ph idx="1"/>
          </p:nvPr>
        </p:nvSpPr>
        <p:spPr>
          <a:xfrm>
            <a:off x="1752600" y="304800"/>
            <a:ext cx="8686800" cy="6248400"/>
          </a:xfrm>
        </p:spPr>
        <p:txBody>
          <a:bodyPr/>
          <a:lstStyle/>
          <a:p>
            <a:pPr algn="just">
              <a:buFont typeface="Arial" charset="0"/>
              <a:buNone/>
              <a:defRPr/>
            </a:pPr>
            <a:r>
              <a:rPr lang="en-US" sz="2400" b="1" dirty="0">
                <a:solidFill>
                  <a:srgbClr val="0000FF"/>
                </a:solidFill>
                <a:effectLst>
                  <a:outerShdw blurRad="50800" dist="38100" algn="tr" rotWithShape="0">
                    <a:prstClr val="black">
                      <a:alpha val="40000"/>
                    </a:prstClr>
                  </a:outerShdw>
                </a:effectLst>
                <a:latin typeface="Times New Roman" pitchFamily="18" charset="0"/>
                <a:cs typeface="Times New Roman" pitchFamily="18" charset="0"/>
              </a:rPr>
              <a:t>Value and scope of the business plan </a:t>
            </a:r>
            <a:endParaRPr lang="en-US" sz="2400" dirty="0">
              <a:solidFill>
                <a:srgbClr val="0000FF"/>
              </a:solidFill>
              <a:latin typeface="Times New Roman" pitchFamily="18" charset="0"/>
              <a:cs typeface="Times New Roman" pitchFamily="18" charset="0"/>
            </a:endParaRPr>
          </a:p>
          <a:p>
            <a:pPr algn="just">
              <a:spcBef>
                <a:spcPts val="1200"/>
              </a:spcBef>
              <a:buNone/>
              <a:defRPr/>
            </a:pPr>
            <a:r>
              <a:rPr lang="en-US" sz="2000" dirty="0">
                <a:effectLst>
                  <a:outerShdw blurRad="50800" dist="38100" algn="tr" rotWithShape="0">
                    <a:prstClr val="black">
                      <a:alpha val="40000"/>
                    </a:prstClr>
                  </a:outerShdw>
                </a:effectLst>
                <a:latin typeface="Times New Roman" pitchFamily="18" charset="0"/>
                <a:cs typeface="Times New Roman" pitchFamily="18" charset="0"/>
              </a:rPr>
              <a:t>The entrepreneur should determine and know how </a:t>
            </a:r>
            <a:r>
              <a:rPr lang="en-US" sz="2000" b="1" dirty="0">
                <a:effectLst>
                  <a:outerShdw blurRad="50800" dist="38100" algn="tr" rotWithShape="0">
                    <a:prstClr val="black">
                      <a:alpha val="40000"/>
                    </a:prstClr>
                  </a:outerShdw>
                </a:effectLst>
                <a:latin typeface="Times New Roman" pitchFamily="18" charset="0"/>
                <a:cs typeface="Times New Roman" pitchFamily="18" charset="0"/>
              </a:rPr>
              <a:t>valuable</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 and </a:t>
            </a:r>
            <a:r>
              <a:rPr lang="en-US" sz="2000" b="1" dirty="0">
                <a:effectLst>
                  <a:outerShdw blurRad="50800" dist="38100" algn="tr" rotWithShape="0">
                    <a:prstClr val="black">
                      <a:alpha val="40000"/>
                    </a:prstClr>
                  </a:outerShdw>
                </a:effectLst>
                <a:latin typeface="Times New Roman" pitchFamily="18" charset="0"/>
                <a:cs typeface="Times New Roman" pitchFamily="18" charset="0"/>
              </a:rPr>
              <a:t>detail</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 their business plan is. The depth and detail of the business plan depends on the size and scope of the proposed type of new venture. </a:t>
            </a:r>
            <a:endParaRPr lang="en-US" sz="2000" dirty="0">
              <a:latin typeface="Times New Roman" pitchFamily="18" charset="0"/>
              <a:cs typeface="Times New Roman" pitchFamily="18" charset="0"/>
            </a:endParaRPr>
          </a:p>
          <a:p>
            <a:pPr algn="just">
              <a:buFont typeface="Arial" charset="0"/>
              <a:buNone/>
              <a:defRPr/>
            </a:pPr>
            <a:r>
              <a:rPr lang="en-US" sz="2000" dirty="0">
                <a:effectLst>
                  <a:outerShdw blurRad="50800" dist="38100" algn="tr" rotWithShape="0">
                    <a:prstClr val="black">
                      <a:alpha val="40000"/>
                    </a:prstClr>
                  </a:outerShdw>
                </a:effectLst>
                <a:latin typeface="Times New Roman" pitchFamily="18" charset="0"/>
                <a:cs typeface="Times New Roman" pitchFamily="18" charset="0"/>
              </a:rPr>
              <a:t>Differences in the </a:t>
            </a:r>
            <a:r>
              <a:rPr lang="en-US" sz="2000" b="1" dirty="0">
                <a:effectLst>
                  <a:outerShdw blurRad="50800" dist="38100" algn="tr" rotWithShape="0">
                    <a:prstClr val="black">
                      <a:alpha val="40000"/>
                    </a:prstClr>
                  </a:outerShdw>
                </a:effectLst>
                <a:latin typeface="Times New Roman" pitchFamily="18" charset="0"/>
                <a:cs typeface="Times New Roman" pitchFamily="18" charset="0"/>
              </a:rPr>
              <a:t>scope</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 of the business plan may be dependent on whether the new venture is a </a:t>
            </a:r>
            <a:r>
              <a:rPr lang="en-US" sz="2000" b="1" dirty="0">
                <a:effectLst>
                  <a:outerShdw blurRad="50800" dist="38100" algn="tr" rotWithShape="0">
                    <a:prstClr val="black">
                      <a:alpha val="40000"/>
                    </a:prstClr>
                  </a:outerShdw>
                </a:effectLst>
                <a:latin typeface="Times New Roman" pitchFamily="18" charset="0"/>
                <a:cs typeface="Times New Roman" pitchFamily="18" charset="0"/>
              </a:rPr>
              <a:t>service</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 involves a </a:t>
            </a:r>
            <a:r>
              <a:rPr lang="en-US" sz="2000" b="1" dirty="0">
                <a:effectLst>
                  <a:outerShdw blurRad="50800" dist="38100" algn="tr" rotWithShape="0">
                    <a:prstClr val="black">
                      <a:alpha val="40000"/>
                    </a:prstClr>
                  </a:outerShdw>
                </a:effectLst>
                <a:latin typeface="Times New Roman" pitchFamily="18" charset="0"/>
                <a:cs typeface="Times New Roman" pitchFamily="18" charset="0"/>
              </a:rPr>
              <a:t>manufacturing</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 or is a </a:t>
            </a:r>
            <a:r>
              <a:rPr lang="en-US" sz="2000" b="1" dirty="0">
                <a:effectLst>
                  <a:outerShdw blurRad="50800" dist="38100" algn="tr" rotWithShape="0">
                    <a:prstClr val="black">
                      <a:alpha val="40000"/>
                    </a:prstClr>
                  </a:outerShdw>
                </a:effectLst>
                <a:latin typeface="Times New Roman" pitchFamily="18" charset="0"/>
                <a:cs typeface="Times New Roman" pitchFamily="18" charset="0"/>
              </a:rPr>
              <a:t>consumer</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 good or </a:t>
            </a:r>
            <a:r>
              <a:rPr lang="en-US" sz="2000" b="1" dirty="0">
                <a:effectLst>
                  <a:outerShdw blurRad="50800" dist="38100" algn="tr" rotWithShape="0">
                    <a:prstClr val="black">
                      <a:alpha val="40000"/>
                    </a:prstClr>
                  </a:outerShdw>
                </a:effectLst>
                <a:latin typeface="Times New Roman" pitchFamily="18" charset="0"/>
                <a:cs typeface="Times New Roman" pitchFamily="18" charset="0"/>
              </a:rPr>
              <a:t>industrial</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 product.</a:t>
            </a:r>
            <a:endParaRPr lang="en-US" sz="2000" dirty="0">
              <a:latin typeface="Times New Roman" pitchFamily="18" charset="0"/>
              <a:cs typeface="Times New Roman" pitchFamily="18" charset="0"/>
            </a:endParaRPr>
          </a:p>
          <a:p>
            <a:pPr algn="just">
              <a:buFont typeface="Arial" charset="0"/>
              <a:buNone/>
              <a:defRPr/>
            </a:pPr>
            <a:r>
              <a:rPr lang="en-US" sz="2000" dirty="0">
                <a:solidFill>
                  <a:srgbClr val="CC0066"/>
                </a:solidFill>
                <a:effectLst>
                  <a:outerShdw blurRad="50800" dist="38100" algn="tr" rotWithShape="0">
                    <a:prstClr val="black">
                      <a:alpha val="40000"/>
                    </a:prstClr>
                  </a:outerShdw>
                </a:effectLst>
                <a:latin typeface="Times New Roman" pitchFamily="18" charset="0"/>
                <a:cs typeface="Times New Roman" pitchFamily="18" charset="0"/>
              </a:rPr>
              <a:t>The size of the market, competition, and potential growth may also affect the scope of a business plan. </a:t>
            </a:r>
            <a:endParaRPr lang="en-US" sz="2000" dirty="0">
              <a:solidFill>
                <a:srgbClr val="CC0066"/>
              </a:solidFill>
              <a:latin typeface="Times New Roman" pitchFamily="18" charset="0"/>
              <a:cs typeface="Times New Roman" pitchFamily="18" charset="0"/>
            </a:endParaRPr>
          </a:p>
          <a:p>
            <a:pPr algn="just">
              <a:buFont typeface="Arial" charset="0"/>
              <a:buNone/>
              <a:defRPr/>
            </a:pPr>
            <a:r>
              <a:rPr lang="en-US" sz="2000" dirty="0">
                <a:effectLst>
                  <a:outerShdw blurRad="50800" dist="38100" algn="tr" rotWithShape="0">
                    <a:prstClr val="black">
                      <a:alpha val="40000"/>
                    </a:prstClr>
                  </a:outerShdw>
                </a:effectLst>
                <a:latin typeface="Times New Roman" pitchFamily="18" charset="0"/>
                <a:cs typeface="Times New Roman" pitchFamily="18" charset="0"/>
              </a:rPr>
              <a:t>Generally, </a:t>
            </a:r>
            <a:r>
              <a:rPr lang="en-US" sz="2000" dirty="0">
                <a:solidFill>
                  <a:srgbClr val="066A0B"/>
                </a:solidFill>
                <a:effectLst>
                  <a:outerShdw blurRad="50800" dist="38100" algn="tr" rotWithShape="0">
                    <a:prstClr val="black">
                      <a:alpha val="40000"/>
                    </a:prstClr>
                  </a:outerShdw>
                </a:effectLst>
                <a:latin typeface="Times New Roman" pitchFamily="18" charset="0"/>
                <a:cs typeface="Times New Roman" pitchFamily="18" charset="0"/>
              </a:rPr>
              <a:t>large and rapid growth firms need to have elaborative and comprehensive business plan</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 than the small and slow growth ones though success for business of all sizes is improbable without business plan. </a:t>
            </a:r>
            <a:endParaRPr lang="en-US" sz="2000" dirty="0">
              <a:latin typeface="Times New Roman" pitchFamily="18" charset="0"/>
              <a:cs typeface="Times New Roman" pitchFamily="18" charset="0"/>
            </a:endParaRPr>
          </a:p>
          <a:p>
            <a:pPr algn="just">
              <a:buFont typeface="Arial" charset="0"/>
              <a:buNone/>
              <a:defRPr/>
            </a:pPr>
            <a:r>
              <a:rPr lang="en-US" sz="2000" dirty="0">
                <a:effectLst>
                  <a:outerShdw blurRad="50800" dist="38100" algn="tr" rotWithShape="0">
                    <a:prstClr val="black">
                      <a:alpha val="40000"/>
                    </a:prstClr>
                  </a:outerShdw>
                </a:effectLst>
                <a:latin typeface="Times New Roman" pitchFamily="18" charset="0"/>
                <a:cs typeface="Times New Roman" pitchFamily="18" charset="0"/>
              </a:rPr>
              <a:t>Business plan is more valuable to the </a:t>
            </a:r>
            <a:r>
              <a:rPr lang="en-US" sz="2000" b="1" dirty="0">
                <a:effectLst>
                  <a:outerShdw blurRad="50800" dist="38100" algn="tr" rotWithShape="0">
                    <a:prstClr val="black">
                      <a:alpha val="40000"/>
                    </a:prstClr>
                  </a:outerShdw>
                </a:effectLst>
                <a:latin typeface="Times New Roman" pitchFamily="18" charset="0"/>
                <a:cs typeface="Times New Roman" pitchFamily="18" charset="0"/>
              </a:rPr>
              <a:t>entrepreneur</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 </a:t>
            </a:r>
            <a:r>
              <a:rPr lang="en-US" sz="2000" b="1" dirty="0">
                <a:effectLst>
                  <a:outerShdw blurRad="50800" dist="38100" algn="tr" rotWithShape="0">
                    <a:prstClr val="black">
                      <a:alpha val="40000"/>
                    </a:prstClr>
                  </a:outerShdw>
                </a:effectLst>
                <a:latin typeface="Times New Roman" pitchFamily="18" charset="0"/>
                <a:cs typeface="Times New Roman" pitchFamily="18" charset="0"/>
              </a:rPr>
              <a:t>potential investors</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 or even for the review of new personnel. The business plan is important to these people because: </a:t>
            </a:r>
            <a:endParaRPr lang="en-US" sz="2000" dirty="0">
              <a:latin typeface="Times New Roman" pitchFamily="18" charset="0"/>
              <a:cs typeface="Times New Roman" pitchFamily="18" charset="0"/>
            </a:endParaRPr>
          </a:p>
          <a:p>
            <a:pPr lvl="1" algn="just">
              <a:buFont typeface="Wingdings" pitchFamily="2" charset="2"/>
              <a:buChar char="ü"/>
              <a:defRPr/>
            </a:pPr>
            <a:r>
              <a:rPr lang="en-US" sz="2000" dirty="0">
                <a:effectLst>
                  <a:outerShdw blurRad="50800" dist="38100" algn="tr" rotWithShape="0">
                    <a:prstClr val="black">
                      <a:alpha val="40000"/>
                    </a:prstClr>
                  </a:outerShdw>
                </a:effectLst>
                <a:latin typeface="Times New Roman" pitchFamily="18" charset="0"/>
                <a:cs typeface="Times New Roman" pitchFamily="18" charset="0"/>
              </a:rPr>
              <a:t>It helps to determine the </a:t>
            </a:r>
            <a:r>
              <a:rPr lang="en-US" sz="2000" b="1" dirty="0">
                <a:effectLst>
                  <a:outerShdw blurRad="50800" dist="38100" algn="tr" rotWithShape="0">
                    <a:prstClr val="black">
                      <a:alpha val="40000"/>
                    </a:prstClr>
                  </a:outerShdw>
                </a:effectLst>
                <a:latin typeface="Times New Roman" pitchFamily="18" charset="0"/>
                <a:cs typeface="Times New Roman" pitchFamily="18" charset="0"/>
              </a:rPr>
              <a:t>viability</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 of the venture in the designated market. </a:t>
            </a:r>
            <a:endParaRPr lang="en-US" sz="2000" dirty="0">
              <a:latin typeface="Times New Roman" pitchFamily="18" charset="0"/>
              <a:cs typeface="Times New Roman" pitchFamily="18" charset="0"/>
            </a:endParaRPr>
          </a:p>
          <a:p>
            <a:pPr lvl="1" algn="just">
              <a:buFont typeface="Wingdings" pitchFamily="2" charset="2"/>
              <a:buChar char="ü"/>
              <a:defRPr/>
            </a:pPr>
            <a:r>
              <a:rPr lang="en-US" sz="2000" dirty="0">
                <a:effectLst>
                  <a:outerShdw blurRad="50800" dist="38100" algn="tr" rotWithShape="0">
                    <a:prstClr val="black">
                      <a:alpha val="40000"/>
                    </a:prstClr>
                  </a:outerShdw>
                </a:effectLst>
                <a:latin typeface="Times New Roman" pitchFamily="18" charset="0"/>
                <a:cs typeface="Times New Roman" pitchFamily="18" charset="0"/>
              </a:rPr>
              <a:t>It provides </a:t>
            </a:r>
            <a:r>
              <a:rPr lang="en-US" sz="2000" b="1" dirty="0">
                <a:effectLst>
                  <a:outerShdw blurRad="50800" dist="38100" algn="tr" rotWithShape="0">
                    <a:prstClr val="black">
                      <a:alpha val="40000"/>
                    </a:prstClr>
                  </a:outerShdw>
                </a:effectLst>
                <a:latin typeface="Times New Roman" pitchFamily="18" charset="0"/>
                <a:cs typeface="Times New Roman" pitchFamily="18" charset="0"/>
              </a:rPr>
              <a:t>guidance</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 to the entrepreneur in organizing his/her planning activities. </a:t>
            </a:r>
            <a:endParaRPr lang="en-US" dirty="0">
              <a:latin typeface="Times New Roman" pitchFamily="18" charset="0"/>
              <a:cs typeface="Times New Roman" pitchFamily="18" charset="0"/>
            </a:endParaRPr>
          </a:p>
        </p:txBody>
      </p:sp>
    </p:spTree>
  </p:cSld>
  <p:clrMapOvr>
    <a:masterClrMapping/>
  </p:clrMapOvr>
  <p:transition>
    <p:strips dir="r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Content Placeholder 2">
            <a:extLst>
              <a:ext uri="{FF2B5EF4-FFF2-40B4-BE49-F238E27FC236}">
                <a16:creationId xmlns:a16="http://schemas.microsoft.com/office/drawing/2014/main" id="{BBCB7011-BE63-4367-BDF4-64E327D2B036}"/>
              </a:ext>
            </a:extLst>
          </p:cNvPr>
          <p:cNvSpPr>
            <a:spLocks noGrp="1"/>
          </p:cNvSpPr>
          <p:nvPr>
            <p:ph idx="1"/>
          </p:nvPr>
        </p:nvSpPr>
        <p:spPr>
          <a:xfrm>
            <a:off x="1752600" y="381000"/>
            <a:ext cx="8686800" cy="6324600"/>
          </a:xfrm>
        </p:spPr>
        <p:txBody>
          <a:bodyPr/>
          <a:lstStyle/>
          <a:p>
            <a:pPr algn="just">
              <a:buFont typeface="Arial" charset="0"/>
              <a:buNone/>
              <a:defRPr/>
            </a:pPr>
            <a:r>
              <a:rPr lang="en-US" sz="2100" dirty="0">
                <a:effectLst>
                  <a:outerShdw blurRad="50800" dist="38100" algn="tr" rotWithShape="0">
                    <a:prstClr val="black">
                      <a:alpha val="40000"/>
                    </a:prstClr>
                  </a:outerShdw>
                </a:effectLst>
                <a:latin typeface="Times New Roman" pitchFamily="18" charset="0"/>
                <a:cs typeface="Times New Roman" pitchFamily="18" charset="0"/>
              </a:rPr>
              <a:t>The planning process forces the entrepreneur to bring objectively to the idea and reject on such questions as: </a:t>
            </a:r>
            <a:endParaRPr lang="en-US" sz="2100" dirty="0">
              <a:latin typeface="Times New Roman" pitchFamily="18" charset="0"/>
              <a:cs typeface="Times New Roman" pitchFamily="18" charset="0"/>
            </a:endParaRPr>
          </a:p>
          <a:p>
            <a:pPr lvl="1" algn="just">
              <a:spcBef>
                <a:spcPts val="1800"/>
              </a:spcBef>
              <a:buFont typeface="Wingdings" pitchFamily="2" charset="2"/>
              <a:buChar char="Ø"/>
              <a:defRPr/>
            </a:pPr>
            <a:r>
              <a:rPr lang="en-US" sz="2100" dirty="0">
                <a:effectLst>
                  <a:outerShdw blurRad="50800" dist="38100" algn="tr" rotWithShape="0">
                    <a:prstClr val="black">
                      <a:alpha val="40000"/>
                    </a:prstClr>
                  </a:outerShdw>
                </a:effectLst>
                <a:latin typeface="Times New Roman" pitchFamily="18" charset="0"/>
                <a:cs typeface="Times New Roman" pitchFamily="18" charset="0"/>
              </a:rPr>
              <a:t>Does the idea make sense? </a:t>
            </a:r>
            <a:endParaRPr lang="en-US" sz="2100" dirty="0">
              <a:latin typeface="Times New Roman" pitchFamily="18" charset="0"/>
              <a:cs typeface="Times New Roman" pitchFamily="18" charset="0"/>
            </a:endParaRPr>
          </a:p>
          <a:p>
            <a:pPr lvl="1" algn="just">
              <a:buFont typeface="Wingdings" pitchFamily="2" charset="2"/>
              <a:buChar char="Ø"/>
              <a:defRPr/>
            </a:pPr>
            <a:r>
              <a:rPr lang="en-US" sz="2100" dirty="0">
                <a:effectLst>
                  <a:outerShdw blurRad="50800" dist="38100" algn="tr" rotWithShape="0">
                    <a:prstClr val="black">
                      <a:alpha val="40000"/>
                    </a:prstClr>
                  </a:outerShdw>
                </a:effectLst>
                <a:latin typeface="Times New Roman" pitchFamily="18" charset="0"/>
                <a:cs typeface="Times New Roman" pitchFamily="18" charset="0"/>
              </a:rPr>
              <a:t>Will it work? </a:t>
            </a:r>
            <a:endParaRPr lang="en-US" sz="2100" dirty="0">
              <a:latin typeface="Times New Roman" pitchFamily="18" charset="0"/>
              <a:cs typeface="Times New Roman" pitchFamily="18" charset="0"/>
            </a:endParaRPr>
          </a:p>
          <a:p>
            <a:pPr lvl="1" algn="just">
              <a:buFont typeface="Wingdings" pitchFamily="2" charset="2"/>
              <a:buChar char="Ø"/>
              <a:defRPr/>
            </a:pPr>
            <a:r>
              <a:rPr lang="en-US" sz="2100" dirty="0">
                <a:effectLst>
                  <a:outerShdw blurRad="50800" dist="38100" algn="tr" rotWithShape="0">
                    <a:prstClr val="black">
                      <a:alpha val="40000"/>
                    </a:prstClr>
                  </a:outerShdw>
                </a:effectLst>
                <a:latin typeface="Times New Roman" pitchFamily="18" charset="0"/>
                <a:cs typeface="Times New Roman" pitchFamily="18" charset="0"/>
              </a:rPr>
              <a:t>Who is my customer? </a:t>
            </a:r>
            <a:endParaRPr lang="en-US" sz="2100" dirty="0">
              <a:latin typeface="Times New Roman" pitchFamily="18" charset="0"/>
              <a:cs typeface="Times New Roman" pitchFamily="18" charset="0"/>
            </a:endParaRPr>
          </a:p>
          <a:p>
            <a:pPr lvl="1" algn="just">
              <a:buFont typeface="Wingdings" pitchFamily="2" charset="2"/>
              <a:buChar char="Ø"/>
              <a:defRPr/>
            </a:pPr>
            <a:r>
              <a:rPr lang="en-US" sz="2100" dirty="0">
                <a:effectLst>
                  <a:outerShdw blurRad="50800" dist="38100" algn="tr" rotWithShape="0">
                    <a:prstClr val="black">
                      <a:alpha val="40000"/>
                    </a:prstClr>
                  </a:outerShdw>
                </a:effectLst>
                <a:latin typeface="Times New Roman" pitchFamily="18" charset="0"/>
                <a:cs typeface="Times New Roman" pitchFamily="18" charset="0"/>
              </a:rPr>
              <a:t>Does it satisfy customer needs and wants? </a:t>
            </a:r>
            <a:endParaRPr lang="en-US" sz="2100" dirty="0">
              <a:latin typeface="Times New Roman" pitchFamily="18" charset="0"/>
              <a:cs typeface="Times New Roman" pitchFamily="18" charset="0"/>
            </a:endParaRPr>
          </a:p>
          <a:p>
            <a:pPr lvl="1" algn="just">
              <a:buFont typeface="Wingdings" pitchFamily="2" charset="2"/>
              <a:buChar char="Ø"/>
              <a:defRPr/>
            </a:pPr>
            <a:r>
              <a:rPr lang="en-US" sz="2100" dirty="0">
                <a:effectLst>
                  <a:outerShdw blurRad="50800" dist="38100" algn="tr" rotWithShape="0">
                    <a:prstClr val="black">
                      <a:alpha val="40000"/>
                    </a:prstClr>
                  </a:outerShdw>
                </a:effectLst>
                <a:latin typeface="Times New Roman" pitchFamily="18" charset="0"/>
                <a:cs typeface="Times New Roman" pitchFamily="18" charset="0"/>
              </a:rPr>
              <a:t>What kind of protection can I get against imitation by competitors? </a:t>
            </a:r>
            <a:endParaRPr lang="en-US" sz="2100" dirty="0">
              <a:latin typeface="Times New Roman" pitchFamily="18" charset="0"/>
              <a:cs typeface="Times New Roman" pitchFamily="18" charset="0"/>
            </a:endParaRPr>
          </a:p>
          <a:p>
            <a:pPr lvl="1" algn="just">
              <a:buFont typeface="Wingdings" pitchFamily="2" charset="2"/>
              <a:buChar char="Ø"/>
              <a:defRPr/>
            </a:pPr>
            <a:r>
              <a:rPr lang="en-US" sz="2100" dirty="0">
                <a:effectLst>
                  <a:outerShdw blurRad="50800" dist="38100" algn="tr" rotWithShape="0">
                    <a:prstClr val="black">
                      <a:alpha val="40000"/>
                    </a:prstClr>
                  </a:outerShdw>
                </a:effectLst>
                <a:latin typeface="Times New Roman" pitchFamily="18" charset="0"/>
                <a:cs typeface="Times New Roman" pitchFamily="18" charset="0"/>
              </a:rPr>
              <a:t>Can I manage such a business? </a:t>
            </a:r>
            <a:endParaRPr lang="en-US" sz="2100" dirty="0">
              <a:latin typeface="Times New Roman" pitchFamily="18" charset="0"/>
              <a:cs typeface="Times New Roman" pitchFamily="18" charset="0"/>
            </a:endParaRPr>
          </a:p>
          <a:p>
            <a:pPr lvl="1" algn="just">
              <a:buFont typeface="Wingdings" pitchFamily="2" charset="2"/>
              <a:buChar char="Ø"/>
              <a:defRPr/>
            </a:pPr>
            <a:r>
              <a:rPr lang="en-US" sz="2100" dirty="0">
                <a:effectLst>
                  <a:outerShdw blurRad="50800" dist="38100" algn="tr" rotWithShape="0">
                    <a:prstClr val="black">
                      <a:alpha val="40000"/>
                    </a:prstClr>
                  </a:outerShdw>
                </a:effectLst>
                <a:latin typeface="Times New Roman" pitchFamily="18" charset="0"/>
                <a:cs typeface="Times New Roman" pitchFamily="18" charset="0"/>
              </a:rPr>
              <a:t>Whom will I compete with? And so on. </a:t>
            </a:r>
            <a:endParaRPr lang="en-US" sz="2100" dirty="0">
              <a:latin typeface="Times New Roman" pitchFamily="18" charset="0"/>
              <a:cs typeface="Times New Roman" pitchFamily="18" charset="0"/>
            </a:endParaRPr>
          </a:p>
          <a:p>
            <a:pPr algn="just">
              <a:lnSpc>
                <a:spcPct val="150000"/>
              </a:lnSpc>
              <a:spcBef>
                <a:spcPts val="2400"/>
              </a:spcBef>
              <a:buNone/>
              <a:defRPr/>
            </a:pPr>
            <a:r>
              <a:rPr lang="en-US" sz="2400" b="1" dirty="0">
                <a:effectLst>
                  <a:outerShdw blurRad="50800" dist="38100" algn="tr" rotWithShape="0">
                    <a:prstClr val="black">
                      <a:alpha val="40000"/>
                    </a:prstClr>
                  </a:outerShdw>
                </a:effectLst>
                <a:latin typeface="Times New Roman" pitchFamily="18" charset="0"/>
                <a:cs typeface="Times New Roman" pitchFamily="18" charset="0"/>
              </a:rPr>
              <a:t>USERS OF A BUSINESS PLAN </a:t>
            </a:r>
            <a:endParaRPr lang="en-US" sz="2400" dirty="0">
              <a:latin typeface="Times New Roman" pitchFamily="18" charset="0"/>
              <a:cs typeface="Times New Roman" pitchFamily="18" charset="0"/>
            </a:endParaRPr>
          </a:p>
          <a:p>
            <a:pPr marL="914400" lvl="1" indent="-457200" algn="just">
              <a:spcBef>
                <a:spcPts val="1800"/>
              </a:spcBef>
              <a:buFont typeface="Wingdings" pitchFamily="2" charset="2"/>
              <a:buChar char="q"/>
              <a:defRPr/>
            </a:pPr>
            <a:r>
              <a:rPr lang="en-US" b="1" dirty="0">
                <a:solidFill>
                  <a:srgbClr val="CC0066"/>
                </a:solidFill>
                <a:effectLst>
                  <a:outerShdw blurRad="50800" dist="38100" algn="tr" rotWithShape="0">
                    <a:prstClr val="black">
                      <a:alpha val="40000"/>
                    </a:prstClr>
                  </a:outerShdw>
                </a:effectLst>
                <a:latin typeface="Times New Roman" pitchFamily="18" charset="0"/>
                <a:cs typeface="Times New Roman" pitchFamily="18" charset="0"/>
              </a:rPr>
              <a:t>Internal users</a:t>
            </a:r>
            <a:endParaRPr lang="en-US" dirty="0">
              <a:solidFill>
                <a:srgbClr val="CC0066"/>
              </a:solidFill>
              <a:latin typeface="Times New Roman" pitchFamily="18" charset="0"/>
              <a:cs typeface="Times New Roman" pitchFamily="18" charset="0"/>
            </a:endParaRPr>
          </a:p>
          <a:p>
            <a:pPr marL="914400" lvl="1" indent="-457200" algn="just">
              <a:buFont typeface="Wingdings" pitchFamily="2" charset="2"/>
              <a:buChar char="q"/>
              <a:defRPr/>
            </a:pPr>
            <a:r>
              <a:rPr lang="en-US" b="1" dirty="0">
                <a:solidFill>
                  <a:srgbClr val="066A0B"/>
                </a:solidFill>
                <a:effectLst>
                  <a:outerShdw blurRad="50800" dist="38100" algn="tr" rotWithShape="0">
                    <a:prstClr val="black">
                      <a:alpha val="40000"/>
                    </a:prstClr>
                  </a:outerShdw>
                </a:effectLst>
                <a:latin typeface="Times New Roman" pitchFamily="18" charset="0"/>
                <a:cs typeface="Times New Roman" pitchFamily="18" charset="0"/>
              </a:rPr>
              <a:t>External users </a:t>
            </a:r>
            <a:endParaRPr lang="en-US" dirty="0">
              <a:solidFill>
                <a:srgbClr val="066A0B"/>
              </a:solidFill>
              <a:latin typeface="Times New Roman" pitchFamily="18" charset="0"/>
              <a:cs typeface="Times New Roman" pitchFamily="18" charset="0"/>
            </a:endParaRPr>
          </a:p>
          <a:p>
            <a:pPr algn="just" eaLnBrk="1" hangingPunct="1">
              <a:buFont typeface="Arial" panose="020B0604020202020204" pitchFamily="34" charset="0"/>
              <a:buNone/>
              <a:defRPr/>
            </a:pPr>
            <a:endParaRPr lang="en-US" sz="2100" dirty="0">
              <a:latin typeface="Times New Roman" pitchFamily="18" charset="0"/>
              <a:cs typeface="Times New Roman" pitchFamily="18" charset="0"/>
            </a:endParaRPr>
          </a:p>
          <a:p>
            <a:pPr algn="just" eaLnBrk="1" hangingPunct="1">
              <a:defRPr/>
            </a:pPr>
            <a:endParaRPr lang="en-US" sz="2100" dirty="0">
              <a:latin typeface="Times New Roman" pitchFamily="18" charset="0"/>
              <a:cs typeface="Times New Roman" pitchFamily="18" charset="0"/>
            </a:endParaRPr>
          </a:p>
          <a:p>
            <a:pPr algn="just" eaLnBrk="1" hangingPunct="1">
              <a:buFont typeface="Arial" panose="020B0604020202020204" pitchFamily="34" charset="0"/>
              <a:buNone/>
              <a:defRPr/>
            </a:pPr>
            <a:endParaRPr lang="en-US" sz="2100" dirty="0">
              <a:latin typeface="Times New Roman" pitchFamily="18" charset="0"/>
              <a:cs typeface="Times New Roman" pitchFamily="18" charset="0"/>
            </a:endParaRPr>
          </a:p>
          <a:p>
            <a:pPr algn="just" eaLnBrk="1" hangingPunct="1">
              <a:buFont typeface="Arial" panose="020B0604020202020204" pitchFamily="34" charset="0"/>
              <a:buNone/>
              <a:defRPr/>
            </a:pPr>
            <a:endParaRPr lang="en-US" sz="2100" dirty="0">
              <a:latin typeface="Times New Roman" pitchFamily="18" charset="0"/>
              <a:cs typeface="Times New Roman" pitchFamily="18" charset="0"/>
            </a:endParaRPr>
          </a:p>
        </p:txBody>
      </p:sp>
    </p:spTree>
  </p:cSld>
  <p:clrMapOvr>
    <a:masterClrMapping/>
  </p:clrMapOvr>
  <p:transition>
    <p:strips dir="r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487E6825-EC85-4C89-8830-E3430A908C13}"/>
              </a:ext>
            </a:extLst>
          </p:cNvPr>
          <p:cNvGraphicFramePr>
            <a:graphicFrameLocks noGrp="1"/>
          </p:cNvGraphicFramePr>
          <p:nvPr>
            <p:ph idx="1"/>
          </p:nvPr>
        </p:nvGraphicFramePr>
        <p:xfrm>
          <a:off x="1981200" y="1143000"/>
          <a:ext cx="8305800" cy="5410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itle 1">
            <a:extLst>
              <a:ext uri="{FF2B5EF4-FFF2-40B4-BE49-F238E27FC236}">
                <a16:creationId xmlns:a16="http://schemas.microsoft.com/office/drawing/2014/main" id="{9D71CFE8-B468-4307-AFCA-5125FCC958B9}"/>
              </a:ext>
            </a:extLst>
          </p:cNvPr>
          <p:cNvSpPr>
            <a:spLocks noGrp="1"/>
          </p:cNvSpPr>
          <p:nvPr>
            <p:ph type="title"/>
          </p:nvPr>
        </p:nvSpPr>
        <p:spPr>
          <a:xfrm>
            <a:off x="3048000" y="350838"/>
            <a:ext cx="6248400" cy="487362"/>
          </a:xfrm>
        </p:spPr>
        <p:txBody>
          <a:bodyPr rtlCol="0">
            <a:noAutofit/>
          </a:bodyPr>
          <a:lstStyle/>
          <a:p>
            <a:pPr>
              <a:defRPr/>
            </a:pPr>
            <a:r>
              <a:rPr lang="en-US" sz="3200" b="1" dirty="0">
                <a:solidFill>
                  <a:srgbClr val="0000FF"/>
                </a:solidFill>
                <a:effectLst>
                  <a:outerShdw blurRad="50800" dist="38100" algn="tr" rotWithShape="0">
                    <a:prstClr val="black">
                      <a:alpha val="40000"/>
                    </a:prstClr>
                  </a:outerShdw>
                </a:effectLst>
                <a:latin typeface="Times New Roman" pitchFamily="18" charset="0"/>
                <a:cs typeface="Times New Roman" pitchFamily="18" charset="0"/>
              </a:rPr>
              <a:t>USERS OF A BUSINESS PLAN </a:t>
            </a:r>
            <a:endParaRPr lang="en-US" sz="3200" dirty="0">
              <a:solidFill>
                <a:srgbClr val="0000FF"/>
              </a:solidFill>
              <a:latin typeface="Times New Roman" pitchFamily="18" charset="0"/>
              <a:cs typeface="Times New Roman" pitchFamily="18" charset="0"/>
            </a:endParaRPr>
          </a:p>
        </p:txBody>
      </p:sp>
      <p:sp>
        <p:nvSpPr>
          <p:cNvPr id="6" name="Title 1">
            <a:extLst>
              <a:ext uri="{FF2B5EF4-FFF2-40B4-BE49-F238E27FC236}">
                <a16:creationId xmlns:a16="http://schemas.microsoft.com/office/drawing/2014/main" id="{ED3C24B7-A761-463F-8D90-8DDDCFDE702A}"/>
              </a:ext>
            </a:extLst>
          </p:cNvPr>
          <p:cNvSpPr txBox="1">
            <a:spLocks/>
          </p:cNvSpPr>
          <p:nvPr/>
        </p:nvSpPr>
        <p:spPr bwMode="auto">
          <a:xfrm>
            <a:off x="2209800" y="6218238"/>
            <a:ext cx="5105400" cy="487362"/>
          </a:xfrm>
          <a:prstGeom prst="rect">
            <a:avLst/>
          </a:prstGeom>
          <a:noFill/>
          <a:ln w="9525">
            <a:noFill/>
            <a:miter lim="800000"/>
            <a:headEnd/>
            <a:tailEnd/>
          </a:ln>
        </p:spPr>
        <p:txBody>
          <a:bodyPr anchor="ctr">
            <a:normAutofit fontScale="67500" lnSpcReduction="20000"/>
          </a:bodyPr>
          <a:lstStyle/>
          <a:p>
            <a:pPr algn="ctr">
              <a:defRPr/>
            </a:pPr>
            <a:r>
              <a:rPr lang="en-US" sz="2800" b="1" i="1" dirty="0">
                <a:solidFill>
                  <a:srgbClr val="044C07"/>
                </a:solidFill>
                <a:effectLst>
                  <a:outerShdw blurRad="38100" dist="38100" dir="2700000" algn="tl">
                    <a:srgbClr val="000000">
                      <a:alpha val="43137"/>
                    </a:srgbClr>
                  </a:outerShdw>
                </a:effectLst>
                <a:latin typeface="Times New Roman" pitchFamily="18" charset="0"/>
                <a:cs typeface="Times New Roman" pitchFamily="18" charset="0"/>
              </a:rPr>
              <a:t>Fig:  Showing stakeholders of a business plan </a:t>
            </a:r>
            <a:endParaRPr lang="en-US" sz="3200" i="1" dirty="0">
              <a:solidFill>
                <a:srgbClr val="044C07"/>
              </a:solidFill>
              <a:effectLst>
                <a:outerShdw blurRad="38100" dist="38100" dir="2700000" algn="tl">
                  <a:srgbClr val="000000">
                    <a:alpha val="43137"/>
                  </a:srgbClr>
                </a:outerShdw>
              </a:effectLst>
              <a:latin typeface="Times New Roman" pitchFamily="18" charset="0"/>
              <a:ea typeface="+mj-ea"/>
              <a:cs typeface="Times New Roman" pitchFamily="18" charset="0"/>
            </a:endParaRPr>
          </a:p>
        </p:txBody>
      </p:sp>
      <p:pic>
        <p:nvPicPr>
          <p:cNvPr id="7173" name="Ink 8">
            <a:extLst>
              <a:ext uri="{FF2B5EF4-FFF2-40B4-BE49-F238E27FC236}">
                <a16:creationId xmlns:a16="http://schemas.microsoft.com/office/drawing/2014/main" id="{C3557576-67ED-4D9F-B69E-EF3A0237C61C}"/>
              </a:ext>
            </a:extLst>
          </p:cNvPr>
          <p:cNvPicPr>
            <a:picLocks noRot="1" noChangeAspect="1" noEditPoints="1" noChangeArrowheads="1" noChangeShapeType="1"/>
          </p:cNvPicPr>
          <p:nvPr/>
        </p:nvPicPr>
        <p:blipFill>
          <a:blip r:embed="rId7">
            <a:extLst>
              <a:ext uri="{28A0092B-C50C-407E-A947-70E740481C1C}">
                <a14:useLocalDpi xmlns:a14="http://schemas.microsoft.com/office/drawing/2010/main" val="0"/>
              </a:ext>
            </a:extLst>
          </a:blip>
          <a:srcRect/>
          <a:stretch>
            <a:fillRect/>
          </a:stretch>
        </p:blipFill>
        <p:spPr bwMode="auto">
          <a:xfrm>
            <a:off x="7615239" y="2740026"/>
            <a:ext cx="585787" cy="20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4" name="Ink 9">
            <a:extLst>
              <a:ext uri="{FF2B5EF4-FFF2-40B4-BE49-F238E27FC236}">
                <a16:creationId xmlns:a16="http://schemas.microsoft.com/office/drawing/2014/main" id="{4E8F7AEB-68A5-41DA-B698-59CFD27E0BEB}"/>
              </a:ext>
            </a:extLst>
          </p:cNvPr>
          <p:cNvPicPr>
            <a:picLocks noRot="1" noChangeAspect="1" noEditPoints="1" noChangeArrowheads="1" noChangeShapeType="1"/>
          </p:cNvPicPr>
          <p:nvPr/>
        </p:nvPicPr>
        <p:blipFill>
          <a:blip r:embed="rId8">
            <a:extLst>
              <a:ext uri="{28A0092B-C50C-407E-A947-70E740481C1C}">
                <a14:useLocalDpi xmlns:a14="http://schemas.microsoft.com/office/drawing/2010/main" val="0"/>
              </a:ext>
            </a:extLst>
          </a:blip>
          <a:srcRect/>
          <a:stretch>
            <a:fillRect/>
          </a:stretch>
        </p:blipFill>
        <p:spPr bwMode="auto">
          <a:xfrm>
            <a:off x="7713663" y="2508250"/>
            <a:ext cx="42545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5" name="Ink 10">
            <a:extLst>
              <a:ext uri="{FF2B5EF4-FFF2-40B4-BE49-F238E27FC236}">
                <a16:creationId xmlns:a16="http://schemas.microsoft.com/office/drawing/2014/main" id="{9AC00F09-0851-4A4D-B4BA-537D5740752E}"/>
              </a:ext>
            </a:extLst>
          </p:cNvPr>
          <p:cNvPicPr>
            <a:picLocks noRot="1" noChangeAspect="1" noEditPoints="1" noChangeArrowheads="1" noChangeShapeType="1"/>
          </p:cNvPicPr>
          <p:nvPr/>
        </p:nvPicPr>
        <p:blipFill>
          <a:blip r:embed="rId9">
            <a:extLst>
              <a:ext uri="{28A0092B-C50C-407E-A947-70E740481C1C}">
                <a14:useLocalDpi xmlns:a14="http://schemas.microsoft.com/office/drawing/2010/main" val="0"/>
              </a:ext>
            </a:extLst>
          </a:blip>
          <a:srcRect/>
          <a:stretch>
            <a:fillRect/>
          </a:stretch>
        </p:blipFill>
        <p:spPr bwMode="auto">
          <a:xfrm>
            <a:off x="6838951" y="2473326"/>
            <a:ext cx="16033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trips dir="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2FC8FB7-EC6D-42D5-989D-41C4012EA506}"/>
              </a:ext>
            </a:extLst>
          </p:cNvPr>
          <p:cNvSpPr txBox="1">
            <a:spLocks/>
          </p:cNvSpPr>
          <p:nvPr/>
        </p:nvSpPr>
        <p:spPr>
          <a:xfrm>
            <a:off x="1752600" y="304800"/>
            <a:ext cx="8610600" cy="6324600"/>
          </a:xfrm>
          <a:prstGeom prst="rect">
            <a:avLst/>
          </a:prstGeom>
        </p:spPr>
        <p:txBody>
          <a:bodyPr>
            <a:normAutofit fontScale="85000" lnSpcReduction="20000"/>
          </a:bodyPr>
          <a:lstStyle/>
          <a:p>
            <a:pPr algn="just" eaLnBrk="1" hangingPunct="1">
              <a:defRPr/>
            </a:pPr>
            <a:r>
              <a:rPr lang="en-US" sz="2800" b="1" dirty="0">
                <a:solidFill>
                  <a:srgbClr val="066A0B"/>
                </a:solidFill>
                <a:effectLst>
                  <a:outerShdw blurRad="50800" dist="38100" algn="tr" rotWithShape="0">
                    <a:prstClr val="black">
                      <a:alpha val="40000"/>
                    </a:prstClr>
                  </a:outerShdw>
                </a:effectLst>
                <a:latin typeface="Times New Roman" pitchFamily="18" charset="0"/>
                <a:cs typeface="Times New Roman" pitchFamily="18" charset="0"/>
              </a:rPr>
              <a:t>INFORMATION NEEDS OF AN ENTREPRENEUR </a:t>
            </a:r>
            <a:endParaRPr lang="en-US" sz="2800" dirty="0">
              <a:solidFill>
                <a:srgbClr val="066A0B"/>
              </a:solidFill>
              <a:latin typeface="Times New Roman" pitchFamily="18" charset="0"/>
              <a:cs typeface="Times New Roman" pitchFamily="18" charset="0"/>
            </a:endParaRPr>
          </a:p>
          <a:p>
            <a:pPr algn="just">
              <a:spcBef>
                <a:spcPts val="1800"/>
              </a:spcBef>
              <a:defRPr/>
            </a:pPr>
            <a:r>
              <a:rPr lang="en-US" sz="2400" b="1" dirty="0">
                <a:solidFill>
                  <a:srgbClr val="0000FF"/>
                </a:solidFill>
                <a:effectLst>
                  <a:outerShdw blurRad="50800" dist="38100" algn="tr" rotWithShape="0">
                    <a:prstClr val="black">
                      <a:alpha val="40000"/>
                    </a:prstClr>
                  </a:outerShdw>
                </a:effectLst>
                <a:latin typeface="Times New Roman" pitchFamily="18" charset="0"/>
                <a:cs typeface="Times New Roman" pitchFamily="18" charset="0"/>
              </a:rPr>
              <a:t> 1. Market Information Needs</a:t>
            </a:r>
            <a:endParaRPr lang="en-US" sz="2400" dirty="0">
              <a:solidFill>
                <a:srgbClr val="0000FF"/>
              </a:solidFill>
              <a:latin typeface="Times New Roman" pitchFamily="18" charset="0"/>
              <a:cs typeface="Times New Roman" pitchFamily="18" charset="0"/>
            </a:endParaRPr>
          </a:p>
          <a:p>
            <a:pPr algn="just">
              <a:spcBef>
                <a:spcPts val="600"/>
              </a:spcBef>
              <a:defRPr/>
            </a:pPr>
            <a:r>
              <a:rPr lang="en-US" sz="2400" dirty="0">
                <a:effectLst>
                  <a:outerShdw blurRad="50800" dist="38100" algn="tr" rotWithShape="0">
                    <a:prstClr val="black">
                      <a:alpha val="40000"/>
                    </a:prstClr>
                  </a:outerShdw>
                </a:effectLst>
                <a:latin typeface="Times New Roman" pitchFamily="18" charset="0"/>
                <a:cs typeface="Times New Roman" pitchFamily="18" charset="0"/>
              </a:rPr>
              <a:t>It should also include information on </a:t>
            </a:r>
            <a:r>
              <a:rPr lang="en-US" sz="2400" b="1" dirty="0">
                <a:effectLst>
                  <a:outerShdw blurRad="50800" dist="38100" algn="tr" rotWithShape="0">
                    <a:prstClr val="black">
                      <a:alpha val="40000"/>
                    </a:prstClr>
                  </a:outerShdw>
                </a:effectLst>
                <a:latin typeface="Times New Roman" pitchFamily="18" charset="0"/>
                <a:cs typeface="Times New Roman" pitchFamily="18" charset="0"/>
              </a:rPr>
              <a:t>competition</a:t>
            </a:r>
            <a:r>
              <a:rPr lang="en-US" sz="2400" dirty="0">
                <a:effectLst>
                  <a:outerShdw blurRad="50800" dist="38100" algn="tr" rotWithShape="0">
                    <a:prstClr val="black">
                      <a:alpha val="40000"/>
                    </a:prstClr>
                  </a:outerShdw>
                </a:effectLst>
                <a:latin typeface="Times New Roman" pitchFamily="18" charset="0"/>
                <a:cs typeface="Times New Roman" pitchFamily="18" charset="0"/>
              </a:rPr>
              <a:t>, </a:t>
            </a:r>
            <a:r>
              <a:rPr lang="en-US" sz="2400" b="1" dirty="0">
                <a:effectLst>
                  <a:outerShdw blurRad="50800" dist="38100" algn="tr" rotWithShape="0">
                    <a:prstClr val="black">
                      <a:alpha val="40000"/>
                    </a:prstClr>
                  </a:outerShdw>
                </a:effectLst>
                <a:latin typeface="Times New Roman" pitchFamily="18" charset="0"/>
                <a:cs typeface="Times New Roman" pitchFamily="18" charset="0"/>
              </a:rPr>
              <a:t>margins</a:t>
            </a:r>
            <a:r>
              <a:rPr lang="en-US" sz="2400" dirty="0">
                <a:effectLst>
                  <a:outerShdw blurRad="50800" dist="38100" algn="tr" rotWithShape="0">
                    <a:prstClr val="black">
                      <a:alpha val="40000"/>
                    </a:prstClr>
                  </a:outerShdw>
                </a:effectLst>
                <a:latin typeface="Times New Roman" pitchFamily="18" charset="0"/>
                <a:cs typeface="Times New Roman" pitchFamily="18" charset="0"/>
              </a:rPr>
              <a:t> for distribution, market </a:t>
            </a:r>
            <a:r>
              <a:rPr lang="en-US" sz="2400" b="1" dirty="0">
                <a:effectLst>
                  <a:outerShdw blurRad="50800" dist="38100" algn="tr" rotWithShape="0">
                    <a:prstClr val="black">
                      <a:alpha val="40000"/>
                    </a:prstClr>
                  </a:outerShdw>
                </a:effectLst>
                <a:latin typeface="Times New Roman" pitchFamily="18" charset="0"/>
                <a:cs typeface="Times New Roman" pitchFamily="18" charset="0"/>
              </a:rPr>
              <a:t>trends</a:t>
            </a:r>
            <a:r>
              <a:rPr lang="en-US" sz="2400" dirty="0">
                <a:effectLst>
                  <a:outerShdw blurRad="50800" dist="38100" algn="tr" rotWithShape="0">
                    <a:prstClr val="black">
                      <a:alpha val="40000"/>
                    </a:prstClr>
                  </a:outerShdw>
                </a:effectLst>
                <a:latin typeface="Times New Roman" pitchFamily="18" charset="0"/>
                <a:cs typeface="Times New Roman" pitchFamily="18" charset="0"/>
              </a:rPr>
              <a:t> and </a:t>
            </a:r>
            <a:r>
              <a:rPr lang="en-US" sz="2400" b="1" dirty="0">
                <a:effectLst>
                  <a:outerShdw blurRad="50800" dist="38100" algn="tr" rotWithShape="0">
                    <a:prstClr val="black">
                      <a:alpha val="40000"/>
                    </a:prstClr>
                  </a:outerShdw>
                </a:effectLst>
                <a:latin typeface="Times New Roman" pitchFamily="18" charset="0"/>
                <a:cs typeface="Times New Roman" pitchFamily="18" charset="0"/>
              </a:rPr>
              <a:t>growth</a:t>
            </a:r>
            <a:r>
              <a:rPr lang="en-US" sz="2400" dirty="0">
                <a:effectLst>
                  <a:outerShdw blurRad="50800" dist="38100" algn="tr" rotWithShape="0">
                    <a:prstClr val="black">
                      <a:alpha val="40000"/>
                    </a:prstClr>
                  </a:outerShdw>
                </a:effectLst>
                <a:latin typeface="Times New Roman" pitchFamily="18" charset="0"/>
                <a:cs typeface="Times New Roman" pitchFamily="18" charset="0"/>
              </a:rPr>
              <a:t> potentials as well as the important marketing </a:t>
            </a:r>
            <a:r>
              <a:rPr lang="en-US" sz="2400" b="1" dirty="0">
                <a:effectLst>
                  <a:outerShdw blurRad="50800" dist="38100" algn="tr" rotWithShape="0">
                    <a:prstClr val="black">
                      <a:alpha val="40000"/>
                    </a:prstClr>
                  </a:outerShdw>
                </a:effectLst>
                <a:latin typeface="Times New Roman" pitchFamily="18" charset="0"/>
                <a:cs typeface="Times New Roman" pitchFamily="18" charset="0"/>
              </a:rPr>
              <a:t>mixes</a:t>
            </a:r>
            <a:r>
              <a:rPr lang="en-US" sz="2400" dirty="0">
                <a:effectLst>
                  <a:outerShdw blurRad="50800" dist="38100" algn="tr" rotWithShape="0">
                    <a:prstClr val="black">
                      <a:alpha val="40000"/>
                    </a:prstClr>
                  </a:outerShdw>
                </a:effectLst>
                <a:latin typeface="Times New Roman" pitchFamily="18" charset="0"/>
                <a:cs typeface="Times New Roman" pitchFamily="18" charset="0"/>
              </a:rPr>
              <a:t>. </a:t>
            </a:r>
            <a:endParaRPr lang="en-US" sz="2400" dirty="0">
              <a:latin typeface="Times New Roman" pitchFamily="18" charset="0"/>
              <a:cs typeface="Times New Roman" pitchFamily="18" charset="0"/>
            </a:endParaRPr>
          </a:p>
          <a:p>
            <a:pPr algn="just">
              <a:spcBef>
                <a:spcPts val="1200"/>
              </a:spcBef>
              <a:defRPr/>
            </a:pPr>
            <a:r>
              <a:rPr lang="en-US" sz="2400" b="1" dirty="0">
                <a:solidFill>
                  <a:srgbClr val="CC0066"/>
                </a:solidFill>
                <a:effectLst>
                  <a:outerShdw blurRad="50800" dist="38100" algn="tr" rotWithShape="0">
                    <a:prstClr val="black">
                      <a:alpha val="40000"/>
                    </a:prstClr>
                  </a:outerShdw>
                </a:effectLst>
                <a:latin typeface="Times New Roman" pitchFamily="18" charset="0"/>
                <a:cs typeface="Times New Roman" pitchFamily="18" charset="0"/>
              </a:rPr>
              <a:t>2. Operation Information Needs.</a:t>
            </a:r>
            <a:endParaRPr lang="en-US" sz="2400" dirty="0">
              <a:solidFill>
                <a:srgbClr val="CC0066"/>
              </a:solidFill>
              <a:latin typeface="Times New Roman" pitchFamily="18" charset="0"/>
              <a:cs typeface="Times New Roman" pitchFamily="18" charset="0"/>
            </a:endParaRPr>
          </a:p>
          <a:p>
            <a:pPr marL="457200" indent="-457200" algn="just">
              <a:spcBef>
                <a:spcPts val="1200"/>
              </a:spcBef>
              <a:buBlip>
                <a:blip r:embed="rId2"/>
              </a:buBlip>
              <a:defRPr/>
            </a:pPr>
            <a:r>
              <a:rPr lang="en-US" sz="2400" b="1" dirty="0">
                <a:effectLst>
                  <a:outerShdw blurRad="50800" dist="38100" algn="tr" rotWithShape="0">
                    <a:prstClr val="black">
                      <a:alpha val="40000"/>
                    </a:prstClr>
                  </a:outerShdw>
                </a:effectLst>
                <a:latin typeface="Times New Roman" pitchFamily="18" charset="0"/>
                <a:cs typeface="Times New Roman" pitchFamily="18" charset="0"/>
              </a:rPr>
              <a:t>Manufacturing operations:</a:t>
            </a:r>
            <a:r>
              <a:rPr lang="en-US" sz="2400" dirty="0">
                <a:effectLst>
                  <a:outerShdw blurRad="50800" dist="38100" algn="tr" rotWithShape="0">
                    <a:prstClr val="black">
                      <a:alpha val="40000"/>
                    </a:prstClr>
                  </a:outerShdw>
                </a:effectLst>
                <a:latin typeface="Times New Roman" pitchFamily="18" charset="0"/>
                <a:cs typeface="Times New Roman" pitchFamily="18" charset="0"/>
              </a:rPr>
              <a:t> basic machines, assembly operations &amp;whether any of these operations would be subcontracted and how and by whom. </a:t>
            </a:r>
            <a:endParaRPr lang="en-US" sz="2400" dirty="0">
              <a:latin typeface="Times New Roman" pitchFamily="18" charset="0"/>
              <a:cs typeface="Times New Roman" pitchFamily="18" charset="0"/>
            </a:endParaRPr>
          </a:p>
          <a:p>
            <a:pPr marL="457200" indent="-457200" algn="just">
              <a:spcBef>
                <a:spcPts val="600"/>
              </a:spcBef>
              <a:buBlip>
                <a:blip r:embed="rId2"/>
              </a:buBlip>
              <a:defRPr/>
            </a:pPr>
            <a:r>
              <a:rPr lang="en-US" sz="2400" b="1" dirty="0">
                <a:effectLst>
                  <a:outerShdw blurRad="50800" dist="38100" algn="tr" rotWithShape="0">
                    <a:prstClr val="black">
                      <a:alpha val="40000"/>
                    </a:prstClr>
                  </a:outerShdw>
                </a:effectLst>
                <a:latin typeface="Times New Roman" pitchFamily="18" charset="0"/>
                <a:cs typeface="Times New Roman" pitchFamily="18" charset="0"/>
              </a:rPr>
              <a:t>Raw material:</a:t>
            </a:r>
            <a:r>
              <a:rPr lang="en-US" sz="2400" dirty="0">
                <a:effectLst>
                  <a:outerShdw blurRad="50800" dist="38100" algn="tr" rotWithShape="0">
                    <a:prstClr val="black">
                      <a:alpha val="40000"/>
                    </a:prstClr>
                  </a:outerShdw>
                </a:effectLst>
                <a:latin typeface="Times New Roman" pitchFamily="18" charset="0"/>
                <a:cs typeface="Times New Roman" pitchFamily="18" charset="0"/>
              </a:rPr>
              <a:t> The kind and quantity of raw materials needed and supplier’s names, addresses, and costs should be determined. </a:t>
            </a:r>
          </a:p>
          <a:p>
            <a:pPr marL="457200" indent="-457200" algn="just">
              <a:spcBef>
                <a:spcPts val="600"/>
              </a:spcBef>
              <a:buBlip>
                <a:blip r:embed="rId2"/>
              </a:buBlip>
              <a:defRPr/>
            </a:pPr>
            <a:r>
              <a:rPr lang="en-US" sz="2400" b="1" dirty="0">
                <a:effectLst>
                  <a:outerShdw blurRad="50800" dist="38100" algn="tr" rotWithShape="0">
                    <a:prstClr val="black">
                      <a:alpha val="40000"/>
                    </a:prstClr>
                  </a:outerShdw>
                </a:effectLst>
                <a:latin typeface="Times New Roman" pitchFamily="18" charset="0"/>
                <a:cs typeface="Times New Roman" pitchFamily="18" charset="0"/>
              </a:rPr>
              <a:t>Equipments</a:t>
            </a:r>
            <a:r>
              <a:rPr lang="en-US" sz="2400" dirty="0">
                <a:effectLst>
                  <a:outerShdw blurRad="50800" dist="38100" algn="tr" rotWithShape="0">
                    <a:prstClr val="black">
                      <a:alpha val="40000"/>
                    </a:prstClr>
                  </a:outerShdw>
                </a:effectLst>
                <a:latin typeface="Times New Roman" pitchFamily="18" charset="0"/>
                <a:cs typeface="Times New Roman" pitchFamily="18" charset="0"/>
              </a:rPr>
              <a:t> – the equipments needed should be listed and whether it will be purchased, rented or leased also should be clearly indicated. </a:t>
            </a:r>
            <a:endParaRPr lang="en-US" sz="2400" dirty="0">
              <a:latin typeface="Times New Roman" pitchFamily="18" charset="0"/>
              <a:cs typeface="Times New Roman" pitchFamily="18" charset="0"/>
            </a:endParaRPr>
          </a:p>
          <a:p>
            <a:pPr marL="457200" indent="-457200" algn="just">
              <a:spcBef>
                <a:spcPts val="600"/>
              </a:spcBef>
              <a:buBlip>
                <a:blip r:embed="rId2"/>
              </a:buBlip>
              <a:defRPr/>
            </a:pPr>
            <a:r>
              <a:rPr lang="en-US" sz="2400" b="1" dirty="0">
                <a:effectLst>
                  <a:outerShdw blurRad="50800" dist="38100" algn="tr" rotWithShape="0">
                    <a:prstClr val="black">
                      <a:alpha val="40000"/>
                    </a:prstClr>
                  </a:outerShdw>
                </a:effectLst>
                <a:latin typeface="Times New Roman" pitchFamily="18" charset="0"/>
                <a:cs typeface="Times New Roman" pitchFamily="18" charset="0"/>
              </a:rPr>
              <a:t>Labor Skills:</a:t>
            </a:r>
            <a:r>
              <a:rPr lang="en-US" sz="2400" dirty="0">
                <a:effectLst>
                  <a:outerShdw blurRad="50800" dist="38100" algn="tr" rotWithShape="0">
                    <a:prstClr val="black">
                      <a:alpha val="40000"/>
                    </a:prstClr>
                  </a:outerShdw>
                </a:effectLst>
                <a:latin typeface="Times New Roman" pitchFamily="18" charset="0"/>
                <a:cs typeface="Times New Roman" pitchFamily="18" charset="0"/>
              </a:rPr>
              <a:t> - Each labor’s unique skill needed, the number of personnel in each skill, pay rate and an assessment of where and how these skills will be obtained should be identified. </a:t>
            </a:r>
            <a:endParaRPr lang="en-US" sz="2400" dirty="0">
              <a:latin typeface="Times New Roman" pitchFamily="18" charset="0"/>
              <a:cs typeface="Times New Roman" pitchFamily="18" charset="0"/>
            </a:endParaRPr>
          </a:p>
          <a:p>
            <a:pPr marL="457200" indent="-457200" algn="just">
              <a:spcBef>
                <a:spcPts val="600"/>
              </a:spcBef>
              <a:buBlip>
                <a:blip r:embed="rId2"/>
              </a:buBlip>
              <a:defRPr/>
            </a:pPr>
            <a:r>
              <a:rPr lang="en-US" sz="2400" b="1" dirty="0">
                <a:effectLst>
                  <a:outerShdw blurRad="50800" dist="38100" algn="tr" rotWithShape="0">
                    <a:prstClr val="black">
                      <a:alpha val="40000"/>
                    </a:prstClr>
                  </a:outerShdw>
                </a:effectLst>
                <a:latin typeface="Times New Roman" pitchFamily="18" charset="0"/>
                <a:cs typeface="Times New Roman" pitchFamily="18" charset="0"/>
              </a:rPr>
              <a:t>Space and Area:</a:t>
            </a:r>
            <a:r>
              <a:rPr lang="en-US" sz="2400" dirty="0">
                <a:effectLst>
                  <a:outerShdw blurRad="50800" dist="38100" algn="tr" rotWithShape="0">
                    <a:prstClr val="black">
                      <a:alpha val="40000"/>
                    </a:prstClr>
                  </a:outerShdw>
                </a:effectLst>
                <a:latin typeface="Times New Roman" pitchFamily="18" charset="0"/>
                <a:cs typeface="Times New Roman" pitchFamily="18" charset="0"/>
              </a:rPr>
              <a:t> - The total amount of space and area needed should be determined, including whether the space and the area will be owned, leased, rented and so on. </a:t>
            </a:r>
            <a:endParaRPr lang="en-US" sz="2400" dirty="0">
              <a:latin typeface="Times New Roman" pitchFamily="18" charset="0"/>
              <a:cs typeface="Times New Roman" pitchFamily="18" charset="0"/>
            </a:endParaRPr>
          </a:p>
          <a:p>
            <a:pPr marL="457200" indent="-457200" algn="just">
              <a:spcBef>
                <a:spcPts val="600"/>
              </a:spcBef>
              <a:buBlip>
                <a:blip r:embed="rId2"/>
              </a:buBlip>
              <a:defRPr/>
            </a:pPr>
            <a:r>
              <a:rPr lang="en-US" sz="2400" b="1" dirty="0">
                <a:effectLst>
                  <a:outerShdw blurRad="50800" dist="38100" algn="tr" rotWithShape="0">
                    <a:prstClr val="black">
                      <a:alpha val="40000"/>
                    </a:prstClr>
                  </a:outerShdw>
                </a:effectLst>
                <a:latin typeface="Times New Roman" pitchFamily="18" charset="0"/>
                <a:cs typeface="Times New Roman" pitchFamily="18" charset="0"/>
              </a:rPr>
              <a:t>Over heads:</a:t>
            </a:r>
            <a:r>
              <a:rPr lang="en-US" sz="2400" dirty="0">
                <a:effectLst>
                  <a:outerShdw blurRad="50800" dist="38100" algn="tr" rotWithShape="0">
                    <a:prstClr val="black">
                      <a:alpha val="40000"/>
                    </a:prstClr>
                  </a:outerShdw>
                </a:effectLst>
                <a:latin typeface="Times New Roman" pitchFamily="18" charset="0"/>
                <a:cs typeface="Times New Roman" pitchFamily="18" charset="0"/>
              </a:rPr>
              <a:t> - Each items needed to support production or manufacturing, such as tools, supplies, utilities, salaries and so on, should be clearly determined. </a:t>
            </a:r>
            <a:endParaRPr lang="en-US" sz="3300" dirty="0">
              <a:latin typeface="Times New Roman" pitchFamily="18" charset="0"/>
              <a:cs typeface="Times New Roman" pitchFamily="18" charset="0"/>
            </a:endParaRPr>
          </a:p>
        </p:txBody>
      </p:sp>
    </p:spTree>
  </p:cSld>
  <p:clrMapOvr>
    <a:masterClrMapping/>
  </p:clrMapOvr>
  <p:transition>
    <p:strips dir="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Content Placeholder 2">
            <a:extLst>
              <a:ext uri="{FF2B5EF4-FFF2-40B4-BE49-F238E27FC236}">
                <a16:creationId xmlns:a16="http://schemas.microsoft.com/office/drawing/2014/main" id="{9BE766B6-6A91-4698-97A9-1482CA17DA34}"/>
              </a:ext>
            </a:extLst>
          </p:cNvPr>
          <p:cNvSpPr>
            <a:spLocks noGrp="1"/>
          </p:cNvSpPr>
          <p:nvPr>
            <p:ph idx="1"/>
          </p:nvPr>
        </p:nvSpPr>
        <p:spPr>
          <a:xfrm>
            <a:off x="1752600" y="228600"/>
            <a:ext cx="8610600" cy="6400800"/>
          </a:xfrm>
        </p:spPr>
        <p:txBody>
          <a:bodyPr/>
          <a:lstStyle/>
          <a:p>
            <a:pPr algn="just">
              <a:buFont typeface="Arial" charset="0"/>
              <a:buNone/>
              <a:defRPr/>
            </a:pPr>
            <a:r>
              <a:rPr lang="en-US" sz="2100" b="1" dirty="0">
                <a:solidFill>
                  <a:srgbClr val="6600CC"/>
                </a:solidFill>
                <a:effectLst>
                  <a:outerShdw blurRad="50800" dist="38100" algn="tr" rotWithShape="0">
                    <a:prstClr val="black">
                      <a:alpha val="40000"/>
                    </a:prstClr>
                  </a:outerShdw>
                </a:effectLst>
                <a:latin typeface="Times New Roman" pitchFamily="18" charset="0"/>
                <a:cs typeface="Times New Roman" pitchFamily="18" charset="0"/>
              </a:rPr>
              <a:t>3. Financial Information Needs</a:t>
            </a:r>
            <a:endParaRPr lang="en-US" sz="2100" dirty="0">
              <a:solidFill>
                <a:srgbClr val="6600CC"/>
              </a:solidFill>
              <a:latin typeface="Times New Roman" pitchFamily="18" charset="0"/>
              <a:cs typeface="Times New Roman" pitchFamily="18" charset="0"/>
            </a:endParaRPr>
          </a:p>
          <a:p>
            <a:pPr algn="just">
              <a:buFont typeface="Arial" charset="0"/>
              <a:buNone/>
              <a:defRPr/>
            </a:pPr>
            <a:r>
              <a:rPr lang="en-US" sz="2000" dirty="0">
                <a:effectLst>
                  <a:outerShdw blurRad="50800" dist="38100" algn="tr" rotWithShape="0">
                    <a:prstClr val="black">
                      <a:alpha val="40000"/>
                    </a:prstClr>
                  </a:outerShdw>
                </a:effectLst>
                <a:latin typeface="Times New Roman" pitchFamily="18" charset="0"/>
                <a:cs typeface="Times New Roman" pitchFamily="18" charset="0"/>
              </a:rPr>
              <a:t>This assessment will primarily tell potential investors if the business will be </a:t>
            </a:r>
            <a:r>
              <a:rPr lang="en-US" sz="2000" b="1" dirty="0">
                <a:effectLst>
                  <a:outerShdw blurRad="50800" dist="38100" algn="tr" rotWithShape="0">
                    <a:prstClr val="black">
                      <a:alpha val="40000"/>
                    </a:prstClr>
                  </a:outerShdw>
                </a:effectLst>
                <a:latin typeface="Times New Roman" pitchFamily="18" charset="0"/>
                <a:cs typeface="Times New Roman" pitchFamily="18" charset="0"/>
              </a:rPr>
              <a:t>profitable</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 </a:t>
            </a:r>
            <a:r>
              <a:rPr lang="en-US" sz="2000" b="1" dirty="0">
                <a:effectLst>
                  <a:outerShdw blurRad="50800" dist="38100" algn="tr" rotWithShape="0">
                    <a:prstClr val="black">
                      <a:alpha val="40000"/>
                    </a:prstClr>
                  </a:outerShdw>
                </a:effectLst>
                <a:latin typeface="Times New Roman" pitchFamily="18" charset="0"/>
                <a:cs typeface="Times New Roman" pitchFamily="18" charset="0"/>
              </a:rPr>
              <a:t>how much </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money will be needed to launch the business and meet short-term financial needs, and </a:t>
            </a:r>
            <a:r>
              <a:rPr lang="en-US" sz="2000" b="1" dirty="0">
                <a:effectLst>
                  <a:outerShdw blurRad="50800" dist="38100" algn="tr" rotWithShape="0">
                    <a:prstClr val="black">
                      <a:alpha val="40000"/>
                    </a:prstClr>
                  </a:outerShdw>
                </a:effectLst>
                <a:latin typeface="Times New Roman" pitchFamily="18" charset="0"/>
                <a:cs typeface="Times New Roman" pitchFamily="18" charset="0"/>
              </a:rPr>
              <a:t>how</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 this money be obtained. </a:t>
            </a:r>
            <a:endParaRPr lang="en-US" sz="2000" dirty="0">
              <a:latin typeface="Times New Roman" pitchFamily="18" charset="0"/>
              <a:cs typeface="Times New Roman" pitchFamily="18" charset="0"/>
            </a:endParaRPr>
          </a:p>
          <a:p>
            <a:pPr algn="just">
              <a:buFont typeface="Arial" charset="0"/>
              <a:buNone/>
              <a:defRPr/>
            </a:pPr>
            <a:r>
              <a:rPr lang="en-US" sz="2000" dirty="0">
                <a:effectLst>
                  <a:outerShdw blurRad="50800" dist="38100" algn="tr" rotWithShape="0">
                    <a:prstClr val="black">
                      <a:alpha val="40000"/>
                    </a:prstClr>
                  </a:outerShdw>
                </a:effectLst>
                <a:latin typeface="Times New Roman" pitchFamily="18" charset="0"/>
                <a:cs typeface="Times New Roman" pitchFamily="18" charset="0"/>
              </a:rPr>
              <a:t>There are traditionally </a:t>
            </a:r>
            <a:r>
              <a:rPr lang="en-US" sz="2000" b="1" dirty="0">
                <a:solidFill>
                  <a:srgbClr val="066A0B"/>
                </a:solidFill>
                <a:effectLst>
                  <a:outerShdw blurRad="50800" dist="38100" algn="tr" rotWithShape="0">
                    <a:prstClr val="black">
                      <a:alpha val="40000"/>
                    </a:prstClr>
                  </a:outerShdw>
                </a:effectLst>
                <a:latin typeface="Times New Roman" pitchFamily="18" charset="0"/>
                <a:cs typeface="Times New Roman" pitchFamily="18" charset="0"/>
              </a:rPr>
              <a:t>three areas of financial information </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that will be needed to ascertain the feasibility of the new venture. These are:</a:t>
            </a:r>
            <a:endParaRPr lang="en-US" sz="2000" dirty="0">
              <a:latin typeface="Times New Roman" pitchFamily="18" charset="0"/>
              <a:cs typeface="Times New Roman" pitchFamily="18" charset="0"/>
            </a:endParaRPr>
          </a:p>
          <a:p>
            <a:pPr lvl="1" algn="just">
              <a:spcBef>
                <a:spcPts val="600"/>
              </a:spcBef>
              <a:buFont typeface="Wingdings" pitchFamily="2" charset="2"/>
              <a:buChar char="q"/>
              <a:defRPr/>
            </a:pPr>
            <a:r>
              <a:rPr lang="en-US" sz="1900" dirty="0">
                <a:effectLst>
                  <a:outerShdw blurRad="50800" dist="38100" algn="tr" rotWithShape="0">
                    <a:prstClr val="black">
                      <a:alpha val="40000"/>
                    </a:prstClr>
                  </a:outerShdw>
                </a:effectLst>
                <a:latin typeface="Times New Roman" pitchFamily="18" charset="0"/>
                <a:cs typeface="Times New Roman" pitchFamily="18" charset="0"/>
              </a:rPr>
              <a:t>Expected sales and expense for at least the first three years. </a:t>
            </a:r>
            <a:endParaRPr lang="en-US" sz="1900" dirty="0">
              <a:latin typeface="Times New Roman" pitchFamily="18" charset="0"/>
              <a:cs typeface="Times New Roman" pitchFamily="18" charset="0"/>
            </a:endParaRPr>
          </a:p>
          <a:p>
            <a:pPr lvl="1" algn="just">
              <a:buFont typeface="Wingdings" pitchFamily="2" charset="2"/>
              <a:buChar char="q"/>
              <a:defRPr/>
            </a:pPr>
            <a:r>
              <a:rPr lang="en-US" sz="1900" dirty="0">
                <a:effectLst>
                  <a:outerShdw blurRad="50800" dist="38100" algn="tr" rotWithShape="0">
                    <a:prstClr val="black">
                      <a:alpha val="40000"/>
                    </a:prstClr>
                  </a:outerShdw>
                </a:effectLst>
                <a:latin typeface="Times New Roman" pitchFamily="18" charset="0"/>
                <a:cs typeface="Times New Roman" pitchFamily="18" charset="0"/>
              </a:rPr>
              <a:t>Cash flow figures for the first three years; and </a:t>
            </a:r>
            <a:endParaRPr lang="en-US" sz="1900" dirty="0">
              <a:latin typeface="Times New Roman" pitchFamily="18" charset="0"/>
              <a:cs typeface="Times New Roman" pitchFamily="18" charset="0"/>
            </a:endParaRPr>
          </a:p>
          <a:p>
            <a:pPr lvl="1" algn="just">
              <a:buFont typeface="Wingdings" pitchFamily="2" charset="2"/>
              <a:buChar char="q"/>
              <a:defRPr/>
            </a:pPr>
            <a:r>
              <a:rPr lang="en-US" sz="1900" dirty="0">
                <a:effectLst>
                  <a:outerShdw blurRad="50800" dist="38100" algn="tr" rotWithShape="0">
                    <a:prstClr val="black">
                      <a:alpha val="40000"/>
                    </a:prstClr>
                  </a:outerShdw>
                </a:effectLst>
                <a:latin typeface="Times New Roman" pitchFamily="18" charset="0"/>
                <a:cs typeface="Times New Roman" pitchFamily="18" charset="0"/>
              </a:rPr>
              <a:t>Current balance sheet figures and pro forma (forecasted) balance sheets for the first three years.  </a:t>
            </a:r>
            <a:endParaRPr lang="en-US" sz="1900" dirty="0">
              <a:latin typeface="Times New Roman" pitchFamily="18" charset="0"/>
              <a:cs typeface="Times New Roman" pitchFamily="18" charset="0"/>
            </a:endParaRPr>
          </a:p>
          <a:p>
            <a:pPr algn="just">
              <a:spcBef>
                <a:spcPts val="1200"/>
              </a:spcBef>
              <a:buNone/>
              <a:defRPr/>
            </a:pPr>
            <a:r>
              <a:rPr lang="en-US" sz="2400" b="1" i="1" dirty="0">
                <a:solidFill>
                  <a:srgbClr val="C00000"/>
                </a:solidFill>
                <a:effectLst>
                  <a:outerShdw blurRad="50800" dist="38100" algn="tr" rotWithShape="0">
                    <a:prstClr val="black">
                      <a:alpha val="40000"/>
                    </a:prstClr>
                  </a:outerShdw>
                </a:effectLst>
                <a:latin typeface="Times New Roman" pitchFamily="18" charset="0"/>
                <a:cs typeface="Times New Roman" pitchFamily="18" charset="0"/>
              </a:rPr>
              <a:t>Technology and Internet as Sources of Information </a:t>
            </a:r>
            <a:endParaRPr lang="en-US" sz="2400" dirty="0">
              <a:solidFill>
                <a:srgbClr val="C00000"/>
              </a:solidFill>
              <a:latin typeface="Times New Roman" pitchFamily="18" charset="0"/>
              <a:cs typeface="Times New Roman" pitchFamily="18" charset="0"/>
            </a:endParaRPr>
          </a:p>
          <a:p>
            <a:pPr algn="just">
              <a:spcBef>
                <a:spcPts val="1200"/>
              </a:spcBef>
              <a:buNone/>
              <a:defRPr/>
            </a:pPr>
            <a:r>
              <a:rPr lang="en-US" sz="2000" dirty="0">
                <a:effectLst>
                  <a:outerShdw blurRad="50800" dist="38100" algn="tr" rotWithShape="0">
                    <a:prstClr val="black">
                      <a:alpha val="40000"/>
                    </a:prstClr>
                  </a:outerShdw>
                </a:effectLst>
                <a:latin typeface="Times New Roman" pitchFamily="18" charset="0"/>
                <a:cs typeface="Times New Roman" pitchFamily="18" charset="0"/>
              </a:rPr>
              <a:t>The changing world of technology offers new opportunities for entrepreneurs to access information for any business activities efficiently, expediently and cheaply. </a:t>
            </a:r>
            <a:endParaRPr lang="en-US" sz="2000" dirty="0">
              <a:latin typeface="Times New Roman" pitchFamily="18" charset="0"/>
              <a:cs typeface="Times New Roman" pitchFamily="18" charset="0"/>
            </a:endParaRPr>
          </a:p>
          <a:p>
            <a:pPr algn="just">
              <a:buFont typeface="Arial" charset="0"/>
              <a:buNone/>
              <a:defRPr/>
            </a:pPr>
            <a:r>
              <a:rPr lang="en-US" sz="2000" dirty="0">
                <a:effectLst>
                  <a:outerShdw blurRad="50800" dist="38100" algn="tr" rotWithShape="0">
                    <a:prstClr val="black">
                      <a:alpha val="40000"/>
                    </a:prstClr>
                  </a:outerShdw>
                </a:effectLst>
                <a:latin typeface="Times New Roman" pitchFamily="18" charset="0"/>
                <a:cs typeface="Times New Roman" pitchFamily="18" charset="0"/>
              </a:rPr>
              <a:t>Internet (Website, e-mails or on-line services) is an important source of information in the preparation of the business plan for </a:t>
            </a:r>
            <a:r>
              <a:rPr lang="en-US" sz="2000" b="1" dirty="0">
                <a:effectLst>
                  <a:outerShdw blurRad="50800" dist="38100" algn="tr" rotWithShape="0">
                    <a:prstClr val="black">
                      <a:alpha val="40000"/>
                    </a:prstClr>
                  </a:outerShdw>
                </a:effectLst>
                <a:latin typeface="Times New Roman" pitchFamily="18" charset="0"/>
                <a:cs typeface="Times New Roman" pitchFamily="18" charset="0"/>
              </a:rPr>
              <a:t>industry analysis</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 </a:t>
            </a:r>
            <a:r>
              <a:rPr lang="en-US" sz="2000" b="1" dirty="0">
                <a:effectLst>
                  <a:outerShdw blurRad="50800" dist="38100" algn="tr" rotWithShape="0">
                    <a:prstClr val="black">
                      <a:alpha val="40000"/>
                    </a:prstClr>
                  </a:outerShdw>
                </a:effectLst>
                <a:latin typeface="Times New Roman" pitchFamily="18" charset="0"/>
                <a:cs typeface="Times New Roman" pitchFamily="18" charset="0"/>
              </a:rPr>
              <a:t>competitor’s analysis</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 and measurement of </a:t>
            </a:r>
            <a:r>
              <a:rPr lang="en-US" sz="2000" b="1" dirty="0">
                <a:effectLst>
                  <a:outerShdw blurRad="50800" dist="38100" algn="tr" rotWithShape="0">
                    <a:prstClr val="black">
                      <a:alpha val="40000"/>
                    </a:prstClr>
                  </a:outerShdw>
                </a:effectLst>
                <a:latin typeface="Times New Roman" pitchFamily="18" charset="0"/>
                <a:cs typeface="Times New Roman" pitchFamily="18" charset="0"/>
              </a:rPr>
              <a:t>market potential</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 to later stage </a:t>
            </a:r>
            <a:r>
              <a:rPr lang="en-US" sz="2000" b="1" dirty="0">
                <a:effectLst>
                  <a:outerShdw blurRad="50800" dist="38100" algn="tr" rotWithShape="0">
                    <a:prstClr val="black">
                      <a:alpha val="40000"/>
                    </a:prstClr>
                  </a:outerShdw>
                </a:effectLst>
                <a:latin typeface="Times New Roman" pitchFamily="18" charset="0"/>
                <a:cs typeface="Times New Roman" pitchFamily="18" charset="0"/>
              </a:rPr>
              <a:t>planning and decision making</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 </a:t>
            </a:r>
            <a:endParaRPr lang="en-US" sz="2000" dirty="0">
              <a:latin typeface="Times New Roman" pitchFamily="18" charset="0"/>
              <a:cs typeface="Times New Roman" pitchFamily="18" charset="0"/>
            </a:endParaRPr>
          </a:p>
          <a:p>
            <a:pPr algn="just">
              <a:defRPr/>
            </a:pPr>
            <a:endParaRPr lang="en-US" sz="2100" dirty="0">
              <a:latin typeface="Times New Roman" pitchFamily="18" charset="0"/>
              <a:cs typeface="Times New Roman" pitchFamily="18" charset="0"/>
            </a:endParaRPr>
          </a:p>
          <a:p>
            <a:pPr algn="just" eaLnBrk="1" hangingPunct="1">
              <a:buFont typeface="Arial" panose="020B0604020202020204" pitchFamily="34" charset="0"/>
              <a:buNone/>
              <a:defRPr/>
            </a:pPr>
            <a:endParaRPr lang="en-US" sz="2100" dirty="0">
              <a:latin typeface="Times New Roman" pitchFamily="18" charset="0"/>
              <a:cs typeface="Times New Roman" pitchFamily="18" charset="0"/>
            </a:endParaRPr>
          </a:p>
          <a:p>
            <a:pPr algn="just" eaLnBrk="1" hangingPunct="1">
              <a:buFont typeface="Arial" panose="020B0604020202020204" pitchFamily="34" charset="0"/>
              <a:buNone/>
              <a:defRPr/>
            </a:pPr>
            <a:endParaRPr lang="en-US" sz="2100" dirty="0">
              <a:latin typeface="Times New Roman" pitchFamily="18" charset="0"/>
              <a:cs typeface="Times New Roman" pitchFamily="18" charset="0"/>
            </a:endParaRPr>
          </a:p>
        </p:txBody>
      </p:sp>
    </p:spTree>
  </p:cSld>
  <p:clrMapOvr>
    <a:masterClrMapping/>
  </p:clrMapOvr>
  <p:transition>
    <p:strips dir="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A4BDFE49-4DD1-4751-A75A-F0ED978F2A50}"/>
              </a:ext>
            </a:extLst>
          </p:cNvPr>
          <p:cNvSpPr txBox="1">
            <a:spLocks/>
          </p:cNvSpPr>
          <p:nvPr/>
        </p:nvSpPr>
        <p:spPr>
          <a:xfrm>
            <a:off x="2286000" y="609600"/>
            <a:ext cx="7772400" cy="5562600"/>
          </a:xfrm>
          <a:prstGeom prst="rect">
            <a:avLst/>
          </a:prstGeom>
          <a:blipFill>
            <a:blip r:embed="rId2" cstate="print"/>
            <a:tile tx="0" ty="0" sx="100000" sy="100000" flip="none" algn="tl"/>
          </a:blipFill>
          <a:ln w="57150">
            <a:solidFill>
              <a:srgbClr val="044C07"/>
            </a:solidFill>
          </a:ln>
        </p:spPr>
        <p:style>
          <a:lnRef idx="2">
            <a:schemeClr val="dk1"/>
          </a:lnRef>
          <a:fillRef idx="1">
            <a:schemeClr val="lt1"/>
          </a:fillRef>
          <a:effectRef idx="0">
            <a:schemeClr val="dk1"/>
          </a:effectRef>
          <a:fontRef idx="minor">
            <a:schemeClr val="dk1"/>
          </a:fontRef>
        </p:style>
        <p:txBody>
          <a:bodyPr>
            <a:normAutofit/>
          </a:bodyPr>
          <a:lstStyle/>
          <a:p>
            <a:pPr algn="ctr">
              <a:lnSpc>
                <a:spcPct val="150000"/>
              </a:lnSpc>
              <a:spcBef>
                <a:spcPts val="1800"/>
              </a:spcBef>
              <a:defRPr/>
            </a:pPr>
            <a:endParaRPr lang="en-US" sz="2800" b="1" dirty="0">
              <a:solidFill>
                <a:srgbClr val="C00000"/>
              </a:solidFill>
              <a:effectLst>
                <a:outerShdw blurRad="50800" dist="38100" algn="tr" rotWithShape="0">
                  <a:prstClr val="black">
                    <a:alpha val="40000"/>
                  </a:prstClr>
                </a:outerShdw>
              </a:effectLst>
              <a:latin typeface="Times New Roman" pitchFamily="18" charset="0"/>
              <a:cs typeface="Times New Roman" pitchFamily="18" charset="0"/>
            </a:endParaRPr>
          </a:p>
          <a:p>
            <a:pPr algn="ctr">
              <a:lnSpc>
                <a:spcPct val="150000"/>
              </a:lnSpc>
              <a:defRPr/>
            </a:pPr>
            <a:r>
              <a:rPr lang="en-US" sz="2800" b="1" dirty="0">
                <a:solidFill>
                  <a:srgbClr val="C00000"/>
                </a:solidFill>
                <a:effectLst>
                  <a:outerShdw blurRad="50800" dist="38100" algn="tr" rotWithShape="0">
                    <a:prstClr val="black">
                      <a:alpha val="40000"/>
                    </a:prstClr>
                  </a:outerShdw>
                </a:effectLst>
                <a:latin typeface="Times New Roman" pitchFamily="18" charset="0"/>
                <a:cs typeface="Times New Roman" pitchFamily="18" charset="0"/>
              </a:rPr>
              <a:t>2.2 PREPARATION OF BUSINESS PLAN &amp; ITS MAJOR PARTS</a:t>
            </a:r>
          </a:p>
          <a:p>
            <a:pPr algn="ctr" eaLnBrk="1" hangingPunct="1">
              <a:lnSpc>
                <a:spcPct val="150000"/>
              </a:lnSpc>
              <a:defRPr/>
            </a:pPr>
            <a:endParaRPr lang="en-US" sz="2400" dirty="0">
              <a:solidFill>
                <a:srgbClr val="C00000"/>
              </a:solidFill>
              <a:latin typeface="Times New Roman" pitchFamily="18" charset="0"/>
              <a:cs typeface="Times New Roman" pitchFamily="18" charset="0"/>
            </a:endParaRPr>
          </a:p>
          <a:p>
            <a:pPr marL="457200" indent="-457200" algn="just">
              <a:spcBef>
                <a:spcPts val="1200"/>
              </a:spcBef>
              <a:buFont typeface="Wingdings" pitchFamily="2" charset="2"/>
              <a:buChar char="q"/>
              <a:defRPr/>
            </a:pPr>
            <a:r>
              <a:rPr lang="en-US" sz="2400" b="1" dirty="0">
                <a:effectLst>
                  <a:outerShdw blurRad="50800" dist="38100" algn="tr" rotWithShape="0">
                    <a:prstClr val="black">
                      <a:alpha val="40000"/>
                    </a:prstClr>
                  </a:outerShdw>
                </a:effectLst>
                <a:latin typeface="Times New Roman" pitchFamily="18" charset="0"/>
                <a:cs typeface="Times New Roman" pitchFamily="18" charset="0"/>
              </a:rPr>
              <a:t>A business plan generally answers three </a:t>
            </a:r>
            <a:r>
              <a:rPr lang="en-US" sz="2400" b="1">
                <a:effectLst>
                  <a:outerShdw blurRad="50800" dist="38100" algn="tr" rotWithShape="0">
                    <a:prstClr val="black">
                      <a:alpha val="40000"/>
                    </a:prstClr>
                  </a:outerShdw>
                </a:effectLst>
                <a:latin typeface="Times New Roman" pitchFamily="18" charset="0"/>
                <a:cs typeface="Times New Roman" pitchFamily="18" charset="0"/>
              </a:rPr>
              <a:t>key questions;</a:t>
            </a:r>
            <a:endParaRPr lang="en-US" sz="2400" dirty="0">
              <a:latin typeface="Times New Roman" pitchFamily="18" charset="0"/>
              <a:cs typeface="Times New Roman" pitchFamily="18" charset="0"/>
            </a:endParaRPr>
          </a:p>
          <a:p>
            <a:pPr marL="1371600" lvl="2" indent="-457200" algn="just">
              <a:lnSpc>
                <a:spcPct val="150000"/>
              </a:lnSpc>
              <a:spcBef>
                <a:spcPts val="1800"/>
              </a:spcBef>
              <a:buFont typeface="+mj-lt"/>
              <a:buAutoNum type="arabicPeriod"/>
              <a:defRPr/>
            </a:pPr>
            <a:r>
              <a:rPr lang="en-US" sz="2400" b="1" dirty="0">
                <a:solidFill>
                  <a:srgbClr val="0000FF"/>
                </a:solidFill>
                <a:effectLst>
                  <a:outerShdw blurRad="50800" dist="38100" algn="tr" rotWithShape="0">
                    <a:prstClr val="black">
                      <a:alpha val="40000"/>
                    </a:prstClr>
                  </a:outerShdw>
                </a:effectLst>
                <a:latin typeface="Times New Roman" pitchFamily="18" charset="0"/>
                <a:cs typeface="Times New Roman" pitchFamily="18" charset="0"/>
              </a:rPr>
              <a:t>Where are we now?</a:t>
            </a:r>
            <a:endParaRPr lang="en-US" sz="2400" dirty="0">
              <a:solidFill>
                <a:srgbClr val="0000FF"/>
              </a:solidFill>
              <a:latin typeface="Times New Roman" pitchFamily="18" charset="0"/>
              <a:cs typeface="Times New Roman" pitchFamily="18" charset="0"/>
            </a:endParaRPr>
          </a:p>
          <a:p>
            <a:pPr marL="1371600" lvl="2" indent="-457200" algn="just">
              <a:lnSpc>
                <a:spcPct val="150000"/>
              </a:lnSpc>
              <a:buFont typeface="+mj-lt"/>
              <a:buAutoNum type="arabicPeriod"/>
              <a:defRPr/>
            </a:pPr>
            <a:r>
              <a:rPr lang="en-US" sz="2400" b="1" dirty="0">
                <a:solidFill>
                  <a:srgbClr val="044C07"/>
                </a:solidFill>
                <a:effectLst>
                  <a:outerShdw blurRad="50800" dist="38100" algn="tr" rotWithShape="0">
                    <a:prstClr val="black">
                      <a:alpha val="40000"/>
                    </a:prstClr>
                  </a:outerShdw>
                </a:effectLst>
                <a:latin typeface="Times New Roman" pitchFamily="18" charset="0"/>
                <a:cs typeface="Times New Roman" pitchFamily="18" charset="0"/>
              </a:rPr>
              <a:t>Where do we want to go?</a:t>
            </a:r>
            <a:endParaRPr lang="en-US" sz="2400" dirty="0">
              <a:solidFill>
                <a:srgbClr val="044C07"/>
              </a:solidFill>
              <a:latin typeface="Times New Roman" pitchFamily="18" charset="0"/>
              <a:cs typeface="Times New Roman" pitchFamily="18" charset="0"/>
            </a:endParaRPr>
          </a:p>
          <a:p>
            <a:pPr marL="1371600" lvl="2" indent="-457200" algn="just">
              <a:lnSpc>
                <a:spcPct val="150000"/>
              </a:lnSpc>
              <a:buFont typeface="+mj-lt"/>
              <a:buAutoNum type="arabicPeriod"/>
              <a:defRPr/>
            </a:pPr>
            <a:r>
              <a:rPr lang="en-US" sz="2400" b="1" dirty="0">
                <a:solidFill>
                  <a:srgbClr val="CC0066"/>
                </a:solidFill>
                <a:effectLst>
                  <a:outerShdw blurRad="50800" dist="38100" algn="tr" rotWithShape="0">
                    <a:prstClr val="black">
                      <a:alpha val="40000"/>
                    </a:prstClr>
                  </a:outerShdw>
                </a:effectLst>
                <a:latin typeface="Times New Roman" pitchFamily="18" charset="0"/>
                <a:cs typeface="Times New Roman" pitchFamily="18" charset="0"/>
              </a:rPr>
              <a:t>How do we get there?</a:t>
            </a:r>
            <a:endParaRPr lang="en-US" sz="2400" dirty="0">
              <a:solidFill>
                <a:srgbClr val="CC0066"/>
              </a:solidFill>
              <a:latin typeface="Times New Roman" pitchFamily="18" charset="0"/>
              <a:cs typeface="Times New Roman" pitchFamily="18" charset="0"/>
            </a:endParaRPr>
          </a:p>
          <a:p>
            <a:pPr marL="800100" lvl="1" indent="-342900" algn="just">
              <a:spcBef>
                <a:spcPct val="20000"/>
              </a:spcBef>
              <a:defRPr/>
            </a:pPr>
            <a:endParaRPr lang="en-US" sz="2000" dirty="0">
              <a:effectLst>
                <a:outerShdw blurRad="50800" dist="38100" algn="tr" rotWithShape="0">
                  <a:prstClr val="black">
                    <a:alpha val="40000"/>
                  </a:prstClr>
                </a:outerShdw>
              </a:effectLst>
              <a:latin typeface="Times New Roman" pitchFamily="18" charset="0"/>
              <a:cs typeface="Times New Roman" pitchFamily="18" charset="0"/>
            </a:endParaRPr>
          </a:p>
          <a:p>
            <a:pPr marL="342900" indent="-342900" algn="just">
              <a:spcBef>
                <a:spcPct val="20000"/>
              </a:spcBef>
              <a:defRPr/>
            </a:pPr>
            <a:endParaRPr lang="en-US" sz="2400" b="1" dirty="0">
              <a:latin typeface="Times New Roman" pitchFamily="18" charset="0"/>
              <a:cs typeface="Times New Roman" pitchFamily="18" charset="0"/>
            </a:endParaRPr>
          </a:p>
          <a:p>
            <a:pPr marL="342900" indent="-342900" algn="just">
              <a:spcBef>
                <a:spcPct val="20000"/>
              </a:spcBef>
              <a:defRPr/>
            </a:pPr>
            <a:endParaRPr lang="en-US" sz="3100" dirty="0">
              <a:latin typeface="Times New Roman" pitchFamily="18" charset="0"/>
              <a:cs typeface="Times New Roman" pitchFamily="18" charset="0"/>
            </a:endParaRPr>
          </a:p>
          <a:p>
            <a:pPr marL="342900" indent="-342900">
              <a:spcBef>
                <a:spcPct val="20000"/>
              </a:spcBef>
              <a:defRPr/>
            </a:pPr>
            <a:endParaRPr lang="en-US" sz="3200" dirty="0"/>
          </a:p>
        </p:txBody>
      </p:sp>
    </p:spTree>
  </p:cSld>
  <p:clrMapOvr>
    <a:masterClrMapping/>
  </p:clrMapOvr>
  <p:transition>
    <p:newsflash/>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Content Placeholder 2">
            <a:extLst>
              <a:ext uri="{FF2B5EF4-FFF2-40B4-BE49-F238E27FC236}">
                <a16:creationId xmlns:a16="http://schemas.microsoft.com/office/drawing/2014/main" id="{357D3965-CB74-48C2-8B92-28681279B521}"/>
              </a:ext>
            </a:extLst>
          </p:cNvPr>
          <p:cNvSpPr>
            <a:spLocks noGrp="1"/>
          </p:cNvSpPr>
          <p:nvPr>
            <p:ph idx="1"/>
          </p:nvPr>
        </p:nvSpPr>
        <p:spPr>
          <a:xfrm>
            <a:off x="1828800" y="152400"/>
            <a:ext cx="8534400" cy="6553200"/>
          </a:xfrm>
        </p:spPr>
        <p:txBody>
          <a:bodyPr/>
          <a:lstStyle/>
          <a:p>
            <a:pPr algn="ctr">
              <a:lnSpc>
                <a:spcPct val="150000"/>
              </a:lnSpc>
              <a:buFont typeface="Arial" charset="0"/>
              <a:buNone/>
              <a:defRPr/>
            </a:pPr>
            <a:r>
              <a:rPr lang="en-US" sz="2200" b="1" dirty="0">
                <a:effectLst>
                  <a:outerShdw blurRad="50800" dist="38100" algn="tr" rotWithShape="0">
                    <a:prstClr val="black">
                      <a:alpha val="40000"/>
                    </a:prstClr>
                  </a:outerShdw>
                </a:effectLst>
                <a:latin typeface="Times New Roman" pitchFamily="18" charset="0"/>
                <a:cs typeface="Times New Roman" pitchFamily="18" charset="0"/>
              </a:rPr>
              <a:t>OUTLINE OF THE BUSINESS PLAN</a:t>
            </a:r>
            <a:endParaRPr lang="en-US" sz="2200" dirty="0">
              <a:latin typeface="Times New Roman" pitchFamily="18" charset="0"/>
              <a:cs typeface="Times New Roman" pitchFamily="18" charset="0"/>
            </a:endParaRPr>
          </a:p>
          <a:p>
            <a:pPr marL="457200" indent="-457200" algn="just">
              <a:lnSpc>
                <a:spcPct val="150000"/>
              </a:lnSpc>
              <a:buNone/>
              <a:defRPr/>
            </a:pPr>
            <a:r>
              <a:rPr lang="en-US" sz="2200" b="1" dirty="0">
                <a:solidFill>
                  <a:srgbClr val="066A0B"/>
                </a:solidFill>
                <a:effectLst>
                  <a:outerShdw blurRad="50800" dist="38100" algn="tr" rotWithShape="0">
                    <a:prstClr val="black">
                      <a:alpha val="40000"/>
                    </a:prstClr>
                  </a:outerShdw>
                </a:effectLst>
                <a:latin typeface="Times New Roman" pitchFamily="18" charset="0"/>
                <a:cs typeface="Times New Roman" pitchFamily="18" charset="0"/>
              </a:rPr>
              <a:t>1. Introductory Page </a:t>
            </a:r>
            <a:endParaRPr lang="en-US" sz="2200" dirty="0">
              <a:solidFill>
                <a:srgbClr val="066A0B"/>
              </a:solidFill>
              <a:latin typeface="Times New Roman" pitchFamily="18" charset="0"/>
              <a:cs typeface="Times New Roman" pitchFamily="18" charset="0"/>
            </a:endParaRPr>
          </a:p>
          <a:p>
            <a:pPr algn="just">
              <a:buFont typeface="Arial" charset="0"/>
              <a:buNone/>
              <a:defRPr/>
            </a:pPr>
            <a:r>
              <a:rPr lang="en-US" sz="2000" dirty="0">
                <a:effectLst>
                  <a:outerShdw blurRad="50800" dist="38100" algn="tr" rotWithShape="0">
                    <a:prstClr val="black">
                      <a:alpha val="40000"/>
                    </a:prstClr>
                  </a:outerShdw>
                </a:effectLst>
                <a:latin typeface="Times New Roman" pitchFamily="18" charset="0"/>
                <a:cs typeface="Times New Roman" pitchFamily="18" charset="0"/>
              </a:rPr>
              <a:t>This is the title or cover page that provides </a:t>
            </a:r>
            <a:r>
              <a:rPr lang="en-US" sz="2000" b="1" dirty="0">
                <a:effectLst>
                  <a:outerShdw blurRad="50800" dist="38100" algn="tr" rotWithShape="0">
                    <a:prstClr val="black">
                      <a:alpha val="40000"/>
                    </a:prstClr>
                  </a:outerShdw>
                </a:effectLst>
                <a:latin typeface="Times New Roman" pitchFamily="18" charset="0"/>
                <a:cs typeface="Times New Roman" pitchFamily="18" charset="0"/>
              </a:rPr>
              <a:t>a brief summary of the business plan’s contents. </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The introductory page should contain the following: </a:t>
            </a:r>
            <a:endParaRPr lang="en-US" sz="2000" dirty="0">
              <a:latin typeface="Times New Roman" pitchFamily="18" charset="0"/>
              <a:cs typeface="Times New Roman" pitchFamily="18" charset="0"/>
            </a:endParaRPr>
          </a:p>
          <a:p>
            <a:pPr lvl="1" algn="just">
              <a:spcBef>
                <a:spcPts val="1200"/>
              </a:spcBef>
              <a:buBlip>
                <a:blip r:embed="rId2"/>
              </a:buBlip>
              <a:defRPr/>
            </a:pPr>
            <a:r>
              <a:rPr lang="en-US" sz="2000" dirty="0">
                <a:effectLst>
                  <a:outerShdw blurRad="50800" dist="38100" algn="tr" rotWithShape="0">
                    <a:prstClr val="black">
                      <a:alpha val="40000"/>
                    </a:prstClr>
                  </a:outerShdw>
                </a:effectLst>
                <a:latin typeface="Times New Roman" pitchFamily="18" charset="0"/>
                <a:cs typeface="Times New Roman" pitchFamily="18" charset="0"/>
              </a:rPr>
              <a:t>The name and address of the company </a:t>
            </a:r>
            <a:endParaRPr lang="en-US" sz="2000" dirty="0">
              <a:latin typeface="Times New Roman" pitchFamily="18" charset="0"/>
              <a:cs typeface="Times New Roman" pitchFamily="18" charset="0"/>
            </a:endParaRPr>
          </a:p>
          <a:p>
            <a:pPr lvl="1" algn="just">
              <a:buFont typeface="Arial" charset="0"/>
              <a:buBlip>
                <a:blip r:embed="rId2"/>
              </a:buBlip>
              <a:defRPr/>
            </a:pPr>
            <a:r>
              <a:rPr lang="en-US" sz="2000" dirty="0">
                <a:effectLst>
                  <a:outerShdw blurRad="50800" dist="38100" algn="tr" rotWithShape="0">
                    <a:prstClr val="black">
                      <a:alpha val="40000"/>
                    </a:prstClr>
                  </a:outerShdw>
                </a:effectLst>
                <a:latin typeface="Times New Roman" pitchFamily="18" charset="0"/>
                <a:cs typeface="Times New Roman" pitchFamily="18" charset="0"/>
              </a:rPr>
              <a:t>The name of the entrepreneur(s) and address. </a:t>
            </a:r>
            <a:endParaRPr lang="en-US" sz="2000" dirty="0">
              <a:latin typeface="Times New Roman" pitchFamily="18" charset="0"/>
              <a:cs typeface="Times New Roman" pitchFamily="18" charset="0"/>
            </a:endParaRPr>
          </a:p>
          <a:p>
            <a:pPr lvl="1" algn="just">
              <a:buFont typeface="Arial" charset="0"/>
              <a:buBlip>
                <a:blip r:embed="rId2"/>
              </a:buBlip>
              <a:defRPr/>
            </a:pPr>
            <a:r>
              <a:rPr lang="en-US" sz="2000" dirty="0">
                <a:effectLst>
                  <a:outerShdw blurRad="50800" dist="38100" algn="tr" rotWithShape="0">
                    <a:prstClr val="black">
                      <a:alpha val="40000"/>
                    </a:prstClr>
                  </a:outerShdw>
                </a:effectLst>
                <a:latin typeface="Times New Roman" pitchFamily="18" charset="0"/>
                <a:cs typeface="Times New Roman" pitchFamily="18" charset="0"/>
              </a:rPr>
              <a:t>A paragraph describing the company and the nature of the business. </a:t>
            </a:r>
            <a:endParaRPr lang="en-US" sz="2000" dirty="0">
              <a:latin typeface="Times New Roman" pitchFamily="18" charset="0"/>
              <a:cs typeface="Times New Roman" pitchFamily="18" charset="0"/>
            </a:endParaRPr>
          </a:p>
          <a:p>
            <a:pPr lvl="1" algn="just">
              <a:buFont typeface="Arial" charset="0"/>
              <a:buBlip>
                <a:blip r:embed="rId2"/>
              </a:buBlip>
              <a:defRPr/>
            </a:pPr>
            <a:r>
              <a:rPr lang="en-US" sz="2000" dirty="0">
                <a:effectLst>
                  <a:outerShdw blurRad="50800" dist="38100" algn="tr" rotWithShape="0">
                    <a:prstClr val="black">
                      <a:alpha val="40000"/>
                    </a:prstClr>
                  </a:outerShdw>
                </a:effectLst>
                <a:latin typeface="Times New Roman" pitchFamily="18" charset="0"/>
                <a:cs typeface="Times New Roman" pitchFamily="18" charset="0"/>
              </a:rPr>
              <a:t>The amount of financing needed. The entrepreneurs may offer a package that shows stock, debt, asset and so on. However, many venture capitalists prefer to structure this package in their own way. </a:t>
            </a:r>
            <a:endParaRPr lang="en-US" sz="2000" dirty="0">
              <a:latin typeface="Times New Roman" pitchFamily="18" charset="0"/>
              <a:cs typeface="Times New Roman" pitchFamily="18" charset="0"/>
            </a:endParaRPr>
          </a:p>
          <a:p>
            <a:pPr lvl="1" algn="just">
              <a:buFont typeface="Arial" charset="0"/>
              <a:buBlip>
                <a:blip r:embed="rId2"/>
              </a:buBlip>
              <a:defRPr/>
            </a:pPr>
            <a:r>
              <a:rPr lang="en-US" sz="2000" dirty="0">
                <a:effectLst>
                  <a:outerShdw blurRad="50800" dist="38100" algn="tr" rotWithShape="0">
                    <a:prstClr val="black">
                      <a:alpha val="40000"/>
                    </a:prstClr>
                  </a:outerShdw>
                </a:effectLst>
                <a:latin typeface="Times New Roman" pitchFamily="18" charset="0"/>
                <a:cs typeface="Times New Roman" pitchFamily="18" charset="0"/>
              </a:rPr>
              <a:t>A statement of the confidentiality of the report. This is for security purpose and is important for the entrepreneur. </a:t>
            </a:r>
            <a:endParaRPr lang="en-US" sz="2000" dirty="0">
              <a:latin typeface="Times New Roman" pitchFamily="18" charset="0"/>
              <a:cs typeface="Times New Roman" pitchFamily="18" charset="0"/>
            </a:endParaRPr>
          </a:p>
          <a:p>
            <a:pPr marL="457200" indent="-457200" algn="just">
              <a:lnSpc>
                <a:spcPct val="150000"/>
              </a:lnSpc>
              <a:buNone/>
              <a:defRPr/>
            </a:pPr>
            <a:r>
              <a:rPr lang="en-US" sz="2200" b="1" dirty="0">
                <a:solidFill>
                  <a:srgbClr val="C00000"/>
                </a:solidFill>
                <a:effectLst>
                  <a:outerShdw blurRad="50800" dist="38100" algn="tr" rotWithShape="0">
                    <a:prstClr val="black">
                      <a:alpha val="40000"/>
                    </a:prstClr>
                  </a:outerShdw>
                </a:effectLst>
                <a:latin typeface="Times New Roman" pitchFamily="18" charset="0"/>
                <a:cs typeface="Times New Roman" pitchFamily="18" charset="0"/>
              </a:rPr>
              <a:t>2. Executive Summary </a:t>
            </a:r>
          </a:p>
          <a:p>
            <a:pPr algn="just">
              <a:buFont typeface="Wingdings" pitchFamily="2" charset="2"/>
              <a:buChar char="q"/>
              <a:defRPr/>
            </a:pPr>
            <a:r>
              <a:rPr lang="en-US" sz="2000" dirty="0">
                <a:effectLst>
                  <a:outerShdw blurRad="50800" dist="38100" algn="tr" rotWithShape="0">
                    <a:prstClr val="black">
                      <a:alpha val="40000"/>
                    </a:prstClr>
                  </a:outerShdw>
                </a:effectLst>
                <a:latin typeface="Times New Roman" pitchFamily="18" charset="0"/>
                <a:cs typeface="Times New Roman" pitchFamily="18" charset="0"/>
              </a:rPr>
              <a:t>This section of the business plan is </a:t>
            </a:r>
            <a:r>
              <a:rPr lang="en-US" sz="2000" b="1" dirty="0">
                <a:effectLst>
                  <a:outerShdw blurRad="50800" dist="38100" algn="tr" rotWithShape="0">
                    <a:prstClr val="black">
                      <a:alpha val="40000"/>
                    </a:prstClr>
                  </a:outerShdw>
                </a:effectLst>
                <a:latin typeface="Times New Roman" pitchFamily="18" charset="0"/>
                <a:cs typeface="Times New Roman" pitchFamily="18" charset="0"/>
              </a:rPr>
              <a:t>prepared after the total plan is written</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a:t>
            </a:r>
          </a:p>
          <a:p>
            <a:pPr algn="just">
              <a:buFont typeface="Wingdings" pitchFamily="2" charset="2"/>
              <a:buChar char="q"/>
              <a:defRPr/>
            </a:pPr>
            <a:r>
              <a:rPr lang="en-US" sz="2000" dirty="0">
                <a:effectLst>
                  <a:outerShdw blurRad="50800" dist="38100" algn="tr" rotWithShape="0">
                    <a:prstClr val="black">
                      <a:alpha val="40000"/>
                    </a:prstClr>
                  </a:outerShdw>
                </a:effectLst>
                <a:latin typeface="Times New Roman" pitchFamily="18" charset="0"/>
                <a:cs typeface="Times New Roman" pitchFamily="18" charset="0"/>
              </a:rPr>
              <a:t>It would highlight concisely and convincing the </a:t>
            </a:r>
            <a:r>
              <a:rPr lang="en-US" sz="2000" b="1" dirty="0">
                <a:effectLst>
                  <a:outerShdw blurRad="50800" dist="38100" algn="tr" rotWithShape="0">
                    <a:prstClr val="black">
                      <a:alpha val="40000"/>
                    </a:prstClr>
                  </a:outerShdw>
                </a:effectLst>
                <a:latin typeface="Times New Roman" pitchFamily="18" charset="0"/>
                <a:cs typeface="Times New Roman" pitchFamily="18" charset="0"/>
              </a:rPr>
              <a:t>key points </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in the business plan, that is, the </a:t>
            </a:r>
            <a:r>
              <a:rPr lang="en-US" sz="2000" b="1" dirty="0">
                <a:effectLst>
                  <a:outerShdw blurRad="50800" dist="38100" algn="tr" rotWithShape="0">
                    <a:prstClr val="black">
                      <a:alpha val="40000"/>
                    </a:prstClr>
                  </a:outerShdw>
                </a:effectLst>
                <a:latin typeface="Times New Roman" pitchFamily="18" charset="0"/>
                <a:cs typeface="Times New Roman" pitchFamily="18" charset="0"/>
              </a:rPr>
              <a:t>nature</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 of the venture, </a:t>
            </a:r>
            <a:r>
              <a:rPr lang="en-US" sz="2000" b="1" dirty="0">
                <a:effectLst>
                  <a:outerShdw blurRad="50800" dist="38100" algn="tr" rotWithShape="0">
                    <a:prstClr val="black">
                      <a:alpha val="40000"/>
                    </a:prstClr>
                  </a:outerShdw>
                </a:effectLst>
                <a:latin typeface="Times New Roman" pitchFamily="18" charset="0"/>
                <a:cs typeface="Times New Roman" pitchFamily="18" charset="0"/>
              </a:rPr>
              <a:t>financing</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 needed, </a:t>
            </a:r>
            <a:r>
              <a:rPr lang="en-US" sz="2000" b="1" dirty="0">
                <a:effectLst>
                  <a:outerShdw blurRad="50800" dist="38100" algn="tr" rotWithShape="0">
                    <a:prstClr val="black">
                      <a:alpha val="40000"/>
                    </a:prstClr>
                  </a:outerShdw>
                </a:effectLst>
                <a:latin typeface="Times New Roman" pitchFamily="18" charset="0"/>
                <a:cs typeface="Times New Roman" pitchFamily="18" charset="0"/>
              </a:rPr>
              <a:t>market</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 potential, and support as to why it will succeed. </a:t>
            </a:r>
            <a:endParaRPr lang="en-US" sz="2000" dirty="0">
              <a:latin typeface="Times New Roman" pitchFamily="18" charset="0"/>
              <a:cs typeface="Times New Roman" pitchFamily="18" charset="0"/>
            </a:endParaRPr>
          </a:p>
          <a:p>
            <a:pPr lvl="1" algn="just">
              <a:buFont typeface="Arial" charset="0"/>
              <a:buBlip>
                <a:blip r:embed="rId2"/>
              </a:buBlip>
              <a:defRPr/>
            </a:pPr>
            <a:endParaRPr lang="en-US" sz="2000" dirty="0">
              <a:effectLst>
                <a:outerShdw blurRad="50800" dist="38100" algn="tr" rotWithShape="0">
                  <a:prstClr val="black">
                    <a:alpha val="40000"/>
                  </a:prstClr>
                </a:outerShdw>
              </a:effectLst>
              <a:latin typeface="Times New Roman" pitchFamily="18" charset="0"/>
              <a:cs typeface="Times New Roman" pitchFamily="18" charset="0"/>
            </a:endParaRPr>
          </a:p>
        </p:txBody>
      </p:sp>
    </p:spTree>
  </p:cSld>
  <p:clrMapOvr>
    <a:masterClrMapping/>
  </p:clrMapOvr>
  <p:transition>
    <p:circl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B757957C-9198-41CB-8F1E-8C791F2CB457}"/>
              </a:ext>
            </a:extLst>
          </p:cNvPr>
          <p:cNvSpPr txBox="1">
            <a:spLocks/>
          </p:cNvSpPr>
          <p:nvPr/>
        </p:nvSpPr>
        <p:spPr bwMode="auto">
          <a:xfrm>
            <a:off x="1828800" y="152400"/>
            <a:ext cx="8534400" cy="6477000"/>
          </a:xfrm>
          <a:prstGeom prst="rect">
            <a:avLst/>
          </a:prstGeom>
          <a:noFill/>
          <a:ln w="9525">
            <a:noFill/>
            <a:miter lim="800000"/>
            <a:headEnd/>
            <a:tailEnd/>
          </a:ln>
        </p:spPr>
        <p:txBody>
          <a:bodyPr/>
          <a:lstStyle/>
          <a:p>
            <a:pPr algn="just" eaLnBrk="1" hangingPunct="1">
              <a:lnSpc>
                <a:spcPct val="150000"/>
              </a:lnSpc>
              <a:defRPr/>
            </a:pPr>
            <a:r>
              <a:rPr lang="en-US" sz="2400" b="1" dirty="0">
                <a:solidFill>
                  <a:srgbClr val="6600CC"/>
                </a:solidFill>
                <a:effectLst>
                  <a:outerShdw blurRad="50800" dist="38100" algn="tr" rotWithShape="0">
                    <a:prstClr val="black">
                      <a:alpha val="40000"/>
                    </a:prstClr>
                  </a:outerShdw>
                </a:effectLst>
                <a:latin typeface="Times New Roman" pitchFamily="18" charset="0"/>
                <a:cs typeface="Times New Roman" pitchFamily="18" charset="0"/>
              </a:rPr>
              <a:t>3. Industry Analysis </a:t>
            </a:r>
            <a:endParaRPr lang="en-US" sz="2400" dirty="0">
              <a:solidFill>
                <a:srgbClr val="6600CC"/>
              </a:solidFill>
              <a:latin typeface="Times New Roman" pitchFamily="18" charset="0"/>
              <a:cs typeface="Times New Roman" pitchFamily="18" charset="0"/>
            </a:endParaRPr>
          </a:p>
          <a:p>
            <a:pPr algn="just">
              <a:spcBef>
                <a:spcPts val="1800"/>
              </a:spcBef>
              <a:defRPr/>
            </a:pPr>
            <a:r>
              <a:rPr lang="en-US" sz="2400" dirty="0">
                <a:effectLst>
                  <a:outerShdw blurRad="50800" dist="38100" algn="tr" rotWithShape="0">
                    <a:prstClr val="black">
                      <a:alpha val="40000"/>
                    </a:prstClr>
                  </a:outerShdw>
                </a:effectLst>
                <a:latin typeface="Times New Roman" pitchFamily="18" charset="0"/>
                <a:cs typeface="Times New Roman" pitchFamily="18" charset="0"/>
              </a:rPr>
              <a:t>Is made to know which industry the entrepreneur will be competing in. </a:t>
            </a:r>
            <a:endParaRPr lang="en-US" sz="2400" dirty="0">
              <a:latin typeface="Times New Roman" pitchFamily="18" charset="0"/>
              <a:cs typeface="Times New Roman" pitchFamily="18" charset="0"/>
            </a:endParaRPr>
          </a:p>
          <a:p>
            <a:pPr marL="914400" lvl="1" indent="-457200" algn="just">
              <a:buFont typeface="Wingdings" pitchFamily="2" charset="2"/>
              <a:buChar char="v"/>
              <a:defRPr/>
            </a:pPr>
            <a:r>
              <a:rPr lang="en-US" sz="2200" dirty="0">
                <a:effectLst>
                  <a:outerShdw blurRad="50800" dist="38100" algn="tr" rotWithShape="0">
                    <a:prstClr val="black">
                      <a:alpha val="40000"/>
                    </a:prstClr>
                  </a:outerShdw>
                </a:effectLst>
                <a:latin typeface="Times New Roman" pitchFamily="18" charset="0"/>
                <a:cs typeface="Times New Roman" pitchFamily="18" charset="0"/>
              </a:rPr>
              <a:t>Future </a:t>
            </a:r>
            <a:r>
              <a:rPr lang="en-US" sz="2200" b="1" dirty="0">
                <a:effectLst>
                  <a:outerShdw blurRad="50800" dist="38100" algn="tr" rotWithShape="0">
                    <a:prstClr val="black">
                      <a:alpha val="40000"/>
                    </a:prstClr>
                  </a:outerShdw>
                </a:effectLst>
                <a:latin typeface="Times New Roman" pitchFamily="18" charset="0"/>
                <a:cs typeface="Times New Roman" pitchFamily="18" charset="0"/>
              </a:rPr>
              <a:t>trends</a:t>
            </a:r>
            <a:r>
              <a:rPr lang="en-US" sz="2200" dirty="0">
                <a:effectLst>
                  <a:outerShdw blurRad="50800" dist="38100" algn="tr" rotWithShape="0">
                    <a:prstClr val="black">
                      <a:alpha val="40000"/>
                    </a:prstClr>
                  </a:outerShdw>
                </a:effectLst>
                <a:latin typeface="Times New Roman" pitchFamily="18" charset="0"/>
                <a:cs typeface="Times New Roman" pitchFamily="18" charset="0"/>
              </a:rPr>
              <a:t> and </a:t>
            </a:r>
            <a:r>
              <a:rPr lang="en-US" sz="2200" b="1" dirty="0">
                <a:effectLst>
                  <a:outerShdw blurRad="50800" dist="38100" algn="tr" rotWithShape="0">
                    <a:prstClr val="black">
                      <a:alpha val="40000"/>
                    </a:prstClr>
                  </a:outerShdw>
                </a:effectLst>
                <a:latin typeface="Times New Roman" pitchFamily="18" charset="0"/>
                <a:cs typeface="Times New Roman" pitchFamily="18" charset="0"/>
              </a:rPr>
              <a:t>historical</a:t>
            </a:r>
            <a:r>
              <a:rPr lang="en-US" sz="2200" dirty="0">
                <a:effectLst>
                  <a:outerShdw blurRad="50800" dist="38100" algn="tr" rotWithShape="0">
                    <a:prstClr val="black">
                      <a:alpha val="40000"/>
                    </a:prstClr>
                  </a:outerShdw>
                </a:effectLst>
                <a:latin typeface="Times New Roman" pitchFamily="18" charset="0"/>
                <a:cs typeface="Times New Roman" pitchFamily="18" charset="0"/>
              </a:rPr>
              <a:t> achievements should be included. </a:t>
            </a:r>
            <a:endParaRPr lang="en-US" sz="2200" dirty="0">
              <a:latin typeface="Times New Roman" pitchFamily="18" charset="0"/>
              <a:cs typeface="Times New Roman" pitchFamily="18" charset="0"/>
            </a:endParaRPr>
          </a:p>
          <a:p>
            <a:pPr marL="914400" lvl="1" indent="-457200" algn="just">
              <a:spcBef>
                <a:spcPts val="600"/>
              </a:spcBef>
              <a:buFont typeface="Wingdings" pitchFamily="2" charset="2"/>
              <a:buChar char="v"/>
              <a:defRPr/>
            </a:pPr>
            <a:r>
              <a:rPr lang="en-US" sz="2200" dirty="0">
                <a:effectLst>
                  <a:outerShdw blurRad="50800" dist="38100" algn="tr" rotWithShape="0">
                    <a:prstClr val="black">
                      <a:alpha val="40000"/>
                    </a:prstClr>
                  </a:outerShdw>
                </a:effectLst>
                <a:latin typeface="Times New Roman" pitchFamily="18" charset="0"/>
                <a:cs typeface="Times New Roman" pitchFamily="18" charset="0"/>
              </a:rPr>
              <a:t>Insight on new </a:t>
            </a:r>
            <a:r>
              <a:rPr lang="en-US" sz="2200" b="1" dirty="0">
                <a:effectLst>
                  <a:outerShdw blurRad="50800" dist="38100" algn="tr" rotWithShape="0">
                    <a:prstClr val="black">
                      <a:alpha val="40000"/>
                    </a:prstClr>
                  </a:outerShdw>
                </a:effectLst>
                <a:latin typeface="Times New Roman" pitchFamily="18" charset="0"/>
                <a:cs typeface="Times New Roman" pitchFamily="18" charset="0"/>
              </a:rPr>
              <a:t>product developments </a:t>
            </a:r>
            <a:r>
              <a:rPr lang="en-US" sz="2200" dirty="0">
                <a:effectLst>
                  <a:outerShdw blurRad="50800" dist="38100" algn="tr" rotWithShape="0">
                    <a:prstClr val="black">
                      <a:alpha val="40000"/>
                    </a:prstClr>
                  </a:outerShdw>
                </a:effectLst>
                <a:latin typeface="Times New Roman" pitchFamily="18" charset="0"/>
                <a:cs typeface="Times New Roman" pitchFamily="18" charset="0"/>
              </a:rPr>
              <a:t>in this industry.</a:t>
            </a:r>
            <a:endParaRPr lang="en-US" sz="2200" dirty="0">
              <a:latin typeface="Times New Roman" pitchFamily="18" charset="0"/>
              <a:cs typeface="Times New Roman" pitchFamily="18" charset="0"/>
            </a:endParaRPr>
          </a:p>
          <a:p>
            <a:pPr marL="914400" lvl="1" indent="-457200" algn="just">
              <a:spcBef>
                <a:spcPts val="600"/>
              </a:spcBef>
              <a:buFont typeface="Wingdings" pitchFamily="2" charset="2"/>
              <a:buChar char="v"/>
              <a:defRPr/>
            </a:pPr>
            <a:r>
              <a:rPr lang="en-US" sz="2200" b="1" dirty="0">
                <a:effectLst>
                  <a:outerShdw blurRad="50800" dist="38100" algn="tr" rotWithShape="0">
                    <a:prstClr val="black">
                      <a:alpha val="40000"/>
                    </a:prstClr>
                  </a:outerShdw>
                </a:effectLst>
                <a:latin typeface="Times New Roman" pitchFamily="18" charset="0"/>
                <a:cs typeface="Times New Roman" pitchFamily="18" charset="0"/>
              </a:rPr>
              <a:t>Competitive analysis</a:t>
            </a:r>
            <a:r>
              <a:rPr lang="en-US" sz="2200" dirty="0">
                <a:effectLst>
                  <a:outerShdw blurRad="50800" dist="38100" algn="tr" rotWithShape="0">
                    <a:prstClr val="black">
                      <a:alpha val="40000"/>
                    </a:prstClr>
                  </a:outerShdw>
                </a:effectLst>
                <a:latin typeface="Times New Roman" pitchFamily="18" charset="0"/>
                <a:cs typeface="Times New Roman" pitchFamily="18" charset="0"/>
              </a:rPr>
              <a:t>; Each major competitor should be identified, with appropriate strengths and weaknesses described particularly as to how they might affect the new venture’s potential success in the market. </a:t>
            </a:r>
            <a:endParaRPr lang="en-US" sz="2200" dirty="0">
              <a:latin typeface="Times New Roman" pitchFamily="18" charset="0"/>
              <a:cs typeface="Times New Roman" pitchFamily="18" charset="0"/>
            </a:endParaRPr>
          </a:p>
          <a:p>
            <a:pPr marL="914400" lvl="1" indent="-457200" algn="just">
              <a:spcBef>
                <a:spcPts val="600"/>
              </a:spcBef>
              <a:buFont typeface="Wingdings" pitchFamily="2" charset="2"/>
              <a:buChar char="v"/>
              <a:defRPr/>
            </a:pPr>
            <a:r>
              <a:rPr lang="en-US" sz="2200" dirty="0">
                <a:effectLst>
                  <a:outerShdw blurRad="50800" dist="38100" algn="tr" rotWithShape="0">
                    <a:prstClr val="black">
                      <a:alpha val="40000"/>
                    </a:prstClr>
                  </a:outerShdw>
                </a:effectLst>
                <a:latin typeface="Times New Roman" pitchFamily="18" charset="0"/>
                <a:cs typeface="Times New Roman" pitchFamily="18" charset="0"/>
              </a:rPr>
              <a:t>The market should be </a:t>
            </a:r>
            <a:r>
              <a:rPr lang="en-US" sz="2200" b="1" dirty="0">
                <a:effectLst>
                  <a:outerShdw blurRad="50800" dist="38100" algn="tr" rotWithShape="0">
                    <a:prstClr val="black">
                      <a:alpha val="40000"/>
                    </a:prstClr>
                  </a:outerShdw>
                </a:effectLst>
                <a:latin typeface="Times New Roman" pitchFamily="18" charset="0"/>
                <a:cs typeface="Times New Roman" pitchFamily="18" charset="0"/>
              </a:rPr>
              <a:t>segmented</a:t>
            </a:r>
            <a:r>
              <a:rPr lang="en-US" sz="2200" dirty="0">
                <a:effectLst>
                  <a:outerShdw blurRad="50800" dist="38100" algn="tr" rotWithShape="0">
                    <a:prstClr val="black">
                      <a:alpha val="40000"/>
                    </a:prstClr>
                  </a:outerShdw>
                </a:effectLst>
                <a:latin typeface="Times New Roman" pitchFamily="18" charset="0"/>
                <a:cs typeface="Times New Roman" pitchFamily="18" charset="0"/>
              </a:rPr>
              <a:t> and the </a:t>
            </a:r>
            <a:r>
              <a:rPr lang="en-US" sz="2200" b="1" dirty="0">
                <a:effectLst>
                  <a:outerShdw blurRad="50800" dist="38100" algn="tr" rotWithShape="0">
                    <a:prstClr val="black">
                      <a:alpha val="40000"/>
                    </a:prstClr>
                  </a:outerShdw>
                </a:effectLst>
                <a:latin typeface="Times New Roman" pitchFamily="18" charset="0"/>
                <a:cs typeface="Times New Roman" pitchFamily="18" charset="0"/>
              </a:rPr>
              <a:t>target</a:t>
            </a:r>
            <a:r>
              <a:rPr lang="en-US" sz="2200" dirty="0">
                <a:effectLst>
                  <a:outerShdw blurRad="50800" dist="38100" algn="tr" rotWithShape="0">
                    <a:prstClr val="black">
                      <a:alpha val="40000"/>
                    </a:prstClr>
                  </a:outerShdw>
                </a:effectLst>
                <a:latin typeface="Times New Roman" pitchFamily="18" charset="0"/>
                <a:cs typeface="Times New Roman" pitchFamily="18" charset="0"/>
              </a:rPr>
              <a:t> market for the entrepreneur identified. </a:t>
            </a:r>
            <a:endParaRPr lang="en-US" sz="2200" dirty="0">
              <a:latin typeface="Times New Roman" pitchFamily="18" charset="0"/>
              <a:cs typeface="Times New Roman" pitchFamily="18" charset="0"/>
            </a:endParaRPr>
          </a:p>
          <a:p>
            <a:pPr marL="914400" lvl="1" indent="-457200" algn="just">
              <a:spcBef>
                <a:spcPts val="600"/>
              </a:spcBef>
              <a:buFont typeface="Wingdings" pitchFamily="2" charset="2"/>
              <a:buChar char="v"/>
              <a:defRPr/>
            </a:pPr>
            <a:r>
              <a:rPr lang="en-US" sz="2200" dirty="0">
                <a:effectLst>
                  <a:outerShdw blurRad="50800" dist="38100" algn="tr" rotWithShape="0">
                    <a:prstClr val="black">
                      <a:alpha val="40000"/>
                    </a:prstClr>
                  </a:outerShdw>
                </a:effectLst>
                <a:latin typeface="Times New Roman" pitchFamily="18" charset="0"/>
                <a:cs typeface="Times New Roman" pitchFamily="18" charset="0"/>
              </a:rPr>
              <a:t>Any </a:t>
            </a:r>
            <a:r>
              <a:rPr lang="en-US" sz="2200" b="1" dirty="0">
                <a:effectLst>
                  <a:outerShdw blurRad="50800" dist="38100" algn="tr" rotWithShape="0">
                    <a:prstClr val="black">
                      <a:alpha val="40000"/>
                    </a:prstClr>
                  </a:outerShdw>
                </a:effectLst>
                <a:latin typeface="Times New Roman" pitchFamily="18" charset="0"/>
                <a:cs typeface="Times New Roman" pitchFamily="18" charset="0"/>
              </a:rPr>
              <a:t>forecasts</a:t>
            </a:r>
            <a:r>
              <a:rPr lang="en-US" sz="2200" dirty="0">
                <a:effectLst>
                  <a:outerShdw blurRad="50800" dist="38100" algn="tr" rotWithShape="0">
                    <a:prstClr val="black">
                      <a:alpha val="40000"/>
                    </a:prstClr>
                  </a:outerShdw>
                </a:effectLst>
                <a:latin typeface="Times New Roman" pitchFamily="18" charset="0"/>
                <a:cs typeface="Times New Roman" pitchFamily="18" charset="0"/>
              </a:rPr>
              <a:t> made by the industry or by the government should be noted. A </a:t>
            </a:r>
            <a:r>
              <a:rPr lang="en-US" sz="2200" b="1" dirty="0">
                <a:effectLst>
                  <a:outerShdw blurRad="50800" dist="38100" algn="tr" rotWithShape="0">
                    <a:prstClr val="black">
                      <a:alpha val="40000"/>
                    </a:prstClr>
                  </a:outerShdw>
                </a:effectLst>
                <a:latin typeface="Times New Roman" pitchFamily="18" charset="0"/>
                <a:cs typeface="Times New Roman" pitchFamily="18" charset="0"/>
              </a:rPr>
              <a:t>high growth </a:t>
            </a:r>
            <a:r>
              <a:rPr lang="en-US" sz="2200" dirty="0">
                <a:effectLst>
                  <a:outerShdw blurRad="50800" dist="38100" algn="tr" rotWithShape="0">
                    <a:prstClr val="black">
                      <a:alpha val="40000"/>
                    </a:prstClr>
                  </a:outerShdw>
                </a:effectLst>
                <a:latin typeface="Times New Roman" pitchFamily="18" charset="0"/>
                <a:cs typeface="Times New Roman" pitchFamily="18" charset="0"/>
              </a:rPr>
              <a:t>market may be viewed more favorably by the potential investor. </a:t>
            </a:r>
            <a:endParaRPr lang="en-US" sz="2200" dirty="0">
              <a:latin typeface="Times New Roman" pitchFamily="18" charset="0"/>
              <a:cs typeface="Times New Roman" pitchFamily="18" charset="0"/>
            </a:endParaRPr>
          </a:p>
          <a:p>
            <a:pPr algn="just" eaLnBrk="1" hangingPunct="1">
              <a:defRPr/>
            </a:pPr>
            <a:endParaRPr lang="en-US" sz="2200" dirty="0">
              <a:latin typeface="Times New Roman" pitchFamily="18" charset="0"/>
              <a:cs typeface="Times New Roman" pitchFamily="18" charset="0"/>
            </a:endParaRPr>
          </a:p>
          <a:p>
            <a:pPr algn="just">
              <a:spcBef>
                <a:spcPct val="20000"/>
              </a:spcBef>
              <a:defRPr/>
            </a:pPr>
            <a:endParaRPr lang="en-US" sz="2400" dirty="0">
              <a:latin typeface="Times New Roman" pitchFamily="18" charset="0"/>
              <a:cs typeface="Times New Roman" pitchFamily="18" charset="0"/>
            </a:endParaRPr>
          </a:p>
        </p:txBody>
      </p:sp>
    </p:spTree>
  </p:cSld>
  <p:clrMapOvr>
    <a:masterClrMapping/>
  </p:clrMapOvr>
  <p:transition>
    <p:circl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id="{8E908F13-76E0-4624-B8CD-679128E0B775}"/>
              </a:ext>
            </a:extLst>
          </p:cNvPr>
          <p:cNvSpPr>
            <a:spLocks noGrp="1"/>
          </p:cNvSpPr>
          <p:nvPr>
            <p:ph idx="1"/>
          </p:nvPr>
        </p:nvSpPr>
        <p:spPr>
          <a:xfrm>
            <a:off x="1981200" y="533400"/>
            <a:ext cx="8229600" cy="5791200"/>
          </a:xfrm>
        </p:spPr>
        <p:txBody>
          <a:bodyPr/>
          <a:lstStyle/>
          <a:p>
            <a:pPr>
              <a:lnSpc>
                <a:spcPct val="150000"/>
              </a:lnSpc>
              <a:buFont typeface="Arial" charset="0"/>
              <a:buNone/>
              <a:defRPr/>
            </a:pPr>
            <a:r>
              <a:rPr lang="en-US" sz="2400" b="1" dirty="0">
                <a:solidFill>
                  <a:srgbClr val="0000FF"/>
                </a:solidFill>
                <a:effectLst>
                  <a:outerShdw blurRad="50800" dist="38100" algn="tr" rotWithShape="0">
                    <a:prstClr val="black">
                      <a:alpha val="40000"/>
                    </a:prstClr>
                  </a:outerShdw>
                </a:effectLst>
                <a:latin typeface="Times New Roman" pitchFamily="18" charset="0"/>
                <a:cs typeface="Times New Roman" pitchFamily="18" charset="0"/>
              </a:rPr>
              <a:t>4. Description of the Venture </a:t>
            </a:r>
            <a:endParaRPr lang="en-US" sz="2400" dirty="0">
              <a:solidFill>
                <a:srgbClr val="0000FF"/>
              </a:solidFill>
              <a:latin typeface="Times New Roman" pitchFamily="18" charset="0"/>
              <a:cs typeface="Times New Roman" pitchFamily="18" charset="0"/>
            </a:endParaRPr>
          </a:p>
          <a:p>
            <a:pPr>
              <a:spcBef>
                <a:spcPts val="1800"/>
              </a:spcBef>
              <a:buNone/>
              <a:defRPr/>
            </a:pPr>
            <a:r>
              <a:rPr lang="en-US" sz="2400" dirty="0">
                <a:effectLst>
                  <a:outerShdw blurRad="50800" dist="38100" algn="tr" rotWithShape="0">
                    <a:prstClr val="black">
                      <a:alpha val="40000"/>
                    </a:prstClr>
                  </a:outerShdw>
                </a:effectLst>
                <a:latin typeface="Times New Roman" pitchFamily="18" charset="0"/>
                <a:cs typeface="Times New Roman" pitchFamily="18" charset="0"/>
              </a:rPr>
              <a:t>This will enable the investor to ascertain the </a:t>
            </a:r>
            <a:r>
              <a:rPr lang="en-US" sz="2400" b="1" dirty="0">
                <a:effectLst>
                  <a:outerShdw blurRad="50800" dist="38100" algn="tr" rotWithShape="0">
                    <a:prstClr val="black">
                      <a:alpha val="40000"/>
                    </a:prstClr>
                  </a:outerShdw>
                </a:effectLst>
                <a:latin typeface="Times New Roman" pitchFamily="18" charset="0"/>
                <a:cs typeface="Times New Roman" pitchFamily="18" charset="0"/>
              </a:rPr>
              <a:t>size</a:t>
            </a:r>
            <a:r>
              <a:rPr lang="en-US" sz="2400" dirty="0">
                <a:effectLst>
                  <a:outerShdw blurRad="50800" dist="38100" algn="tr" rotWithShape="0">
                    <a:prstClr val="black">
                      <a:alpha val="40000"/>
                    </a:prstClr>
                  </a:outerShdw>
                </a:effectLst>
                <a:latin typeface="Times New Roman" pitchFamily="18" charset="0"/>
                <a:cs typeface="Times New Roman" pitchFamily="18" charset="0"/>
              </a:rPr>
              <a:t> and </a:t>
            </a:r>
            <a:r>
              <a:rPr lang="en-US" sz="2400" b="1" dirty="0">
                <a:effectLst>
                  <a:outerShdw blurRad="50800" dist="38100" algn="tr" rotWithShape="0">
                    <a:prstClr val="black">
                      <a:alpha val="40000"/>
                    </a:prstClr>
                  </a:outerShdw>
                </a:effectLst>
                <a:latin typeface="Times New Roman" pitchFamily="18" charset="0"/>
                <a:cs typeface="Times New Roman" pitchFamily="18" charset="0"/>
              </a:rPr>
              <a:t>scope</a:t>
            </a:r>
            <a:r>
              <a:rPr lang="en-US" sz="2400" dirty="0">
                <a:effectLst>
                  <a:outerShdw blurRad="50800" dist="38100" algn="tr" rotWithShape="0">
                    <a:prstClr val="black">
                      <a:alpha val="40000"/>
                    </a:prstClr>
                  </a:outerShdw>
                </a:effectLst>
                <a:latin typeface="Times New Roman" pitchFamily="18" charset="0"/>
                <a:cs typeface="Times New Roman" pitchFamily="18" charset="0"/>
              </a:rPr>
              <a:t> of the business. Key elements are:</a:t>
            </a:r>
            <a:endParaRPr lang="en-US" sz="2400" dirty="0">
              <a:latin typeface="Times New Roman" pitchFamily="18" charset="0"/>
              <a:cs typeface="Times New Roman" pitchFamily="18" charset="0"/>
            </a:endParaRPr>
          </a:p>
          <a:p>
            <a:pPr marL="914400" lvl="1" indent="-457200">
              <a:spcBef>
                <a:spcPts val="1800"/>
              </a:spcBef>
              <a:buFont typeface="Wingdings" pitchFamily="2" charset="2"/>
              <a:buChar char="ü"/>
              <a:defRPr/>
            </a:pPr>
            <a:r>
              <a:rPr lang="en-US" dirty="0">
                <a:effectLst>
                  <a:outerShdw blurRad="50800" dist="38100" algn="tr" rotWithShape="0">
                    <a:prstClr val="black">
                      <a:alpha val="40000"/>
                    </a:prstClr>
                  </a:outerShdw>
                </a:effectLst>
                <a:latin typeface="Times New Roman" pitchFamily="18" charset="0"/>
                <a:cs typeface="Times New Roman" pitchFamily="18" charset="0"/>
              </a:rPr>
              <a:t>Product(s) or service(s),</a:t>
            </a:r>
            <a:endParaRPr lang="en-US" dirty="0">
              <a:latin typeface="Times New Roman" pitchFamily="18" charset="0"/>
              <a:cs typeface="Times New Roman" pitchFamily="18" charset="0"/>
            </a:endParaRPr>
          </a:p>
          <a:p>
            <a:pPr marL="914400" lvl="1" indent="-457200">
              <a:buFont typeface="Wingdings" pitchFamily="2" charset="2"/>
              <a:buChar char="ü"/>
              <a:defRPr/>
            </a:pPr>
            <a:r>
              <a:rPr lang="en-US" dirty="0">
                <a:effectLst>
                  <a:outerShdw blurRad="50800" dist="38100" algn="tr" rotWithShape="0">
                    <a:prstClr val="black">
                      <a:alpha val="40000"/>
                    </a:prstClr>
                  </a:outerShdw>
                </a:effectLst>
                <a:latin typeface="Times New Roman" pitchFamily="18" charset="0"/>
                <a:cs typeface="Times New Roman" pitchFamily="18" charset="0"/>
              </a:rPr>
              <a:t>Location and size of the business, </a:t>
            </a:r>
            <a:endParaRPr lang="en-US" dirty="0">
              <a:latin typeface="Times New Roman" pitchFamily="18" charset="0"/>
              <a:cs typeface="Times New Roman" pitchFamily="18" charset="0"/>
            </a:endParaRPr>
          </a:p>
          <a:p>
            <a:pPr marL="914400" lvl="1" indent="-457200">
              <a:buFont typeface="Wingdings" pitchFamily="2" charset="2"/>
              <a:buChar char="ü"/>
              <a:defRPr/>
            </a:pPr>
            <a:r>
              <a:rPr lang="en-US" dirty="0">
                <a:effectLst>
                  <a:outerShdw blurRad="50800" dist="38100" algn="tr" rotWithShape="0">
                    <a:prstClr val="black">
                      <a:alpha val="40000"/>
                    </a:prstClr>
                  </a:outerShdw>
                </a:effectLst>
                <a:latin typeface="Times New Roman" pitchFamily="18" charset="0"/>
                <a:cs typeface="Times New Roman" pitchFamily="18" charset="0"/>
              </a:rPr>
              <a:t>Personnel and office equipment that will be needed, </a:t>
            </a:r>
            <a:endParaRPr lang="en-US" dirty="0">
              <a:latin typeface="Times New Roman" pitchFamily="18" charset="0"/>
              <a:cs typeface="Times New Roman" pitchFamily="18" charset="0"/>
            </a:endParaRPr>
          </a:p>
          <a:p>
            <a:pPr marL="914400" lvl="1" indent="-457200">
              <a:buFont typeface="Wingdings" pitchFamily="2" charset="2"/>
              <a:buChar char="ü"/>
              <a:defRPr/>
            </a:pPr>
            <a:r>
              <a:rPr lang="en-US" dirty="0">
                <a:effectLst>
                  <a:outerShdw blurRad="50800" dist="38100" algn="tr" rotWithShape="0">
                    <a:prstClr val="black">
                      <a:alpha val="40000"/>
                    </a:prstClr>
                  </a:outerShdw>
                </a:effectLst>
                <a:latin typeface="Times New Roman" pitchFamily="18" charset="0"/>
                <a:cs typeface="Times New Roman" pitchFamily="18" charset="0"/>
              </a:rPr>
              <a:t>Background of the entrepreneur(s), </a:t>
            </a:r>
            <a:endParaRPr lang="en-US" dirty="0">
              <a:latin typeface="Times New Roman" pitchFamily="18" charset="0"/>
              <a:cs typeface="Times New Roman" pitchFamily="18" charset="0"/>
            </a:endParaRPr>
          </a:p>
          <a:p>
            <a:pPr marL="914400" lvl="1" indent="-457200">
              <a:buFont typeface="Wingdings" pitchFamily="2" charset="2"/>
              <a:buChar char="ü"/>
              <a:defRPr/>
            </a:pPr>
            <a:r>
              <a:rPr lang="en-US" dirty="0">
                <a:effectLst>
                  <a:outerShdw blurRad="50800" dist="38100" algn="tr" rotWithShape="0">
                    <a:prstClr val="black">
                      <a:alpha val="40000"/>
                    </a:prstClr>
                  </a:outerShdw>
                </a:effectLst>
                <a:latin typeface="Times New Roman" pitchFamily="18" charset="0"/>
                <a:cs typeface="Times New Roman" pitchFamily="18" charset="0"/>
              </a:rPr>
              <a:t>History of the venture. </a:t>
            </a:r>
            <a:endParaRPr lang="en-US" dirty="0">
              <a:latin typeface="Times New Roman" pitchFamily="18" charset="0"/>
              <a:cs typeface="Times New Roman" pitchFamily="18" charset="0"/>
            </a:endParaRPr>
          </a:p>
          <a:p>
            <a:pPr algn="just" eaLnBrk="1" hangingPunct="1">
              <a:defRPr/>
            </a:pPr>
            <a:endParaRPr lang="en-US" sz="2400" dirty="0">
              <a:latin typeface="Times New Roman" pitchFamily="18" charset="0"/>
              <a:cs typeface="Times New Roman" pitchFamily="18" charset="0"/>
            </a:endParaRPr>
          </a:p>
          <a:p>
            <a:pPr algn="just" eaLnBrk="1" hangingPunct="1">
              <a:buFont typeface="Arial" panose="020B0604020202020204" pitchFamily="34" charset="0"/>
              <a:buNone/>
              <a:defRPr/>
            </a:pPr>
            <a:endParaRPr lang="en-US" sz="2400" dirty="0">
              <a:latin typeface="Times New Roman" pitchFamily="18" charset="0"/>
              <a:cs typeface="Times New Roman" pitchFamily="18" charset="0"/>
            </a:endParaRPr>
          </a:p>
        </p:txBody>
      </p:sp>
    </p:spTree>
  </p:cSld>
  <p:clrMapOvr>
    <a:masterClrMapping/>
  </p:clrMapOvr>
  <p:transition>
    <p:circl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51EC0401-CB34-4405-B1B2-28DE73B3F05D}"/>
              </a:ext>
            </a:extLst>
          </p:cNvPr>
          <p:cNvSpPr>
            <a:spLocks noGrp="1"/>
          </p:cNvSpPr>
          <p:nvPr>
            <p:ph idx="1"/>
          </p:nvPr>
        </p:nvSpPr>
        <p:spPr>
          <a:xfrm>
            <a:off x="1981200" y="457201"/>
            <a:ext cx="8229600" cy="5668963"/>
          </a:xfrm>
        </p:spPr>
        <p:txBody>
          <a:bodyPr/>
          <a:lstStyle/>
          <a:p>
            <a:pPr algn="just">
              <a:lnSpc>
                <a:spcPct val="150000"/>
              </a:lnSpc>
              <a:buFont typeface="Arial" charset="0"/>
              <a:buNone/>
              <a:defRPr/>
            </a:pPr>
            <a:r>
              <a:rPr lang="en-US" sz="2400" b="1" dirty="0">
                <a:solidFill>
                  <a:srgbClr val="FF0000"/>
                </a:solidFill>
                <a:effectLst>
                  <a:outerShdw blurRad="50800" dist="38100" algn="tr" rotWithShape="0">
                    <a:prstClr val="black">
                      <a:alpha val="40000"/>
                    </a:prstClr>
                  </a:outerShdw>
                </a:effectLst>
                <a:latin typeface="Times New Roman" pitchFamily="18" charset="0"/>
                <a:cs typeface="Times New Roman" pitchFamily="18" charset="0"/>
              </a:rPr>
              <a:t>5. Production Plan </a:t>
            </a:r>
            <a:endParaRPr lang="en-US" sz="2400" dirty="0">
              <a:solidFill>
                <a:srgbClr val="FF0000"/>
              </a:solidFill>
              <a:latin typeface="Times New Roman" pitchFamily="18" charset="0"/>
              <a:cs typeface="Times New Roman" pitchFamily="18" charset="0"/>
            </a:endParaRPr>
          </a:p>
          <a:p>
            <a:pPr algn="just">
              <a:spcBef>
                <a:spcPts val="1200"/>
              </a:spcBef>
              <a:buFont typeface="Wingdings" pitchFamily="2" charset="2"/>
              <a:buChar char="q"/>
              <a:defRPr/>
            </a:pPr>
            <a:r>
              <a:rPr lang="en-US" sz="2000" dirty="0">
                <a:effectLst>
                  <a:outerShdw blurRad="50800" dist="38100" algn="tr" rotWithShape="0">
                    <a:prstClr val="black">
                      <a:alpha val="40000"/>
                    </a:prstClr>
                  </a:outerShdw>
                </a:effectLst>
                <a:latin typeface="Times New Roman" pitchFamily="18" charset="0"/>
                <a:cs typeface="Times New Roman" pitchFamily="18" charset="0"/>
              </a:rPr>
              <a:t>If the new venture is a </a:t>
            </a:r>
            <a:r>
              <a:rPr lang="en-US" sz="2000" b="1" dirty="0">
                <a:solidFill>
                  <a:srgbClr val="0000FF"/>
                </a:solidFill>
                <a:effectLst>
                  <a:outerShdw blurRad="50800" dist="38100" algn="tr" rotWithShape="0">
                    <a:prstClr val="black">
                      <a:alpha val="40000"/>
                    </a:prstClr>
                  </a:outerShdw>
                </a:effectLst>
                <a:latin typeface="Times New Roman" pitchFamily="18" charset="0"/>
                <a:cs typeface="Times New Roman" pitchFamily="18" charset="0"/>
              </a:rPr>
              <a:t>manufacturing</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 operation, a production plan is necessary. This plan should describe the </a:t>
            </a:r>
            <a:r>
              <a:rPr lang="en-US" sz="2000" i="1" dirty="0">
                <a:effectLst>
                  <a:outerShdw blurRad="50800" dist="38100" algn="tr" rotWithShape="0">
                    <a:prstClr val="black">
                      <a:alpha val="40000"/>
                    </a:prstClr>
                  </a:outerShdw>
                </a:effectLst>
                <a:latin typeface="Times New Roman" pitchFamily="18" charset="0"/>
                <a:cs typeface="Times New Roman" pitchFamily="18" charset="0"/>
              </a:rPr>
              <a:t>complete manufacturing process</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 </a:t>
            </a:r>
            <a:endParaRPr lang="en-US" sz="2000" dirty="0">
              <a:latin typeface="Times New Roman" pitchFamily="18" charset="0"/>
              <a:cs typeface="Times New Roman" pitchFamily="18" charset="0"/>
            </a:endParaRPr>
          </a:p>
          <a:p>
            <a:pPr algn="just">
              <a:spcBef>
                <a:spcPts val="1200"/>
              </a:spcBef>
              <a:buFont typeface="Wingdings" pitchFamily="2" charset="2"/>
              <a:buChar char="q"/>
              <a:defRPr/>
            </a:pPr>
            <a:r>
              <a:rPr lang="en-US" sz="2000" dirty="0">
                <a:effectLst>
                  <a:outerShdw blurRad="50800" dist="38100" algn="tr" rotWithShape="0">
                    <a:prstClr val="black">
                      <a:alpha val="40000"/>
                    </a:prstClr>
                  </a:outerShdw>
                </a:effectLst>
                <a:latin typeface="Times New Roman" pitchFamily="18" charset="0"/>
                <a:cs typeface="Times New Roman" pitchFamily="18" charset="0"/>
              </a:rPr>
              <a:t>If some or all of the manufacturing process is to be </a:t>
            </a:r>
            <a:r>
              <a:rPr lang="en-US" sz="2000" b="1" dirty="0">
                <a:effectLst>
                  <a:outerShdw blurRad="50800" dist="38100" algn="tr" rotWithShape="0">
                    <a:prstClr val="black">
                      <a:alpha val="40000"/>
                    </a:prstClr>
                  </a:outerShdw>
                </a:effectLst>
                <a:latin typeface="Times New Roman" pitchFamily="18" charset="0"/>
                <a:cs typeface="Times New Roman" pitchFamily="18" charset="0"/>
              </a:rPr>
              <a:t>subcontracted</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 the plan should describe the subcontractor(s), including </a:t>
            </a:r>
            <a:r>
              <a:rPr lang="en-US" sz="2000" i="1" dirty="0">
                <a:effectLst>
                  <a:outerShdw blurRad="50800" dist="38100" algn="tr" rotWithShape="0">
                    <a:prstClr val="black">
                      <a:alpha val="40000"/>
                    </a:prstClr>
                  </a:outerShdw>
                </a:effectLst>
                <a:latin typeface="Times New Roman" pitchFamily="18" charset="0"/>
                <a:cs typeface="Times New Roman" pitchFamily="18" charset="0"/>
              </a:rPr>
              <a:t>location, reasons for selection, costs, </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and any contracts that have been completed.</a:t>
            </a:r>
            <a:endParaRPr lang="en-US" sz="2000" dirty="0">
              <a:latin typeface="Times New Roman" pitchFamily="18" charset="0"/>
              <a:cs typeface="Times New Roman" pitchFamily="18" charset="0"/>
            </a:endParaRPr>
          </a:p>
          <a:p>
            <a:pPr algn="just">
              <a:spcBef>
                <a:spcPts val="1200"/>
              </a:spcBef>
              <a:buFont typeface="Wingdings" pitchFamily="2" charset="2"/>
              <a:buChar char="q"/>
              <a:defRPr/>
            </a:pPr>
            <a:r>
              <a:rPr lang="en-US" sz="2000" dirty="0">
                <a:effectLst>
                  <a:outerShdw blurRad="50800" dist="38100" algn="tr" rotWithShape="0">
                    <a:prstClr val="black">
                      <a:alpha val="40000"/>
                    </a:prstClr>
                  </a:outerShdw>
                </a:effectLst>
                <a:latin typeface="Times New Roman" pitchFamily="18" charset="0"/>
                <a:cs typeface="Times New Roman" pitchFamily="18" charset="0"/>
              </a:rPr>
              <a:t>If the manufacturing is to be carried out in </a:t>
            </a:r>
            <a:r>
              <a:rPr lang="en-US" sz="2000" i="1" dirty="0">
                <a:effectLst>
                  <a:outerShdw blurRad="50800" dist="38100" algn="tr" rotWithShape="0">
                    <a:prstClr val="black">
                      <a:alpha val="40000"/>
                    </a:prstClr>
                  </a:outerShdw>
                </a:effectLst>
                <a:latin typeface="Times New Roman" pitchFamily="18" charset="0"/>
                <a:cs typeface="Times New Roman" pitchFamily="18" charset="0"/>
              </a:rPr>
              <a:t>whole or in part </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by the entrepreneur, she will need to describe the </a:t>
            </a:r>
            <a:r>
              <a:rPr lang="en-US" sz="2000" b="1" dirty="0">
                <a:effectLst>
                  <a:outerShdw blurRad="50800" dist="38100" algn="tr" rotWithShape="0">
                    <a:prstClr val="black">
                      <a:alpha val="40000"/>
                    </a:prstClr>
                  </a:outerShdw>
                </a:effectLst>
                <a:latin typeface="Times New Roman" pitchFamily="18" charset="0"/>
                <a:cs typeface="Times New Roman" pitchFamily="18" charset="0"/>
              </a:rPr>
              <a:t>physical plant lay out; </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the </a:t>
            </a:r>
            <a:r>
              <a:rPr lang="en-US" sz="2000" b="1" dirty="0">
                <a:effectLst>
                  <a:outerShdw blurRad="50800" dist="38100" algn="tr" rotWithShape="0">
                    <a:prstClr val="black">
                      <a:alpha val="40000"/>
                    </a:prstClr>
                  </a:outerShdw>
                </a:effectLst>
                <a:latin typeface="Times New Roman" pitchFamily="18" charset="0"/>
                <a:cs typeface="Times New Roman" pitchFamily="18" charset="0"/>
              </a:rPr>
              <a:t>machinery and equipment </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needed to perform the manufacturing operations; </a:t>
            </a:r>
            <a:r>
              <a:rPr lang="en-US" sz="2000" b="1" dirty="0">
                <a:effectLst>
                  <a:outerShdw blurRad="50800" dist="38100" algn="tr" rotWithShape="0">
                    <a:prstClr val="black">
                      <a:alpha val="40000"/>
                    </a:prstClr>
                  </a:outerShdw>
                </a:effectLst>
                <a:latin typeface="Times New Roman" pitchFamily="18" charset="0"/>
                <a:cs typeface="Times New Roman" pitchFamily="18" charset="0"/>
              </a:rPr>
              <a:t>raw materials </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and </a:t>
            </a:r>
            <a:r>
              <a:rPr lang="en-US" sz="2000" b="1" dirty="0">
                <a:effectLst>
                  <a:outerShdw blurRad="50800" dist="38100" algn="tr" rotWithShape="0">
                    <a:prstClr val="black">
                      <a:alpha val="40000"/>
                    </a:prstClr>
                  </a:outerShdw>
                </a:effectLst>
                <a:latin typeface="Times New Roman" pitchFamily="18" charset="0"/>
                <a:cs typeface="Times New Roman" pitchFamily="18" charset="0"/>
              </a:rPr>
              <a:t>suppliers</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 </a:t>
            </a:r>
            <a:r>
              <a:rPr lang="en-US" sz="2000" b="1" dirty="0">
                <a:effectLst>
                  <a:outerShdw blurRad="50800" dist="38100" algn="tr" rotWithShape="0">
                    <a:prstClr val="black">
                      <a:alpha val="40000"/>
                    </a:prstClr>
                  </a:outerShdw>
                </a:effectLst>
                <a:latin typeface="Times New Roman" pitchFamily="18" charset="0"/>
                <a:cs typeface="Times New Roman" pitchFamily="18" charset="0"/>
              </a:rPr>
              <a:t>names</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 </a:t>
            </a:r>
            <a:r>
              <a:rPr lang="en-US" sz="2000" b="1" dirty="0">
                <a:effectLst>
                  <a:outerShdw blurRad="50800" dist="38100" algn="tr" rotWithShape="0">
                    <a:prstClr val="black">
                      <a:alpha val="40000"/>
                    </a:prstClr>
                  </a:outerShdw>
                </a:effectLst>
                <a:latin typeface="Times New Roman" pitchFamily="18" charset="0"/>
                <a:cs typeface="Times New Roman" pitchFamily="18" charset="0"/>
              </a:rPr>
              <a:t>addresses</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 and </a:t>
            </a:r>
            <a:r>
              <a:rPr lang="en-US" sz="2000" b="1" dirty="0">
                <a:effectLst>
                  <a:outerShdw blurRad="50800" dist="38100" algn="tr" rotWithShape="0">
                    <a:prstClr val="black">
                      <a:alpha val="40000"/>
                    </a:prstClr>
                  </a:outerShdw>
                </a:effectLst>
                <a:latin typeface="Times New Roman" pitchFamily="18" charset="0"/>
                <a:cs typeface="Times New Roman" pitchFamily="18" charset="0"/>
              </a:rPr>
              <a:t>terms</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 </a:t>
            </a:r>
            <a:r>
              <a:rPr lang="en-US" sz="2000" b="1" dirty="0">
                <a:effectLst>
                  <a:outerShdw blurRad="50800" dist="38100" algn="tr" rotWithShape="0">
                    <a:prstClr val="black">
                      <a:alpha val="40000"/>
                    </a:prstClr>
                  </a:outerShdw>
                </a:effectLst>
                <a:latin typeface="Times New Roman" pitchFamily="18" charset="0"/>
                <a:cs typeface="Times New Roman" pitchFamily="18" charset="0"/>
              </a:rPr>
              <a:t>costs</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 of manufacturing; and any further capital equipment needs. </a:t>
            </a:r>
          </a:p>
          <a:p>
            <a:pPr algn="just">
              <a:spcBef>
                <a:spcPts val="1200"/>
              </a:spcBef>
              <a:buFont typeface="Wingdings" pitchFamily="2" charset="2"/>
              <a:buChar char="q"/>
              <a:defRPr/>
            </a:pPr>
            <a:r>
              <a:rPr lang="en-US" sz="2000" dirty="0">
                <a:effectLst>
                  <a:outerShdw blurRad="50800" dist="38100" algn="tr" rotWithShape="0">
                    <a:prstClr val="black">
                      <a:alpha val="40000"/>
                    </a:prstClr>
                  </a:outerShdw>
                </a:effectLst>
                <a:latin typeface="Times New Roman" pitchFamily="18" charset="0"/>
                <a:cs typeface="Times New Roman" pitchFamily="18" charset="0"/>
              </a:rPr>
              <a:t>If the venture is not a manufacturing operation but a </a:t>
            </a:r>
            <a:r>
              <a:rPr lang="en-US" sz="2000" b="1" dirty="0">
                <a:effectLst>
                  <a:outerShdw blurRad="50800" dist="38100" algn="tr" rotWithShape="0">
                    <a:prstClr val="black">
                      <a:alpha val="40000"/>
                    </a:prstClr>
                  </a:outerShdw>
                </a:effectLst>
                <a:latin typeface="Times New Roman" pitchFamily="18" charset="0"/>
                <a:cs typeface="Times New Roman" pitchFamily="18" charset="0"/>
              </a:rPr>
              <a:t>retail store or service</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 this section would be titled “</a:t>
            </a:r>
            <a:r>
              <a:rPr lang="en-US" sz="2000" i="1" dirty="0">
                <a:solidFill>
                  <a:srgbClr val="6600CC"/>
                </a:solidFill>
                <a:effectLst>
                  <a:outerShdw blurRad="50800" dist="38100" algn="tr" rotWithShape="0">
                    <a:prstClr val="black">
                      <a:alpha val="40000"/>
                    </a:prstClr>
                  </a:outerShdw>
                </a:effectLst>
                <a:latin typeface="Times New Roman" pitchFamily="18" charset="0"/>
                <a:cs typeface="Times New Roman" pitchFamily="18" charset="0"/>
              </a:rPr>
              <a:t>merchandising plan” </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and </a:t>
            </a:r>
            <a:r>
              <a:rPr lang="en-US" sz="2000" b="1" dirty="0">
                <a:effectLst>
                  <a:outerShdw blurRad="50800" dist="38100" algn="tr" rotWithShape="0">
                    <a:prstClr val="black">
                      <a:alpha val="40000"/>
                    </a:prstClr>
                  </a:outerShdw>
                </a:effectLst>
                <a:latin typeface="Times New Roman" pitchFamily="18" charset="0"/>
                <a:cs typeface="Times New Roman" pitchFamily="18" charset="0"/>
              </a:rPr>
              <a:t>purchase</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 of merchandise, </a:t>
            </a:r>
            <a:r>
              <a:rPr lang="en-US" sz="2000" b="1" dirty="0">
                <a:effectLst>
                  <a:outerShdw blurRad="50800" dist="38100" algn="tr" rotWithShape="0">
                    <a:prstClr val="black">
                      <a:alpha val="40000"/>
                    </a:prstClr>
                  </a:outerShdw>
                </a:effectLst>
                <a:latin typeface="Times New Roman" pitchFamily="18" charset="0"/>
                <a:cs typeface="Times New Roman" pitchFamily="18" charset="0"/>
              </a:rPr>
              <a:t>inventory</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 control system, and </a:t>
            </a:r>
            <a:r>
              <a:rPr lang="en-US" sz="2000" b="1" dirty="0">
                <a:effectLst>
                  <a:outerShdw blurRad="50800" dist="38100" algn="tr" rotWithShape="0">
                    <a:prstClr val="black">
                      <a:alpha val="40000"/>
                    </a:prstClr>
                  </a:outerShdw>
                </a:effectLst>
                <a:latin typeface="Times New Roman" pitchFamily="18" charset="0"/>
                <a:cs typeface="Times New Roman" pitchFamily="18" charset="0"/>
              </a:rPr>
              <a:t>storage</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 needs should be described</a:t>
            </a:r>
            <a:endParaRPr lang="en-US" sz="2000" dirty="0">
              <a:latin typeface="Times New Roman" pitchFamily="18" charset="0"/>
              <a:cs typeface="Times New Roman" pitchFamily="18" charset="0"/>
            </a:endParaRPr>
          </a:p>
          <a:p>
            <a:pPr algn="just">
              <a:buFont typeface="Arial" charset="0"/>
              <a:buChar char="•"/>
              <a:defRPr/>
            </a:pPr>
            <a:endParaRPr lang="en-US" sz="2000" dirty="0">
              <a:latin typeface="Times New Roman" pitchFamily="18" charset="0"/>
              <a:cs typeface="Times New Roman" pitchFamily="18" charset="0"/>
            </a:endParaRPr>
          </a:p>
        </p:txBody>
      </p:sp>
    </p:spTree>
  </p:cSld>
  <p:clrMapOvr>
    <a:masterClrMapping/>
  </p:clrMapOvr>
  <p:transition>
    <p:circl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982789-BB00-4421-A52A-50C6DD39BB24}"/>
              </a:ext>
            </a:extLst>
          </p:cNvPr>
          <p:cNvSpPr>
            <a:spLocks noGrp="1"/>
          </p:cNvSpPr>
          <p:nvPr>
            <p:ph idx="1"/>
          </p:nvPr>
        </p:nvSpPr>
        <p:spPr>
          <a:xfrm>
            <a:off x="1905000" y="533400"/>
            <a:ext cx="8458200" cy="5791200"/>
          </a:xfrm>
        </p:spPr>
        <p:txBody>
          <a:bodyPr/>
          <a:lstStyle/>
          <a:p>
            <a:pPr algn="just">
              <a:lnSpc>
                <a:spcPct val="150000"/>
              </a:lnSpc>
              <a:buFont typeface="Arial" charset="0"/>
              <a:buNone/>
              <a:defRPr/>
            </a:pPr>
            <a:r>
              <a:rPr lang="en-US" sz="2500" b="1" dirty="0">
                <a:solidFill>
                  <a:srgbClr val="0079A4"/>
                </a:solidFill>
                <a:effectLst>
                  <a:outerShdw blurRad="50800" dist="38100" algn="tr" rotWithShape="0">
                    <a:prstClr val="black">
                      <a:alpha val="40000"/>
                    </a:prstClr>
                  </a:outerShdw>
                </a:effectLst>
                <a:latin typeface="Times New Roman" pitchFamily="18" charset="0"/>
                <a:cs typeface="Times New Roman" pitchFamily="18" charset="0"/>
              </a:rPr>
              <a:t>6. Marketing Plan   </a:t>
            </a:r>
            <a:endParaRPr lang="en-US" sz="2500" dirty="0">
              <a:solidFill>
                <a:srgbClr val="0079A4"/>
              </a:solidFill>
              <a:latin typeface="Times New Roman" pitchFamily="18" charset="0"/>
              <a:cs typeface="Times New Roman" pitchFamily="18" charset="0"/>
            </a:endParaRPr>
          </a:p>
          <a:p>
            <a:pPr algn="just">
              <a:spcBef>
                <a:spcPts val="1200"/>
              </a:spcBef>
              <a:buBlip>
                <a:blip r:embed="rId2"/>
              </a:buBlip>
              <a:defRPr/>
            </a:pPr>
            <a:r>
              <a:rPr lang="en-US" sz="2400" dirty="0">
                <a:effectLst>
                  <a:outerShdw blurRad="50800" dist="38100" algn="tr" rotWithShape="0">
                    <a:prstClr val="black">
                      <a:alpha val="40000"/>
                    </a:prstClr>
                  </a:outerShdw>
                </a:effectLst>
                <a:latin typeface="Times New Roman" pitchFamily="18" charset="0"/>
                <a:cs typeface="Times New Roman" pitchFamily="18" charset="0"/>
              </a:rPr>
              <a:t>The marketing plan is an important part of the business plan since it describes </a:t>
            </a:r>
            <a:r>
              <a:rPr lang="en-US" sz="2400" dirty="0">
                <a:solidFill>
                  <a:srgbClr val="FF0000"/>
                </a:solidFill>
                <a:effectLst>
                  <a:outerShdw blurRad="50800" dist="38100" algn="tr" rotWithShape="0">
                    <a:prstClr val="black">
                      <a:alpha val="40000"/>
                    </a:prstClr>
                  </a:outerShdw>
                </a:effectLst>
                <a:latin typeface="Times New Roman" pitchFamily="18" charset="0"/>
                <a:cs typeface="Times New Roman" pitchFamily="18" charset="0"/>
              </a:rPr>
              <a:t>how the product(s) or service(s) will be priced, promoted and distributed. </a:t>
            </a:r>
          </a:p>
          <a:p>
            <a:pPr algn="just">
              <a:spcBef>
                <a:spcPts val="1200"/>
              </a:spcBef>
              <a:buBlip>
                <a:blip r:embed="rId2"/>
              </a:buBlip>
              <a:defRPr/>
            </a:pPr>
            <a:r>
              <a:rPr lang="en-US" sz="2400" dirty="0">
                <a:effectLst>
                  <a:outerShdw blurRad="50800" dist="38100" algn="tr" rotWithShape="0">
                    <a:prstClr val="black">
                      <a:alpha val="40000"/>
                    </a:prstClr>
                  </a:outerShdw>
                </a:effectLst>
                <a:latin typeface="Times New Roman" pitchFamily="18" charset="0"/>
                <a:cs typeface="Times New Roman" pitchFamily="18" charset="0"/>
              </a:rPr>
              <a:t>Classification of customers, buying decisions and benefits to customers have to be addressed.</a:t>
            </a:r>
          </a:p>
          <a:p>
            <a:pPr algn="just">
              <a:buFont typeface="Arial" charset="0"/>
              <a:buBlip>
                <a:blip r:embed="rId2"/>
              </a:buBlip>
              <a:defRPr/>
            </a:pPr>
            <a:r>
              <a:rPr lang="en-US" sz="2400" dirty="0">
                <a:effectLst>
                  <a:outerShdw blurRad="50800" dist="38100" algn="tr" rotWithShape="0">
                    <a:prstClr val="black">
                      <a:alpha val="40000"/>
                    </a:prstClr>
                  </a:outerShdw>
                </a:effectLst>
                <a:latin typeface="Times New Roman" pitchFamily="18" charset="0"/>
                <a:cs typeface="Times New Roman" pitchFamily="18" charset="0"/>
              </a:rPr>
              <a:t>Specific </a:t>
            </a:r>
            <a:r>
              <a:rPr lang="en-US" sz="2400" b="1" dirty="0">
                <a:effectLst>
                  <a:outerShdw blurRad="50800" dist="38100" algn="tr" rotWithShape="0">
                    <a:prstClr val="black">
                      <a:alpha val="40000"/>
                    </a:prstClr>
                  </a:outerShdw>
                </a:effectLst>
                <a:latin typeface="Times New Roman" pitchFamily="18" charset="0"/>
                <a:cs typeface="Times New Roman" pitchFamily="18" charset="0"/>
              </a:rPr>
              <a:t>forecasts</a:t>
            </a:r>
            <a:r>
              <a:rPr lang="en-US" sz="2400" dirty="0">
                <a:effectLst>
                  <a:outerShdw blurRad="50800" dist="38100" algn="tr" rotWithShape="0">
                    <a:prstClr val="black">
                      <a:alpha val="40000"/>
                    </a:prstClr>
                  </a:outerShdw>
                </a:effectLst>
                <a:latin typeface="Times New Roman" pitchFamily="18" charset="0"/>
                <a:cs typeface="Times New Roman" pitchFamily="18" charset="0"/>
              </a:rPr>
              <a:t> for product(s) or service(s) are indicated in order to project profitability of the venture. </a:t>
            </a:r>
          </a:p>
          <a:p>
            <a:pPr algn="just">
              <a:buFont typeface="Arial" charset="0"/>
              <a:buBlip>
                <a:blip r:embed="rId2"/>
              </a:buBlip>
              <a:defRPr/>
            </a:pPr>
            <a:r>
              <a:rPr lang="en-US" sz="2400" dirty="0">
                <a:effectLst>
                  <a:outerShdw blurRad="50800" dist="38100" algn="tr" rotWithShape="0">
                    <a:prstClr val="black">
                      <a:alpha val="40000"/>
                    </a:prstClr>
                  </a:outerShdw>
                </a:effectLst>
                <a:latin typeface="Times New Roman" pitchFamily="18" charset="0"/>
                <a:cs typeface="Times New Roman" pitchFamily="18" charset="0"/>
              </a:rPr>
              <a:t>The </a:t>
            </a:r>
            <a:r>
              <a:rPr lang="en-US" sz="2400" b="1" dirty="0">
                <a:effectLst>
                  <a:outerShdw blurRad="50800" dist="38100" algn="tr" rotWithShape="0">
                    <a:prstClr val="black">
                      <a:alpha val="40000"/>
                    </a:prstClr>
                  </a:outerShdw>
                </a:effectLst>
                <a:latin typeface="Times New Roman" pitchFamily="18" charset="0"/>
                <a:cs typeface="Times New Roman" pitchFamily="18" charset="0"/>
              </a:rPr>
              <a:t>budget</a:t>
            </a:r>
            <a:r>
              <a:rPr lang="en-US" sz="2400" dirty="0">
                <a:effectLst>
                  <a:outerShdw blurRad="50800" dist="38100" algn="tr" rotWithShape="0">
                    <a:prstClr val="black">
                      <a:alpha val="40000"/>
                    </a:prstClr>
                  </a:outerShdw>
                </a:effectLst>
                <a:latin typeface="Times New Roman" pitchFamily="18" charset="0"/>
                <a:cs typeface="Times New Roman" pitchFamily="18" charset="0"/>
              </a:rPr>
              <a:t> and appropriate </a:t>
            </a:r>
            <a:r>
              <a:rPr lang="en-US" sz="2400" b="1" dirty="0">
                <a:effectLst>
                  <a:outerShdw blurRad="50800" dist="38100" algn="tr" rotWithShape="0">
                    <a:prstClr val="black">
                      <a:alpha val="40000"/>
                    </a:prstClr>
                  </a:outerShdw>
                </a:effectLst>
                <a:latin typeface="Times New Roman" pitchFamily="18" charset="0"/>
                <a:cs typeface="Times New Roman" pitchFamily="18" charset="0"/>
              </a:rPr>
              <a:t>controls</a:t>
            </a:r>
            <a:r>
              <a:rPr lang="en-US" sz="2400" dirty="0">
                <a:effectLst>
                  <a:outerShdw blurRad="50800" dist="38100" algn="tr" rotWithShape="0">
                    <a:prstClr val="black">
                      <a:alpha val="40000"/>
                    </a:prstClr>
                  </a:outerShdw>
                </a:effectLst>
                <a:latin typeface="Times New Roman" pitchFamily="18" charset="0"/>
                <a:cs typeface="Times New Roman" pitchFamily="18" charset="0"/>
              </a:rPr>
              <a:t> needed for marketing strategy decision should be discussed. </a:t>
            </a:r>
            <a:endParaRPr lang="en-US" sz="2400" dirty="0">
              <a:latin typeface="Times New Roman" pitchFamily="18" charset="0"/>
              <a:cs typeface="Times New Roman" pitchFamily="18" charset="0"/>
            </a:endParaRPr>
          </a:p>
          <a:p>
            <a:pPr algn="just">
              <a:buFont typeface="Arial" charset="0"/>
              <a:buChar char="•"/>
              <a:defRPr/>
            </a:pPr>
            <a:endParaRPr lang="en-US" sz="2400" dirty="0">
              <a:latin typeface="Times New Roman" pitchFamily="18" charset="0"/>
              <a:cs typeface="Times New Roman"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586B322B-266E-42DE-BB05-CC0EA0CB0241}"/>
              </a:ext>
            </a:extLst>
          </p:cNvPr>
          <p:cNvSpPr>
            <a:spLocks noGrp="1"/>
          </p:cNvSpPr>
          <p:nvPr>
            <p:ph idx="1"/>
          </p:nvPr>
        </p:nvSpPr>
        <p:spPr>
          <a:xfrm>
            <a:off x="2057400" y="457200"/>
            <a:ext cx="8229600" cy="6019800"/>
          </a:xfrm>
        </p:spPr>
        <p:txBody>
          <a:bodyPr/>
          <a:lstStyle/>
          <a:p>
            <a:pPr algn="just">
              <a:lnSpc>
                <a:spcPct val="150000"/>
              </a:lnSpc>
              <a:buFont typeface="Arial" charset="0"/>
              <a:buNone/>
              <a:defRPr/>
            </a:pPr>
            <a:r>
              <a:rPr lang="en-US" sz="2400" b="1" dirty="0">
                <a:effectLst>
                  <a:outerShdw blurRad="50800" dist="38100" algn="tr" rotWithShape="0">
                    <a:prstClr val="black">
                      <a:alpha val="40000"/>
                    </a:prstClr>
                  </a:outerShdw>
                </a:effectLst>
                <a:latin typeface="Times New Roman" pitchFamily="18" charset="0"/>
                <a:cs typeface="Times New Roman" pitchFamily="18" charset="0"/>
              </a:rPr>
              <a:t>7. Organizational Plan </a:t>
            </a:r>
            <a:endParaRPr lang="en-US" sz="2400" dirty="0">
              <a:latin typeface="Times New Roman" pitchFamily="18" charset="0"/>
              <a:cs typeface="Times New Roman" pitchFamily="18" charset="0"/>
            </a:endParaRPr>
          </a:p>
          <a:p>
            <a:pPr marL="457200" indent="-457200" algn="just">
              <a:spcBef>
                <a:spcPts val="1800"/>
              </a:spcBef>
              <a:buBlip>
                <a:blip r:embed="rId2"/>
              </a:buBlip>
              <a:defRPr/>
            </a:pPr>
            <a:r>
              <a:rPr lang="en-US" sz="2200" dirty="0">
                <a:effectLst>
                  <a:outerShdw blurRad="50800" dist="38100" algn="tr" rotWithShape="0">
                    <a:prstClr val="black">
                      <a:alpha val="40000"/>
                    </a:prstClr>
                  </a:outerShdw>
                </a:effectLst>
                <a:latin typeface="Times New Roman" pitchFamily="18" charset="0"/>
                <a:cs typeface="Times New Roman" pitchFamily="18" charset="0"/>
              </a:rPr>
              <a:t>The organizational plan describes the venture’s </a:t>
            </a:r>
            <a:r>
              <a:rPr lang="en-US" sz="2200" b="1" i="1" dirty="0">
                <a:effectLst>
                  <a:outerShdw blurRad="50800" dist="38100" algn="tr" rotWithShape="0">
                    <a:prstClr val="black">
                      <a:alpha val="40000"/>
                    </a:prstClr>
                  </a:outerShdw>
                </a:effectLst>
                <a:latin typeface="Times New Roman" pitchFamily="18" charset="0"/>
                <a:cs typeface="Times New Roman" pitchFamily="18" charset="0"/>
              </a:rPr>
              <a:t>form of ownership</a:t>
            </a:r>
            <a:r>
              <a:rPr lang="en-US" sz="2200" dirty="0">
                <a:effectLst>
                  <a:outerShdw blurRad="50800" dist="38100" algn="tr" rotWithShape="0">
                    <a:prstClr val="black">
                      <a:alpha val="40000"/>
                    </a:prstClr>
                  </a:outerShdw>
                </a:effectLst>
                <a:latin typeface="Times New Roman" pitchFamily="18" charset="0"/>
                <a:cs typeface="Times New Roman" pitchFamily="18" charset="0"/>
              </a:rPr>
              <a:t>-that is, proprietorship, partnership, or corporation. </a:t>
            </a:r>
            <a:endParaRPr lang="en-US" sz="2200" dirty="0">
              <a:latin typeface="Times New Roman" pitchFamily="18" charset="0"/>
              <a:cs typeface="Times New Roman" pitchFamily="18" charset="0"/>
            </a:endParaRPr>
          </a:p>
          <a:p>
            <a:pPr marL="457200" indent="-457200" algn="just">
              <a:spcBef>
                <a:spcPts val="1200"/>
              </a:spcBef>
              <a:buBlip>
                <a:blip r:embed="rId2"/>
              </a:buBlip>
              <a:defRPr/>
            </a:pPr>
            <a:r>
              <a:rPr lang="en-US" sz="2200" dirty="0">
                <a:effectLst>
                  <a:outerShdw blurRad="50800" dist="38100" algn="tr" rotWithShape="0">
                    <a:prstClr val="black">
                      <a:alpha val="40000"/>
                    </a:prstClr>
                  </a:outerShdw>
                </a:effectLst>
                <a:latin typeface="Times New Roman" pitchFamily="18" charset="0"/>
                <a:cs typeface="Times New Roman" pitchFamily="18" charset="0"/>
              </a:rPr>
              <a:t>For instance, if the venture is a partnership, the terms of the partnership should be included. If the venture is a corporation, it is important to detail the shares of stock authorized, share options, names and addresses and resumes of the directors and officers of the corporation. </a:t>
            </a:r>
            <a:endParaRPr lang="en-US" sz="2200" dirty="0">
              <a:latin typeface="Times New Roman" pitchFamily="18" charset="0"/>
              <a:cs typeface="Times New Roman" pitchFamily="18" charset="0"/>
            </a:endParaRPr>
          </a:p>
          <a:p>
            <a:pPr marL="457200" indent="-457200" algn="just">
              <a:spcBef>
                <a:spcPts val="1200"/>
              </a:spcBef>
              <a:buBlip>
                <a:blip r:embed="rId2"/>
              </a:buBlip>
              <a:defRPr/>
            </a:pPr>
            <a:r>
              <a:rPr lang="en-US" sz="2200" dirty="0">
                <a:effectLst>
                  <a:outerShdw blurRad="50800" dist="38100" algn="tr" rotWithShape="0">
                    <a:prstClr val="black">
                      <a:alpha val="40000"/>
                    </a:prstClr>
                  </a:outerShdw>
                </a:effectLst>
                <a:latin typeface="Times New Roman" pitchFamily="18" charset="0"/>
                <a:cs typeface="Times New Roman" pitchFamily="18" charset="0"/>
              </a:rPr>
              <a:t>It is also helpful to provide an </a:t>
            </a:r>
            <a:r>
              <a:rPr lang="en-US" sz="2200" b="1" i="1" dirty="0">
                <a:effectLst>
                  <a:outerShdw blurRad="50800" dist="38100" algn="tr" rotWithShape="0">
                    <a:prstClr val="black">
                      <a:alpha val="40000"/>
                    </a:prstClr>
                  </a:outerShdw>
                </a:effectLst>
                <a:latin typeface="Times New Roman" pitchFamily="18" charset="0"/>
                <a:cs typeface="Times New Roman" pitchFamily="18" charset="0"/>
              </a:rPr>
              <a:t>organization chart </a:t>
            </a:r>
            <a:r>
              <a:rPr lang="en-US" sz="2200" dirty="0">
                <a:effectLst>
                  <a:outerShdw blurRad="50800" dist="38100" algn="tr" rotWithShape="0">
                    <a:prstClr val="black">
                      <a:alpha val="40000"/>
                    </a:prstClr>
                  </a:outerShdw>
                </a:effectLst>
                <a:latin typeface="Times New Roman" pitchFamily="18" charset="0"/>
                <a:cs typeface="Times New Roman" pitchFamily="18" charset="0"/>
              </a:rPr>
              <a:t>indicating the </a:t>
            </a:r>
            <a:r>
              <a:rPr lang="en-US" sz="2200" i="1" dirty="0">
                <a:effectLst>
                  <a:outerShdw blurRad="50800" dist="38100" algn="tr" rotWithShape="0">
                    <a:prstClr val="black">
                      <a:alpha val="40000"/>
                    </a:prstClr>
                  </a:outerShdw>
                </a:effectLst>
                <a:latin typeface="Times New Roman" pitchFamily="18" charset="0"/>
                <a:cs typeface="Times New Roman" pitchFamily="18" charset="0"/>
              </a:rPr>
              <a:t>line of authority </a:t>
            </a:r>
            <a:r>
              <a:rPr lang="en-US" sz="2200" dirty="0">
                <a:effectLst>
                  <a:outerShdw blurRad="50800" dist="38100" algn="tr" rotWithShape="0">
                    <a:prstClr val="black">
                      <a:alpha val="40000"/>
                    </a:prstClr>
                  </a:outerShdw>
                </a:effectLst>
                <a:latin typeface="Times New Roman" pitchFamily="18" charset="0"/>
                <a:cs typeface="Times New Roman" pitchFamily="18" charset="0"/>
              </a:rPr>
              <a:t>and the </a:t>
            </a:r>
            <a:r>
              <a:rPr lang="en-US" sz="2200" i="1" dirty="0">
                <a:effectLst>
                  <a:outerShdw blurRad="50800" dist="38100" algn="tr" rotWithShape="0">
                    <a:prstClr val="black">
                      <a:alpha val="40000"/>
                    </a:prstClr>
                  </a:outerShdw>
                </a:effectLst>
                <a:latin typeface="Times New Roman" pitchFamily="18" charset="0"/>
                <a:cs typeface="Times New Roman" pitchFamily="18" charset="0"/>
              </a:rPr>
              <a:t>responsibilities</a:t>
            </a:r>
            <a:r>
              <a:rPr lang="en-US" sz="2200" dirty="0">
                <a:effectLst>
                  <a:outerShdw blurRad="50800" dist="38100" algn="tr" rotWithShape="0">
                    <a:prstClr val="black">
                      <a:alpha val="40000"/>
                    </a:prstClr>
                  </a:outerShdw>
                </a:effectLst>
                <a:latin typeface="Times New Roman" pitchFamily="18" charset="0"/>
                <a:cs typeface="Times New Roman" pitchFamily="18" charset="0"/>
              </a:rPr>
              <a:t> of the members of the organization. </a:t>
            </a:r>
            <a:endParaRPr lang="en-US" sz="2200" dirty="0">
              <a:latin typeface="Times New Roman" pitchFamily="18" charset="0"/>
              <a:cs typeface="Times New Roman" pitchFamily="18" charset="0"/>
            </a:endParaRPr>
          </a:p>
          <a:p>
            <a:pPr marL="514350" indent="-514350" algn="just">
              <a:buNone/>
              <a:defRPr/>
            </a:pPr>
            <a:endParaRPr lang="en-US" sz="2400" dirty="0">
              <a:effectLst>
                <a:outerShdw blurRad="50800" dist="38100" algn="tr" rotWithShape="0">
                  <a:prstClr val="black">
                    <a:alpha val="40000"/>
                  </a:prstClr>
                </a:outerShdw>
              </a:effectLst>
              <a:latin typeface="Times New Roman" pitchFamily="18" charset="0"/>
              <a:cs typeface="Times New Roman" pitchFamily="18" charset="0"/>
            </a:endParaRPr>
          </a:p>
          <a:p>
            <a:pPr marL="514350" indent="-514350" algn="just">
              <a:buNone/>
              <a:defRPr/>
            </a:pPr>
            <a:endParaRPr lang="en-US" sz="2400" dirty="0">
              <a:effectLst>
                <a:outerShdw blurRad="50800" dist="38100" algn="tr" rotWithShape="0">
                  <a:prstClr val="black">
                    <a:alpha val="40000"/>
                  </a:prstClr>
                </a:outerShdw>
              </a:effectLst>
              <a:latin typeface="Times New Roman" pitchFamily="18" charset="0"/>
              <a:cs typeface="Times New Roman" pitchFamily="18" charset="0"/>
            </a:endParaRPr>
          </a:p>
        </p:txBody>
      </p:sp>
    </p:spTree>
  </p:cSld>
  <p:clrMapOvr>
    <a:masterClrMapping/>
  </p:clrMapOvr>
  <p:transition>
    <p:pull dir="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19A0DDE5-8F8F-45ED-9D63-F540320FAA79}"/>
              </a:ext>
            </a:extLst>
          </p:cNvPr>
          <p:cNvSpPr txBox="1">
            <a:spLocks/>
          </p:cNvSpPr>
          <p:nvPr/>
        </p:nvSpPr>
        <p:spPr>
          <a:xfrm>
            <a:off x="1828800" y="609600"/>
            <a:ext cx="8534400" cy="6096000"/>
          </a:xfrm>
          <a:prstGeom prst="rect">
            <a:avLst/>
          </a:prstGeom>
        </p:spPr>
        <p:txBody>
          <a:bodyPr>
            <a:normAutofit/>
          </a:bodyPr>
          <a:lstStyle/>
          <a:p>
            <a:pPr algn="just" eaLnBrk="1" hangingPunct="1">
              <a:lnSpc>
                <a:spcPct val="150000"/>
              </a:lnSpc>
              <a:defRPr/>
            </a:pPr>
            <a:r>
              <a:rPr lang="en-US" sz="2400" b="1" dirty="0">
                <a:solidFill>
                  <a:srgbClr val="066A0B"/>
                </a:solidFill>
                <a:effectLst>
                  <a:outerShdw blurRad="50800" dist="38100" algn="tr" rotWithShape="0">
                    <a:prstClr val="black">
                      <a:alpha val="40000"/>
                    </a:prstClr>
                  </a:outerShdw>
                </a:effectLst>
                <a:latin typeface="Times New Roman" pitchFamily="18" charset="0"/>
                <a:cs typeface="Times New Roman" pitchFamily="18" charset="0"/>
              </a:rPr>
              <a:t>8. Assessment of Risk </a:t>
            </a:r>
            <a:endParaRPr lang="en-US" sz="2400" dirty="0">
              <a:solidFill>
                <a:srgbClr val="066A0B"/>
              </a:solidFill>
              <a:latin typeface="Times New Roman" pitchFamily="18" charset="0"/>
              <a:cs typeface="Times New Roman" pitchFamily="18" charset="0"/>
            </a:endParaRPr>
          </a:p>
          <a:p>
            <a:pPr marL="457200" indent="-457200" algn="just">
              <a:spcBef>
                <a:spcPts val="1800"/>
              </a:spcBef>
              <a:buFont typeface="Wingdings" pitchFamily="2" charset="2"/>
              <a:buChar char="Ø"/>
              <a:defRPr/>
            </a:pPr>
            <a:r>
              <a:rPr lang="en-US" sz="2200" dirty="0">
                <a:effectLst>
                  <a:outerShdw blurRad="50800" dist="38100" algn="tr" rotWithShape="0">
                    <a:prstClr val="black">
                      <a:alpha val="40000"/>
                    </a:prstClr>
                  </a:outerShdw>
                </a:effectLst>
                <a:latin typeface="Times New Roman" pitchFamily="18" charset="0"/>
                <a:cs typeface="Times New Roman" pitchFamily="18" charset="0"/>
              </a:rPr>
              <a:t>Every new venture will be faced with some potential hazards, given the particular industry and </a:t>
            </a:r>
            <a:r>
              <a:rPr lang="en-US" sz="2200" i="1" dirty="0">
                <a:effectLst>
                  <a:outerShdw blurRad="50800" dist="38100" algn="tr" rotWithShape="0">
                    <a:prstClr val="black">
                      <a:alpha val="40000"/>
                    </a:prstClr>
                  </a:outerShdw>
                </a:effectLst>
                <a:latin typeface="Times New Roman" pitchFamily="18" charset="0"/>
                <a:cs typeface="Times New Roman" pitchFamily="18" charset="0"/>
              </a:rPr>
              <a:t>competitive</a:t>
            </a:r>
            <a:r>
              <a:rPr lang="en-US" sz="2200" dirty="0">
                <a:effectLst>
                  <a:outerShdw blurRad="50800" dist="38100" algn="tr" rotWithShape="0">
                    <a:prstClr val="black">
                      <a:alpha val="40000"/>
                    </a:prstClr>
                  </a:outerShdw>
                </a:effectLst>
                <a:latin typeface="Times New Roman" pitchFamily="18" charset="0"/>
                <a:cs typeface="Times New Roman" pitchFamily="18" charset="0"/>
              </a:rPr>
              <a:t> environment. </a:t>
            </a:r>
          </a:p>
          <a:p>
            <a:pPr marL="457200" indent="-457200" algn="just">
              <a:spcBef>
                <a:spcPts val="1800"/>
              </a:spcBef>
              <a:buFont typeface="Wingdings" pitchFamily="2" charset="2"/>
              <a:buChar char="Ø"/>
              <a:defRPr/>
            </a:pPr>
            <a:r>
              <a:rPr lang="en-US" sz="2200" dirty="0">
                <a:effectLst>
                  <a:outerShdw blurRad="50800" dist="38100" algn="tr" rotWithShape="0">
                    <a:prstClr val="black">
                      <a:alpha val="40000"/>
                    </a:prstClr>
                  </a:outerShdw>
                </a:effectLst>
                <a:latin typeface="Times New Roman" pitchFamily="18" charset="0"/>
                <a:cs typeface="Times New Roman" pitchFamily="18" charset="0"/>
              </a:rPr>
              <a:t>It is important that the entrepreneur makes an assessment of risk and prepares can effective strategy to deal with them. </a:t>
            </a:r>
            <a:endParaRPr lang="en-US" sz="2200" dirty="0">
              <a:latin typeface="Times New Roman" pitchFamily="18" charset="0"/>
              <a:cs typeface="Times New Roman" pitchFamily="18" charset="0"/>
            </a:endParaRPr>
          </a:p>
          <a:p>
            <a:pPr marL="457200" indent="-457200" algn="just">
              <a:spcBef>
                <a:spcPts val="1200"/>
              </a:spcBef>
              <a:buFont typeface="Wingdings" pitchFamily="2" charset="2"/>
              <a:buChar char="Ø"/>
              <a:defRPr/>
            </a:pPr>
            <a:r>
              <a:rPr lang="en-US" sz="2200" dirty="0">
                <a:solidFill>
                  <a:srgbClr val="0000FF"/>
                </a:solidFill>
                <a:effectLst>
                  <a:outerShdw blurRad="50800" dist="38100" algn="tr" rotWithShape="0">
                    <a:prstClr val="black">
                      <a:alpha val="40000"/>
                    </a:prstClr>
                  </a:outerShdw>
                </a:effectLst>
                <a:latin typeface="Times New Roman" pitchFamily="18" charset="0"/>
                <a:cs typeface="Times New Roman" pitchFamily="18" charset="0"/>
              </a:rPr>
              <a:t>Major risks for a new venture could result from;</a:t>
            </a:r>
            <a:endParaRPr lang="en-US" sz="2200" dirty="0">
              <a:solidFill>
                <a:srgbClr val="0000FF"/>
              </a:solidFill>
              <a:latin typeface="Times New Roman" pitchFamily="18" charset="0"/>
              <a:cs typeface="Times New Roman" pitchFamily="18" charset="0"/>
            </a:endParaRPr>
          </a:p>
          <a:p>
            <a:pPr marL="914400" lvl="1" indent="-457200" algn="just">
              <a:spcBef>
                <a:spcPts val="600"/>
              </a:spcBef>
              <a:buFont typeface="Courier New" pitchFamily="49" charset="0"/>
              <a:buChar char="o"/>
              <a:defRPr/>
            </a:pPr>
            <a:r>
              <a:rPr lang="en-US" sz="2200" dirty="0">
                <a:solidFill>
                  <a:srgbClr val="0000FF"/>
                </a:solidFill>
                <a:effectLst>
                  <a:outerShdw blurRad="50800" dist="38100" algn="tr" rotWithShape="0">
                    <a:prstClr val="black">
                      <a:alpha val="40000"/>
                    </a:prstClr>
                  </a:outerShdw>
                </a:effectLst>
                <a:latin typeface="Times New Roman" pitchFamily="18" charset="0"/>
                <a:cs typeface="Times New Roman" pitchFamily="18" charset="0"/>
              </a:rPr>
              <a:t>Competitor’s reaction; </a:t>
            </a:r>
            <a:endParaRPr lang="en-US" sz="2200" dirty="0">
              <a:solidFill>
                <a:srgbClr val="0000FF"/>
              </a:solidFill>
              <a:latin typeface="Times New Roman" pitchFamily="18" charset="0"/>
              <a:cs typeface="Times New Roman" pitchFamily="18" charset="0"/>
            </a:endParaRPr>
          </a:p>
          <a:p>
            <a:pPr marL="914400" lvl="1" indent="-457200" algn="just">
              <a:buFont typeface="Courier New" pitchFamily="49" charset="0"/>
              <a:buChar char="o"/>
              <a:defRPr/>
            </a:pPr>
            <a:r>
              <a:rPr lang="en-US" sz="2200" dirty="0">
                <a:solidFill>
                  <a:srgbClr val="0000FF"/>
                </a:solidFill>
                <a:effectLst>
                  <a:outerShdw blurRad="50800" dist="38100" algn="tr" rotWithShape="0">
                    <a:prstClr val="black">
                      <a:alpha val="40000"/>
                    </a:prstClr>
                  </a:outerShdw>
                </a:effectLst>
                <a:latin typeface="Times New Roman" pitchFamily="18" charset="0"/>
                <a:cs typeface="Times New Roman" pitchFamily="18" charset="0"/>
              </a:rPr>
              <a:t>Weaknesses in the marketing or production, and </a:t>
            </a:r>
            <a:endParaRPr lang="en-US" sz="2200" dirty="0">
              <a:solidFill>
                <a:srgbClr val="0000FF"/>
              </a:solidFill>
              <a:latin typeface="Times New Roman" pitchFamily="18" charset="0"/>
              <a:cs typeface="Times New Roman" pitchFamily="18" charset="0"/>
            </a:endParaRPr>
          </a:p>
          <a:p>
            <a:pPr marL="914400" lvl="1" indent="-457200" algn="just">
              <a:buFont typeface="Courier New" pitchFamily="49" charset="0"/>
              <a:buChar char="o"/>
              <a:defRPr/>
            </a:pPr>
            <a:r>
              <a:rPr lang="en-US" sz="2200" dirty="0">
                <a:solidFill>
                  <a:srgbClr val="0000FF"/>
                </a:solidFill>
                <a:effectLst>
                  <a:outerShdw blurRad="50800" dist="38100" algn="tr" rotWithShape="0">
                    <a:prstClr val="black">
                      <a:alpha val="40000"/>
                    </a:prstClr>
                  </a:outerShdw>
                </a:effectLst>
                <a:latin typeface="Times New Roman" pitchFamily="18" charset="0"/>
                <a:cs typeface="Times New Roman" pitchFamily="18" charset="0"/>
              </a:rPr>
              <a:t>New advances in technology that may make the new product obsolete.</a:t>
            </a:r>
            <a:endParaRPr lang="en-US" sz="2200" dirty="0">
              <a:solidFill>
                <a:srgbClr val="0000FF"/>
              </a:solidFill>
              <a:latin typeface="Times New Roman" pitchFamily="18" charset="0"/>
              <a:cs typeface="Times New Roman" pitchFamily="18" charset="0"/>
            </a:endParaRPr>
          </a:p>
          <a:p>
            <a:pPr marL="457200" indent="-457200" algn="just">
              <a:spcBef>
                <a:spcPts val="600"/>
              </a:spcBef>
              <a:buFont typeface="Wingdings" pitchFamily="2" charset="2"/>
              <a:buChar char="Ø"/>
              <a:defRPr/>
            </a:pPr>
            <a:r>
              <a:rPr lang="en-US" sz="2200" dirty="0">
                <a:effectLst>
                  <a:outerShdw blurRad="50800" dist="38100" algn="tr" rotWithShape="0">
                    <a:prstClr val="black">
                      <a:alpha val="40000"/>
                    </a:prstClr>
                  </a:outerShdw>
                </a:effectLst>
                <a:latin typeface="Times New Roman" pitchFamily="18" charset="0"/>
                <a:cs typeface="Times New Roman" pitchFamily="18" charset="0"/>
              </a:rPr>
              <a:t>It is also useful for the entrepreneur to provide a</a:t>
            </a:r>
            <a:r>
              <a:rPr lang="en-US" sz="2200" b="1" dirty="0">
                <a:effectLst>
                  <a:outerShdw blurRad="50800" dist="38100" algn="tr" rotWithShape="0">
                    <a:prstClr val="black">
                      <a:alpha val="40000"/>
                    </a:prstClr>
                  </a:outerShdw>
                </a:effectLst>
                <a:latin typeface="Times New Roman" pitchFamily="18" charset="0"/>
                <a:cs typeface="Times New Roman" pitchFamily="18" charset="0"/>
              </a:rPr>
              <a:t>lternative strategies </a:t>
            </a:r>
            <a:r>
              <a:rPr lang="en-US" sz="2200" dirty="0">
                <a:effectLst>
                  <a:outerShdw blurRad="50800" dist="38100" algn="tr" rotWithShape="0">
                    <a:prstClr val="black">
                      <a:alpha val="40000"/>
                    </a:prstClr>
                  </a:outerShdw>
                </a:effectLst>
                <a:latin typeface="Times New Roman" pitchFamily="18" charset="0"/>
                <a:cs typeface="Times New Roman" pitchFamily="18" charset="0"/>
              </a:rPr>
              <a:t>should any of the above risk factors occur. These </a:t>
            </a:r>
            <a:r>
              <a:rPr lang="en-US" sz="2200" b="1" dirty="0">
                <a:effectLst>
                  <a:outerShdw blurRad="50800" dist="38100" algn="tr" rotWithShape="0">
                    <a:prstClr val="black">
                      <a:alpha val="40000"/>
                    </a:prstClr>
                  </a:outerShdw>
                </a:effectLst>
                <a:latin typeface="Times New Roman" pitchFamily="18" charset="0"/>
                <a:cs typeface="Times New Roman" pitchFamily="18" charset="0"/>
              </a:rPr>
              <a:t>contingency plans </a:t>
            </a:r>
            <a:r>
              <a:rPr lang="en-US" sz="2200" dirty="0">
                <a:effectLst>
                  <a:outerShdw blurRad="50800" dist="38100" algn="tr" rotWithShape="0">
                    <a:prstClr val="black">
                      <a:alpha val="40000"/>
                    </a:prstClr>
                  </a:outerShdw>
                </a:effectLst>
                <a:latin typeface="Times New Roman" pitchFamily="18" charset="0"/>
                <a:cs typeface="Times New Roman" pitchFamily="18" charset="0"/>
              </a:rPr>
              <a:t>and strategies illustrate to the potential investor that the entrepreneur is sensitive to important risks and is prepared should any occur.</a:t>
            </a:r>
            <a:endParaRPr lang="en-US" sz="2200" dirty="0">
              <a:latin typeface="Times New Roman" pitchFamily="18" charset="0"/>
              <a:cs typeface="Times New Roman" pitchFamily="18" charset="0"/>
            </a:endParaRPr>
          </a:p>
          <a:p>
            <a:pPr marL="914400" lvl="1" indent="-457200" algn="just">
              <a:spcBef>
                <a:spcPts val="600"/>
              </a:spcBef>
              <a:buFont typeface="+mj-lt"/>
              <a:buAutoNum type="alphaLcParenR"/>
              <a:defRPr/>
            </a:pPr>
            <a:endParaRPr lang="en-US" sz="2200" dirty="0">
              <a:latin typeface="Times New Roman" pitchFamily="18" charset="0"/>
              <a:cs typeface="Times New Roman" pitchFamily="18" charset="0"/>
            </a:endParaRPr>
          </a:p>
          <a:p>
            <a:pPr marL="342900" indent="-342900" algn="just">
              <a:spcBef>
                <a:spcPct val="20000"/>
              </a:spcBef>
              <a:defRPr/>
            </a:pPr>
            <a:endParaRPr lang="en-US" sz="2200" dirty="0">
              <a:latin typeface="Times New Roman" pitchFamily="18" charset="0"/>
              <a:cs typeface="Times New Roman" pitchFamily="18" charset="0"/>
            </a:endParaRPr>
          </a:p>
        </p:txBody>
      </p:sp>
    </p:spTree>
  </p:cSld>
  <p:clrMapOvr>
    <a:masterClrMapping/>
  </p:clrMapOvr>
  <p:transition>
    <p:pull dir="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DEACD6B1-C186-4372-BC87-887F43A86BFD}"/>
              </a:ext>
            </a:extLst>
          </p:cNvPr>
          <p:cNvSpPr txBox="1">
            <a:spLocks/>
          </p:cNvSpPr>
          <p:nvPr/>
        </p:nvSpPr>
        <p:spPr>
          <a:xfrm>
            <a:off x="1905000" y="457200"/>
            <a:ext cx="8382000" cy="6096000"/>
          </a:xfrm>
          <a:prstGeom prst="rect">
            <a:avLst/>
          </a:prstGeom>
        </p:spPr>
        <p:txBody>
          <a:bodyPr>
            <a:normAutofit/>
          </a:bodyPr>
          <a:lstStyle/>
          <a:p>
            <a:pPr algn="just" eaLnBrk="1" hangingPunct="1">
              <a:lnSpc>
                <a:spcPct val="150000"/>
              </a:lnSpc>
              <a:defRPr/>
            </a:pPr>
            <a:r>
              <a:rPr lang="en-US" sz="2400" b="1" dirty="0">
                <a:solidFill>
                  <a:srgbClr val="C00000"/>
                </a:solidFill>
                <a:effectLst>
                  <a:outerShdw blurRad="50800" dist="38100" algn="tr" rotWithShape="0">
                    <a:prstClr val="black">
                      <a:alpha val="40000"/>
                    </a:prstClr>
                  </a:outerShdw>
                </a:effectLst>
                <a:latin typeface="Times New Roman" pitchFamily="18" charset="0"/>
                <a:cs typeface="Times New Roman" pitchFamily="18" charset="0"/>
              </a:rPr>
              <a:t>9. Financial Plan </a:t>
            </a:r>
            <a:endParaRPr lang="en-US" sz="2400" b="1" dirty="0">
              <a:solidFill>
                <a:srgbClr val="C00000"/>
              </a:solidFill>
              <a:latin typeface="Times New Roman" pitchFamily="18" charset="0"/>
              <a:cs typeface="Times New Roman" pitchFamily="18" charset="0"/>
            </a:endParaRPr>
          </a:p>
          <a:p>
            <a:pPr algn="just">
              <a:spcBef>
                <a:spcPts val="1800"/>
              </a:spcBef>
              <a:defRPr/>
            </a:pPr>
            <a:r>
              <a:rPr lang="en-US" sz="2000" dirty="0">
                <a:effectLst>
                  <a:outerShdw blurRad="50800" dist="38100" algn="tr" rotWithShape="0">
                    <a:prstClr val="black">
                      <a:alpha val="40000"/>
                    </a:prstClr>
                  </a:outerShdw>
                </a:effectLst>
                <a:latin typeface="Times New Roman" pitchFamily="18" charset="0"/>
                <a:cs typeface="Times New Roman" pitchFamily="18" charset="0"/>
              </a:rPr>
              <a:t>It determines the potential investment commitment needed for the new venture and indicates whether the business plan is economically feasible. </a:t>
            </a:r>
            <a:endParaRPr lang="en-US" sz="2000" dirty="0">
              <a:latin typeface="Times New Roman" pitchFamily="18" charset="0"/>
              <a:cs typeface="Times New Roman" pitchFamily="18" charset="0"/>
            </a:endParaRPr>
          </a:p>
          <a:p>
            <a:pPr algn="just">
              <a:spcBef>
                <a:spcPts val="1200"/>
              </a:spcBef>
              <a:defRPr/>
            </a:pPr>
            <a:r>
              <a:rPr lang="en-US" sz="2000" dirty="0">
                <a:effectLst>
                  <a:outerShdw blurRad="50800" dist="38100" algn="tr" rotWithShape="0">
                    <a:prstClr val="black">
                      <a:alpha val="40000"/>
                    </a:prstClr>
                  </a:outerShdw>
                </a:effectLst>
                <a:latin typeface="Times New Roman" pitchFamily="18" charset="0"/>
                <a:cs typeface="Times New Roman" pitchFamily="18" charset="0"/>
              </a:rPr>
              <a:t>Generally, three financial areas are discussed in this section of the business plan. </a:t>
            </a:r>
            <a:endParaRPr lang="en-US" sz="2000" dirty="0">
              <a:latin typeface="Times New Roman" pitchFamily="18" charset="0"/>
              <a:cs typeface="Times New Roman" pitchFamily="18" charset="0"/>
            </a:endParaRPr>
          </a:p>
          <a:p>
            <a:pPr marL="457200" indent="-457200" algn="just">
              <a:spcBef>
                <a:spcPts val="600"/>
              </a:spcBef>
              <a:buFont typeface="+mj-lt"/>
              <a:buAutoNum type="arabicPeriod"/>
              <a:defRPr/>
            </a:pPr>
            <a:r>
              <a:rPr lang="en-US" sz="2000" dirty="0">
                <a:effectLst>
                  <a:outerShdw blurRad="50800" dist="38100" algn="tr" rotWithShape="0">
                    <a:prstClr val="black">
                      <a:alpha val="40000"/>
                    </a:prstClr>
                  </a:outerShdw>
                </a:effectLst>
                <a:latin typeface="Times New Roman" pitchFamily="18" charset="0"/>
                <a:cs typeface="Times New Roman" pitchFamily="18" charset="0"/>
              </a:rPr>
              <a:t>The entrepreneur should summarize the </a:t>
            </a:r>
            <a:r>
              <a:rPr lang="en-US" sz="2000" b="1" dirty="0">
                <a:effectLst>
                  <a:outerShdw blurRad="50800" dist="38100" algn="tr" rotWithShape="0">
                    <a:prstClr val="black">
                      <a:alpha val="40000"/>
                    </a:prstClr>
                  </a:outerShdw>
                </a:effectLst>
                <a:latin typeface="Times New Roman" pitchFamily="18" charset="0"/>
                <a:cs typeface="Times New Roman" pitchFamily="18" charset="0"/>
              </a:rPr>
              <a:t>forecasted sales and the appropriate expenses</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 for at least the first three years, with the first year’s projections provided monthly. It includes the forecasted sales, cost of goods sold, and the general and administrative expenses. </a:t>
            </a:r>
            <a:r>
              <a:rPr lang="en-US" sz="2000" i="1" dirty="0">
                <a:effectLst>
                  <a:outerShdw blurRad="50800" dist="38100" algn="tr" rotWithShape="0">
                    <a:prstClr val="black">
                      <a:alpha val="40000"/>
                    </a:prstClr>
                  </a:outerShdw>
                </a:effectLst>
                <a:latin typeface="Times New Roman" pitchFamily="18" charset="0"/>
                <a:cs typeface="Times New Roman" pitchFamily="18" charset="0"/>
              </a:rPr>
              <a:t>Net profit after taxes </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can then be projected by estimating income taxes.</a:t>
            </a:r>
            <a:endParaRPr lang="en-US" sz="2000" dirty="0">
              <a:latin typeface="Times New Roman" pitchFamily="18" charset="0"/>
              <a:cs typeface="Times New Roman" pitchFamily="18" charset="0"/>
            </a:endParaRPr>
          </a:p>
          <a:p>
            <a:pPr marL="457200" indent="-457200" algn="just">
              <a:spcBef>
                <a:spcPts val="1200"/>
              </a:spcBef>
              <a:buFont typeface="+mj-lt"/>
              <a:buAutoNum type="arabicPeriod"/>
              <a:defRPr/>
            </a:pPr>
            <a:r>
              <a:rPr lang="en-US" sz="2000" b="1" dirty="0">
                <a:effectLst>
                  <a:outerShdw blurRad="50800" dist="38100" algn="tr" rotWithShape="0">
                    <a:prstClr val="black">
                      <a:alpha val="40000"/>
                    </a:prstClr>
                  </a:outerShdw>
                </a:effectLst>
                <a:latin typeface="Times New Roman" pitchFamily="18" charset="0"/>
                <a:cs typeface="Times New Roman" pitchFamily="18" charset="0"/>
              </a:rPr>
              <a:t>Cash flow figures </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must be presented for at least the first three years, with the first year’s projections provided monthly. Since </a:t>
            </a:r>
            <a:r>
              <a:rPr lang="en-US" sz="2000" i="1" dirty="0">
                <a:effectLst>
                  <a:outerShdw blurRad="50800" dist="38100" algn="tr" rotWithShape="0">
                    <a:prstClr val="black">
                      <a:alpha val="40000"/>
                    </a:prstClr>
                  </a:outerShdw>
                </a:effectLst>
                <a:latin typeface="Times New Roman" pitchFamily="18" charset="0"/>
                <a:cs typeface="Times New Roman" pitchFamily="18" charset="0"/>
              </a:rPr>
              <a:t>bills</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 have to be paid at different times of the year, it is important to determine the demands on cash on a monthly basis, especially in the first year. Remember that sales may be irregular, and </a:t>
            </a:r>
            <a:r>
              <a:rPr lang="en-US" sz="2000" b="1" dirty="0">
                <a:effectLst>
                  <a:outerShdw blurRad="50800" dist="38100" algn="tr" rotWithShape="0">
                    <a:prstClr val="black">
                      <a:alpha val="40000"/>
                    </a:prstClr>
                  </a:outerShdw>
                </a:effectLst>
                <a:latin typeface="Times New Roman" pitchFamily="18" charset="0"/>
                <a:cs typeface="Times New Roman" pitchFamily="18" charset="0"/>
              </a:rPr>
              <a:t>receipts</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 from customers may also be spread out, thus necessitating the borrowing of short-term capital to met fixed expenses such as salaries. </a:t>
            </a:r>
            <a:endParaRPr lang="en-US" sz="2000" dirty="0">
              <a:latin typeface="Times New Roman" pitchFamily="18" charset="0"/>
              <a:cs typeface="Times New Roman" pitchFamily="18" charset="0"/>
            </a:endParaRPr>
          </a:p>
          <a:p>
            <a:pPr marL="457200" indent="-457200" algn="just">
              <a:spcBef>
                <a:spcPts val="600"/>
              </a:spcBef>
              <a:buFont typeface="Wingdings" pitchFamily="2" charset="2"/>
              <a:buChar char="q"/>
              <a:defRPr/>
            </a:pPr>
            <a:endParaRPr lang="en-US" sz="2000" dirty="0">
              <a:latin typeface="Times New Roman" pitchFamily="18" charset="0"/>
              <a:cs typeface="Times New Roman" pitchFamily="18" charset="0"/>
            </a:endParaRPr>
          </a:p>
          <a:p>
            <a:pPr marL="914400" lvl="1" indent="-457200" algn="just">
              <a:defRPr/>
            </a:pPr>
            <a:endParaRPr lang="en-US" dirty="0">
              <a:effectLst>
                <a:outerShdw blurRad="50800" dist="38100" algn="tr" rotWithShape="0">
                  <a:prstClr val="black">
                    <a:alpha val="40000"/>
                  </a:prstClr>
                </a:outerShdw>
              </a:effectLst>
              <a:latin typeface="Times New Roman" pitchFamily="18" charset="0"/>
              <a:cs typeface="Times New Roman" pitchFamily="18" charset="0"/>
            </a:endParaRPr>
          </a:p>
        </p:txBody>
      </p:sp>
    </p:spTree>
  </p:cSld>
  <p:clrMapOvr>
    <a:masterClrMapping/>
  </p:clrMapOvr>
  <p:transition>
    <p:pull dir="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3EE436-9D77-486E-BF1A-54395139034C}"/>
              </a:ext>
            </a:extLst>
          </p:cNvPr>
          <p:cNvSpPr>
            <a:spLocks noGrp="1"/>
          </p:cNvSpPr>
          <p:nvPr>
            <p:ph idx="1"/>
          </p:nvPr>
        </p:nvSpPr>
        <p:spPr>
          <a:xfrm>
            <a:off x="1752600" y="381000"/>
            <a:ext cx="8686800" cy="6172200"/>
          </a:xfrm>
        </p:spPr>
        <p:txBody>
          <a:bodyPr rtlCol="0">
            <a:normAutofit/>
          </a:bodyPr>
          <a:lstStyle/>
          <a:p>
            <a:pPr algn="just">
              <a:buFont typeface="Arial" charset="0"/>
              <a:buNone/>
              <a:defRPr/>
            </a:pPr>
            <a:r>
              <a:rPr lang="en-US" sz="2000" dirty="0">
                <a:effectLst>
                  <a:outerShdw blurRad="50800" dist="38100" algn="tr" rotWithShape="0">
                    <a:prstClr val="black">
                      <a:alpha val="40000"/>
                    </a:prstClr>
                  </a:outerShdw>
                </a:effectLst>
                <a:latin typeface="Times New Roman" pitchFamily="18" charset="0"/>
                <a:cs typeface="Times New Roman" pitchFamily="18" charset="0"/>
              </a:rPr>
              <a:t>3. The last financial item needed in this section of the business plan is the </a:t>
            </a:r>
            <a:r>
              <a:rPr lang="en-US" sz="2000" b="1" dirty="0">
                <a:effectLst>
                  <a:outerShdw blurRad="50800" dist="38100" algn="tr" rotWithShape="0">
                    <a:prstClr val="black">
                      <a:alpha val="40000"/>
                    </a:prstClr>
                  </a:outerShdw>
                </a:effectLst>
                <a:latin typeface="Times New Roman" pitchFamily="18" charset="0"/>
                <a:cs typeface="Times New Roman" pitchFamily="18" charset="0"/>
              </a:rPr>
              <a:t>projected balance sheet. </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This shows the financial condition of the business at a specific time. It </a:t>
            </a:r>
            <a:r>
              <a:rPr lang="en-US" sz="2000" i="1" dirty="0">
                <a:effectLst>
                  <a:outerShdw blurRad="50800" dist="38100" algn="tr" rotWithShape="0">
                    <a:prstClr val="black">
                      <a:alpha val="40000"/>
                    </a:prstClr>
                  </a:outerShdw>
                </a:effectLst>
                <a:latin typeface="Times New Roman" pitchFamily="18" charset="0"/>
                <a:cs typeface="Times New Roman" pitchFamily="18" charset="0"/>
              </a:rPr>
              <a:t>summarizes the assets of a business, its liabilities, the investment of the entrepreneur and any partners, and retained earnings or cumulative losses. </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Any assumptions considered for the balance sheet or any other item in the financial plan should be listed for the benefit of the potential investor. </a:t>
            </a:r>
          </a:p>
          <a:p>
            <a:pPr algn="just">
              <a:lnSpc>
                <a:spcPct val="150000"/>
              </a:lnSpc>
              <a:buFont typeface="Arial" charset="0"/>
              <a:buNone/>
              <a:defRPr/>
            </a:pPr>
            <a:r>
              <a:rPr lang="en-US" sz="2400" b="1" dirty="0">
                <a:solidFill>
                  <a:srgbClr val="CC0066"/>
                </a:solidFill>
                <a:effectLst>
                  <a:outerShdw blurRad="50800" dist="38100" algn="tr" rotWithShape="0">
                    <a:prstClr val="black">
                      <a:alpha val="40000"/>
                    </a:prstClr>
                  </a:outerShdw>
                </a:effectLst>
                <a:latin typeface="Times New Roman" pitchFamily="18" charset="0"/>
                <a:cs typeface="Times New Roman" pitchFamily="18" charset="0"/>
              </a:rPr>
              <a:t>10. Appendix </a:t>
            </a:r>
            <a:endParaRPr lang="en-US" sz="2400" dirty="0">
              <a:solidFill>
                <a:srgbClr val="CC0066"/>
              </a:solidFill>
              <a:latin typeface="Times New Roman" pitchFamily="18" charset="0"/>
              <a:cs typeface="Times New Roman" pitchFamily="18" charset="0"/>
            </a:endParaRPr>
          </a:p>
          <a:p>
            <a:pPr algn="just">
              <a:buFont typeface="Arial" charset="0"/>
              <a:buChar char="•"/>
              <a:defRPr/>
            </a:pPr>
            <a:r>
              <a:rPr lang="en-US" sz="2000" dirty="0">
                <a:effectLst>
                  <a:outerShdw blurRad="50800" dist="38100" algn="tr" rotWithShape="0">
                    <a:prstClr val="black">
                      <a:alpha val="40000"/>
                    </a:prstClr>
                  </a:outerShdw>
                </a:effectLst>
                <a:latin typeface="Times New Roman" pitchFamily="18" charset="0"/>
                <a:cs typeface="Times New Roman" pitchFamily="18" charset="0"/>
              </a:rPr>
              <a:t>The appendix of the business plan generally contains any </a:t>
            </a:r>
            <a:r>
              <a:rPr lang="en-US" sz="2000" b="1" dirty="0">
                <a:effectLst>
                  <a:outerShdw blurRad="50800" dist="38100" algn="tr" rotWithShape="0">
                    <a:prstClr val="black">
                      <a:alpha val="40000"/>
                    </a:prstClr>
                  </a:outerShdw>
                </a:effectLst>
                <a:latin typeface="Times New Roman" pitchFamily="18" charset="0"/>
                <a:cs typeface="Times New Roman" pitchFamily="18" charset="0"/>
              </a:rPr>
              <a:t>backup material </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that is not necessary in the text of the document. Reference to any of the documents in the appendix should be made in the plan itself. </a:t>
            </a:r>
            <a:endParaRPr lang="en-US" sz="2000" dirty="0">
              <a:latin typeface="Times New Roman" pitchFamily="18" charset="0"/>
              <a:cs typeface="Times New Roman" pitchFamily="18" charset="0"/>
            </a:endParaRPr>
          </a:p>
          <a:p>
            <a:pPr algn="just">
              <a:buFont typeface="Arial" charset="0"/>
              <a:buChar char="•"/>
              <a:defRPr/>
            </a:pPr>
            <a:r>
              <a:rPr lang="en-US" sz="2000" b="1" dirty="0">
                <a:effectLst>
                  <a:outerShdw blurRad="50800" dist="38100" algn="tr" rotWithShape="0">
                    <a:prstClr val="black">
                      <a:alpha val="40000"/>
                    </a:prstClr>
                  </a:outerShdw>
                </a:effectLst>
                <a:latin typeface="Times New Roman" pitchFamily="18" charset="0"/>
                <a:cs typeface="Times New Roman" pitchFamily="18" charset="0"/>
              </a:rPr>
              <a:t>Letters</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 from customers, distributors, or subcontractors are examples of information that should be included in the appendix. </a:t>
            </a:r>
            <a:endParaRPr lang="en-US" sz="2000" dirty="0">
              <a:latin typeface="Times New Roman" pitchFamily="18" charset="0"/>
              <a:cs typeface="Times New Roman" pitchFamily="18" charset="0"/>
            </a:endParaRPr>
          </a:p>
          <a:p>
            <a:pPr algn="just">
              <a:buFont typeface="Arial" charset="0"/>
              <a:buChar char="•"/>
              <a:defRPr/>
            </a:pPr>
            <a:r>
              <a:rPr lang="en-US" sz="2000" dirty="0">
                <a:effectLst>
                  <a:outerShdw blurRad="50800" dist="38100" algn="tr" rotWithShape="0">
                    <a:prstClr val="black">
                      <a:alpha val="40000"/>
                    </a:prstClr>
                  </a:outerShdw>
                </a:effectLst>
                <a:latin typeface="Times New Roman" pitchFamily="18" charset="0"/>
                <a:cs typeface="Times New Roman" pitchFamily="18" charset="0"/>
              </a:rPr>
              <a:t>Any </a:t>
            </a:r>
            <a:r>
              <a:rPr lang="en-US" sz="2000" b="1" dirty="0">
                <a:effectLst>
                  <a:outerShdw blurRad="50800" dist="38100" algn="tr" rotWithShape="0">
                    <a:prstClr val="black">
                      <a:alpha val="40000"/>
                    </a:prstClr>
                  </a:outerShdw>
                </a:effectLst>
                <a:latin typeface="Times New Roman" pitchFamily="18" charset="0"/>
                <a:cs typeface="Times New Roman" pitchFamily="18" charset="0"/>
              </a:rPr>
              <a:t>documentation</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 of information, that is, secondary data or primary research data used to support plan decisions, should also be included. </a:t>
            </a:r>
            <a:endParaRPr lang="en-US" sz="2000" dirty="0">
              <a:latin typeface="Times New Roman" pitchFamily="18" charset="0"/>
              <a:cs typeface="Times New Roman" pitchFamily="18" charset="0"/>
            </a:endParaRPr>
          </a:p>
          <a:p>
            <a:pPr algn="just">
              <a:buFont typeface="Arial" charset="0"/>
              <a:buChar char="•"/>
              <a:defRPr/>
            </a:pPr>
            <a:r>
              <a:rPr lang="en-US" sz="2000" b="1" dirty="0">
                <a:effectLst>
                  <a:outerShdw blurRad="50800" dist="38100" algn="tr" rotWithShape="0">
                    <a:prstClr val="black">
                      <a:alpha val="40000"/>
                    </a:prstClr>
                  </a:outerShdw>
                </a:effectLst>
                <a:latin typeface="Times New Roman" pitchFamily="18" charset="0"/>
                <a:cs typeface="Times New Roman" pitchFamily="18" charset="0"/>
              </a:rPr>
              <a:t>Leases, contacts, or any other types of agreements </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that have been initiated may also be included in the appendix. </a:t>
            </a:r>
            <a:endParaRPr lang="en-US" sz="2000" dirty="0">
              <a:latin typeface="Times New Roman" pitchFamily="18" charset="0"/>
              <a:cs typeface="Times New Roman" pitchFamily="18" charset="0"/>
            </a:endParaRPr>
          </a:p>
          <a:p>
            <a:pPr algn="just">
              <a:buFont typeface="Arial" charset="0"/>
              <a:buChar char="•"/>
              <a:defRPr/>
            </a:pPr>
            <a:r>
              <a:rPr lang="en-US" sz="2000" dirty="0">
                <a:effectLst>
                  <a:outerShdw blurRad="50800" dist="38100" algn="tr" rotWithShape="0">
                    <a:prstClr val="black">
                      <a:alpha val="40000"/>
                    </a:prstClr>
                  </a:outerShdw>
                </a:effectLst>
                <a:latin typeface="Times New Roman" pitchFamily="18" charset="0"/>
                <a:cs typeface="Times New Roman" pitchFamily="18" charset="0"/>
              </a:rPr>
              <a:t>Lastly, </a:t>
            </a:r>
            <a:r>
              <a:rPr lang="en-US" sz="2000" b="1" dirty="0">
                <a:effectLst>
                  <a:outerShdw blurRad="50800" dist="38100" algn="tr" rotWithShape="0">
                    <a:prstClr val="black">
                      <a:alpha val="40000"/>
                    </a:prstClr>
                  </a:outerShdw>
                </a:effectLst>
                <a:latin typeface="Times New Roman" pitchFamily="18" charset="0"/>
                <a:cs typeface="Times New Roman" pitchFamily="18" charset="0"/>
              </a:rPr>
              <a:t>price lists </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from suppliers and competitors may be added. </a:t>
            </a:r>
            <a:endParaRPr lang="en-US" sz="2000" dirty="0">
              <a:latin typeface="Times New Roman" pitchFamily="18" charset="0"/>
              <a:cs typeface="Times New Roman" pitchFamily="18" charset="0"/>
            </a:endParaRPr>
          </a:p>
          <a:p>
            <a:pPr algn="just">
              <a:buFont typeface="Arial" charset="0"/>
              <a:buNone/>
              <a:defRPr/>
            </a:pPr>
            <a:endParaRPr lang="en-US" sz="2000" dirty="0">
              <a:latin typeface="Times New Roman" pitchFamily="18" charset="0"/>
              <a:cs typeface="Times New Roman" pitchFamily="18" charset="0"/>
            </a:endParaRPr>
          </a:p>
        </p:txBody>
      </p:sp>
    </p:spTree>
  </p:cSld>
  <p:clrMapOvr>
    <a:masterClrMapping/>
  </p:clrMapOvr>
  <p:transition>
    <p:pull dir="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F965DF-9F57-4DAF-A704-8332E8013D6F}"/>
              </a:ext>
            </a:extLst>
          </p:cNvPr>
          <p:cNvSpPr>
            <a:spLocks noGrp="1"/>
          </p:cNvSpPr>
          <p:nvPr>
            <p:ph idx="1"/>
          </p:nvPr>
        </p:nvSpPr>
        <p:spPr>
          <a:xfrm>
            <a:off x="1905000" y="228600"/>
            <a:ext cx="8458200" cy="6248400"/>
          </a:xfrm>
        </p:spPr>
        <p:txBody>
          <a:bodyPr rtlCol="0">
            <a:normAutofit/>
          </a:bodyPr>
          <a:lstStyle/>
          <a:p>
            <a:pPr algn="ctr">
              <a:lnSpc>
                <a:spcPct val="150000"/>
              </a:lnSpc>
              <a:buFont typeface="Arial" charset="0"/>
              <a:buNone/>
              <a:defRPr/>
            </a:pPr>
            <a:r>
              <a:rPr lang="en-US" sz="2300" b="1" dirty="0">
                <a:solidFill>
                  <a:srgbClr val="C00000"/>
                </a:solidFill>
                <a:effectLst>
                  <a:outerShdw blurRad="50800" dist="38100" algn="tr" rotWithShape="0">
                    <a:prstClr val="black">
                      <a:alpha val="40000"/>
                    </a:prstClr>
                  </a:outerShdw>
                </a:effectLst>
                <a:latin typeface="Times New Roman" pitchFamily="18" charset="0"/>
                <a:cs typeface="Times New Roman" pitchFamily="18" charset="0"/>
              </a:rPr>
              <a:t>USING AND IMPLEMENTING THE BUSINESS PLAN </a:t>
            </a:r>
            <a:endParaRPr lang="en-US" sz="2300" dirty="0">
              <a:solidFill>
                <a:srgbClr val="C00000"/>
              </a:solidFill>
              <a:latin typeface="Times New Roman" pitchFamily="18" charset="0"/>
              <a:cs typeface="Times New Roman" pitchFamily="18" charset="0"/>
            </a:endParaRPr>
          </a:p>
          <a:p>
            <a:pPr algn="just">
              <a:spcBef>
                <a:spcPts val="1800"/>
              </a:spcBef>
              <a:buNone/>
              <a:defRPr/>
            </a:pPr>
            <a:r>
              <a:rPr lang="en-US" sz="2100" dirty="0">
                <a:effectLst>
                  <a:outerShdw blurRad="50800" dist="38100" algn="tr" rotWithShape="0">
                    <a:prstClr val="black">
                      <a:alpha val="40000"/>
                    </a:prstClr>
                  </a:outerShdw>
                </a:effectLst>
                <a:latin typeface="Times New Roman" pitchFamily="18" charset="0"/>
                <a:cs typeface="Times New Roman" pitchFamily="18" charset="0"/>
              </a:rPr>
              <a:t>The business plan is designed to </a:t>
            </a:r>
            <a:r>
              <a:rPr lang="en-US" sz="2100" b="1" dirty="0">
                <a:effectLst>
                  <a:outerShdw blurRad="50800" dist="38100" algn="tr" rotWithShape="0">
                    <a:prstClr val="black">
                      <a:alpha val="40000"/>
                    </a:prstClr>
                  </a:outerShdw>
                </a:effectLst>
                <a:latin typeface="Times New Roman" pitchFamily="18" charset="0"/>
                <a:cs typeface="Times New Roman" pitchFamily="18" charset="0"/>
              </a:rPr>
              <a:t>guide</a:t>
            </a:r>
            <a:r>
              <a:rPr lang="en-US" sz="2100" dirty="0">
                <a:effectLst>
                  <a:outerShdw blurRad="50800" dist="38100" algn="tr" rotWithShape="0">
                    <a:prstClr val="black">
                      <a:alpha val="40000"/>
                    </a:prstClr>
                  </a:outerShdw>
                </a:effectLst>
                <a:latin typeface="Times New Roman" pitchFamily="18" charset="0"/>
                <a:cs typeface="Times New Roman" pitchFamily="18" charset="0"/>
              </a:rPr>
              <a:t> the entrepreneur through the </a:t>
            </a:r>
            <a:r>
              <a:rPr lang="en-US" sz="2100" b="1" dirty="0">
                <a:effectLst>
                  <a:outerShdw blurRad="50800" dist="38100" algn="tr" rotWithShape="0">
                    <a:prstClr val="black">
                      <a:alpha val="40000"/>
                    </a:prstClr>
                  </a:outerShdw>
                </a:effectLst>
                <a:latin typeface="Times New Roman" pitchFamily="18" charset="0"/>
                <a:cs typeface="Times New Roman" pitchFamily="18" charset="0"/>
              </a:rPr>
              <a:t>first year of operations</a:t>
            </a:r>
            <a:r>
              <a:rPr lang="en-US" sz="2100" dirty="0">
                <a:effectLst>
                  <a:outerShdw blurRad="50800" dist="38100" algn="tr" rotWithShape="0">
                    <a:prstClr val="black">
                      <a:alpha val="40000"/>
                    </a:prstClr>
                  </a:outerShdw>
                </a:effectLst>
                <a:latin typeface="Times New Roman" pitchFamily="18" charset="0"/>
                <a:cs typeface="Times New Roman" pitchFamily="18" charset="0"/>
              </a:rPr>
              <a:t>. It is important that the implementation of the strategy contain </a:t>
            </a:r>
            <a:r>
              <a:rPr lang="en-US" sz="2100" b="1" dirty="0">
                <a:effectLst>
                  <a:outerShdw blurRad="50800" dist="38100" algn="tr" rotWithShape="0">
                    <a:prstClr val="black">
                      <a:alpha val="40000"/>
                    </a:prstClr>
                  </a:outerShdw>
                </a:effectLst>
                <a:latin typeface="Times New Roman" pitchFamily="18" charset="0"/>
                <a:cs typeface="Times New Roman" pitchFamily="18" charset="0"/>
              </a:rPr>
              <a:t>control</a:t>
            </a:r>
            <a:r>
              <a:rPr lang="en-US" sz="2100" dirty="0">
                <a:effectLst>
                  <a:outerShdw blurRad="50800" dist="38100" algn="tr" rotWithShape="0">
                    <a:prstClr val="black">
                      <a:alpha val="40000"/>
                    </a:prstClr>
                  </a:outerShdw>
                </a:effectLst>
                <a:latin typeface="Times New Roman" pitchFamily="18" charset="0"/>
                <a:cs typeface="Times New Roman" pitchFamily="18" charset="0"/>
              </a:rPr>
              <a:t> </a:t>
            </a:r>
            <a:r>
              <a:rPr lang="en-US" sz="2100" b="1" dirty="0">
                <a:effectLst>
                  <a:outerShdw blurRad="50800" dist="38100" algn="tr" rotWithShape="0">
                    <a:prstClr val="black">
                      <a:alpha val="40000"/>
                    </a:prstClr>
                  </a:outerShdw>
                </a:effectLst>
                <a:latin typeface="Times New Roman" pitchFamily="18" charset="0"/>
                <a:cs typeface="Times New Roman" pitchFamily="18" charset="0"/>
              </a:rPr>
              <a:t>points</a:t>
            </a:r>
            <a:r>
              <a:rPr lang="en-US" sz="2100" dirty="0">
                <a:effectLst>
                  <a:outerShdw blurRad="50800" dist="38100" algn="tr" rotWithShape="0">
                    <a:prstClr val="black">
                      <a:alpha val="40000"/>
                    </a:prstClr>
                  </a:outerShdw>
                </a:effectLst>
                <a:latin typeface="Times New Roman" pitchFamily="18" charset="0"/>
                <a:cs typeface="Times New Roman" pitchFamily="18" charset="0"/>
              </a:rPr>
              <a:t> to ascertain progress and to initiate contingency plans, if necessary. </a:t>
            </a:r>
            <a:endParaRPr lang="en-US" sz="2100" dirty="0">
              <a:latin typeface="Times New Roman" pitchFamily="18" charset="0"/>
              <a:cs typeface="Times New Roman" pitchFamily="18" charset="0"/>
            </a:endParaRPr>
          </a:p>
          <a:p>
            <a:pPr algn="just">
              <a:spcBef>
                <a:spcPts val="1200"/>
              </a:spcBef>
              <a:buNone/>
              <a:defRPr/>
            </a:pPr>
            <a:r>
              <a:rPr lang="en-US" sz="2100" dirty="0">
                <a:effectLst>
                  <a:outerShdw blurRad="50800" dist="38100" algn="tr" rotWithShape="0">
                    <a:prstClr val="black">
                      <a:alpha val="40000"/>
                    </a:prstClr>
                  </a:outerShdw>
                </a:effectLst>
                <a:latin typeface="Times New Roman" pitchFamily="18" charset="0"/>
                <a:cs typeface="Times New Roman" pitchFamily="18" charset="0"/>
              </a:rPr>
              <a:t>It is also important to realize that without good planning the employees will not understand the company’s goals and how they are expected to perform in their jobs. </a:t>
            </a:r>
            <a:endParaRPr lang="en-US" sz="2100" dirty="0">
              <a:latin typeface="Times New Roman" pitchFamily="18" charset="0"/>
              <a:cs typeface="Times New Roman" pitchFamily="18" charset="0"/>
            </a:endParaRPr>
          </a:p>
          <a:p>
            <a:pPr algn="just">
              <a:spcBef>
                <a:spcPts val="1200"/>
              </a:spcBef>
              <a:buNone/>
              <a:defRPr/>
            </a:pPr>
            <a:r>
              <a:rPr lang="en-US" sz="2100" dirty="0">
                <a:effectLst>
                  <a:outerShdw blurRad="50800" dist="38100" algn="tr" rotWithShape="0">
                    <a:prstClr val="black">
                      <a:alpha val="40000"/>
                    </a:prstClr>
                  </a:outerShdw>
                </a:effectLst>
                <a:latin typeface="Times New Roman" pitchFamily="18" charset="0"/>
                <a:cs typeface="Times New Roman" pitchFamily="18" charset="0"/>
              </a:rPr>
              <a:t>Many businesses fail because of the entrepreneurs’ inability to plan effectively. </a:t>
            </a:r>
            <a:endParaRPr lang="en-US" sz="2100" dirty="0">
              <a:latin typeface="Times New Roman" pitchFamily="18" charset="0"/>
              <a:cs typeface="Times New Roman" pitchFamily="18" charset="0"/>
            </a:endParaRPr>
          </a:p>
          <a:p>
            <a:pPr algn="just">
              <a:spcBef>
                <a:spcPts val="1200"/>
              </a:spcBef>
              <a:buNone/>
              <a:defRPr/>
            </a:pPr>
            <a:r>
              <a:rPr lang="en-US" sz="2100" dirty="0">
                <a:effectLst>
                  <a:outerShdw blurRad="50800" dist="38100" algn="tr" rotWithShape="0">
                    <a:prstClr val="black">
                      <a:alpha val="40000"/>
                    </a:prstClr>
                  </a:outerShdw>
                </a:effectLst>
                <a:latin typeface="Times New Roman" pitchFamily="18" charset="0"/>
                <a:cs typeface="Times New Roman" pitchFamily="18" charset="0"/>
              </a:rPr>
              <a:t>In addition, the entrepreneur can enhance effective implementation of the business plan by </a:t>
            </a:r>
            <a:r>
              <a:rPr lang="en-US" sz="2100" b="1" dirty="0">
                <a:effectLst>
                  <a:outerShdw blurRad="50800" dist="38100" algn="tr" rotWithShape="0">
                    <a:prstClr val="black">
                      <a:alpha val="40000"/>
                    </a:prstClr>
                  </a:outerShdw>
                </a:effectLst>
                <a:latin typeface="Times New Roman" pitchFamily="18" charset="0"/>
                <a:cs typeface="Times New Roman" pitchFamily="18" charset="0"/>
              </a:rPr>
              <a:t>developing a schedule to measure progress </a:t>
            </a:r>
            <a:r>
              <a:rPr lang="en-US" sz="2100" dirty="0">
                <a:effectLst>
                  <a:outerShdw blurRad="50800" dist="38100" algn="tr" rotWithShape="0">
                    <a:prstClr val="black">
                      <a:alpha val="40000"/>
                    </a:prstClr>
                  </a:outerShdw>
                </a:effectLst>
                <a:latin typeface="Times New Roman" pitchFamily="18" charset="0"/>
                <a:cs typeface="Times New Roman" pitchFamily="18" charset="0"/>
              </a:rPr>
              <a:t>and to institute contingency plans. </a:t>
            </a:r>
            <a:endParaRPr lang="en-US" sz="2100" dirty="0">
              <a:latin typeface="Times New Roman" pitchFamily="18" charset="0"/>
              <a:cs typeface="Times New Roman" pitchFamily="18" charset="0"/>
            </a:endParaRPr>
          </a:p>
          <a:p>
            <a:pPr lvl="1" algn="just">
              <a:buNone/>
              <a:defRPr/>
            </a:pPr>
            <a:endParaRPr lang="en-US" sz="2100" dirty="0">
              <a:latin typeface="Times New Roman" pitchFamily="18" charset="0"/>
              <a:cs typeface="Times New Roman" pitchFamily="18" charset="0"/>
            </a:endParaRPr>
          </a:p>
        </p:txBody>
      </p:sp>
    </p:spTree>
  </p:cSld>
  <p:clrMapOvr>
    <a:masterClrMapping/>
  </p:clrMapOvr>
  <p:transition>
    <p:pull dir="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FA9E1911-285D-40D0-95D8-23954D11DB3E}"/>
              </a:ext>
            </a:extLst>
          </p:cNvPr>
          <p:cNvSpPr>
            <a:spLocks noGrp="1"/>
          </p:cNvSpPr>
          <p:nvPr>
            <p:ph idx="1"/>
          </p:nvPr>
        </p:nvSpPr>
        <p:spPr>
          <a:xfrm>
            <a:off x="1828800" y="304800"/>
            <a:ext cx="8534400" cy="6248400"/>
          </a:xfrm>
        </p:spPr>
        <p:txBody>
          <a:bodyPr/>
          <a:lstStyle/>
          <a:p>
            <a:pPr algn="just">
              <a:buFont typeface="Arial" charset="0"/>
              <a:buNone/>
              <a:defRPr/>
            </a:pPr>
            <a:r>
              <a:rPr lang="en-US" sz="2400" b="1" i="1" dirty="0">
                <a:effectLst>
                  <a:outerShdw blurRad="50800" dist="38100" algn="tr" rotWithShape="0">
                    <a:prstClr val="black">
                      <a:alpha val="40000"/>
                    </a:prstClr>
                  </a:outerShdw>
                </a:effectLst>
                <a:latin typeface="Times New Roman" pitchFamily="18" charset="0"/>
                <a:cs typeface="Times New Roman" pitchFamily="18" charset="0"/>
              </a:rPr>
              <a:t>Measuring Plan Progress   </a:t>
            </a:r>
            <a:endParaRPr lang="en-US" sz="2400" dirty="0">
              <a:latin typeface="Times New Roman" pitchFamily="18" charset="0"/>
              <a:cs typeface="Times New Roman" pitchFamily="18" charset="0"/>
            </a:endParaRPr>
          </a:p>
          <a:p>
            <a:pPr algn="just">
              <a:spcBef>
                <a:spcPts val="1800"/>
              </a:spcBef>
              <a:buNone/>
              <a:defRPr/>
            </a:pPr>
            <a:r>
              <a:rPr lang="en-US" sz="2000" dirty="0">
                <a:effectLst>
                  <a:outerShdw blurRad="50800" dist="38100" algn="tr" rotWithShape="0">
                    <a:prstClr val="black">
                      <a:alpha val="40000"/>
                    </a:prstClr>
                  </a:outerShdw>
                </a:effectLst>
                <a:latin typeface="Times New Roman" pitchFamily="18" charset="0"/>
                <a:cs typeface="Times New Roman" pitchFamily="18" charset="0"/>
              </a:rPr>
              <a:t>During the introductory phases of the start-up, the entrepreneur should determine  the following control elements ; </a:t>
            </a:r>
            <a:endParaRPr lang="en-US" sz="2000" dirty="0">
              <a:latin typeface="Times New Roman" pitchFamily="18" charset="0"/>
              <a:cs typeface="Times New Roman" pitchFamily="18" charset="0"/>
            </a:endParaRPr>
          </a:p>
          <a:p>
            <a:pPr algn="just">
              <a:spcBef>
                <a:spcPts val="1200"/>
              </a:spcBef>
              <a:buBlip>
                <a:blip r:embed="rId2"/>
              </a:buBlip>
              <a:defRPr/>
            </a:pPr>
            <a:r>
              <a:rPr lang="en-US" sz="2000" b="1" i="1" dirty="0">
                <a:effectLst>
                  <a:outerShdw blurRad="50800" dist="38100" algn="tr" rotWithShape="0">
                    <a:prstClr val="black">
                      <a:alpha val="40000"/>
                    </a:prstClr>
                  </a:outerShdw>
                </a:effectLst>
                <a:latin typeface="Times New Roman" pitchFamily="18" charset="0"/>
                <a:cs typeface="Times New Roman" pitchFamily="18" charset="0"/>
              </a:rPr>
              <a:t>Inventory control:</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 by controlling inventory, the firm can ensure maximum service to the customer. </a:t>
            </a:r>
            <a:endParaRPr lang="en-US" sz="2000" dirty="0">
              <a:latin typeface="Times New Roman" pitchFamily="18" charset="0"/>
              <a:cs typeface="Times New Roman" pitchFamily="18" charset="0"/>
            </a:endParaRPr>
          </a:p>
          <a:p>
            <a:pPr algn="just">
              <a:spcBef>
                <a:spcPts val="600"/>
              </a:spcBef>
              <a:buBlip>
                <a:blip r:embed="rId2"/>
              </a:buBlip>
              <a:defRPr/>
            </a:pPr>
            <a:r>
              <a:rPr lang="en-US" sz="2000" b="1" i="1" dirty="0">
                <a:effectLst>
                  <a:outerShdw blurRad="50800" dist="38100" algn="tr" rotWithShape="0">
                    <a:prstClr val="black">
                      <a:alpha val="40000"/>
                    </a:prstClr>
                  </a:outerShdw>
                </a:effectLst>
                <a:latin typeface="Times New Roman" pitchFamily="18" charset="0"/>
                <a:cs typeface="Times New Roman" pitchFamily="18" charset="0"/>
              </a:rPr>
              <a:t>Production control:</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 compare the </a:t>
            </a:r>
            <a:r>
              <a:rPr lang="en-US" sz="2000" b="1" dirty="0">
                <a:effectLst>
                  <a:outerShdw blurRad="50800" dist="38100" algn="tr" rotWithShape="0">
                    <a:prstClr val="black">
                      <a:alpha val="40000"/>
                    </a:prstClr>
                  </a:outerShdw>
                </a:effectLst>
                <a:latin typeface="Times New Roman" pitchFamily="18" charset="0"/>
                <a:cs typeface="Times New Roman" pitchFamily="18" charset="0"/>
              </a:rPr>
              <a:t>cost</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 figures estimated </a:t>
            </a:r>
            <a:r>
              <a:rPr lang="en-US" sz="2000" b="1" dirty="0">
                <a:effectLst>
                  <a:outerShdw blurRad="50800" dist="38100" algn="tr" rotWithShape="0">
                    <a:prstClr val="black">
                      <a:alpha val="40000"/>
                    </a:prstClr>
                  </a:outerShdw>
                </a:effectLst>
                <a:latin typeface="Times New Roman" pitchFamily="18" charset="0"/>
                <a:cs typeface="Times New Roman" pitchFamily="18" charset="0"/>
              </a:rPr>
              <a:t>in the business plan </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against </a:t>
            </a:r>
            <a:r>
              <a:rPr lang="en-US" sz="2000" b="1" dirty="0">
                <a:effectLst>
                  <a:outerShdw blurRad="50800" dist="38100" algn="tr" rotWithShape="0">
                    <a:prstClr val="black">
                      <a:alpha val="40000"/>
                    </a:prstClr>
                  </a:outerShdw>
                </a:effectLst>
                <a:latin typeface="Times New Roman" pitchFamily="18" charset="0"/>
                <a:cs typeface="Times New Roman" pitchFamily="18" charset="0"/>
              </a:rPr>
              <a:t>day-to-day operation costs</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 This will help to control machine time, worker hours, process time, delay time, and other cost. </a:t>
            </a:r>
            <a:endParaRPr lang="en-US" sz="2000" dirty="0">
              <a:latin typeface="Times New Roman" pitchFamily="18" charset="0"/>
              <a:cs typeface="Times New Roman" pitchFamily="18" charset="0"/>
            </a:endParaRPr>
          </a:p>
          <a:p>
            <a:pPr algn="just">
              <a:spcBef>
                <a:spcPts val="600"/>
              </a:spcBef>
              <a:buBlip>
                <a:blip r:embed="rId2"/>
              </a:buBlip>
              <a:defRPr/>
            </a:pPr>
            <a:r>
              <a:rPr lang="en-US" sz="2000" b="1" i="1" dirty="0">
                <a:effectLst>
                  <a:outerShdw blurRad="50800" dist="38100" algn="tr" rotWithShape="0">
                    <a:prstClr val="black">
                      <a:alpha val="40000"/>
                    </a:prstClr>
                  </a:outerShdw>
                </a:effectLst>
                <a:latin typeface="Times New Roman" pitchFamily="18" charset="0"/>
                <a:cs typeface="Times New Roman" pitchFamily="18" charset="0"/>
              </a:rPr>
              <a:t>Quality control:</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 this will depend on the type of production system but is designed to </a:t>
            </a:r>
            <a:r>
              <a:rPr lang="en-US" sz="2000" b="1" dirty="0">
                <a:effectLst>
                  <a:outerShdw blurRad="50800" dist="38100" algn="tr" rotWithShape="0">
                    <a:prstClr val="black">
                      <a:alpha val="40000"/>
                    </a:prstClr>
                  </a:outerShdw>
                </a:effectLst>
                <a:latin typeface="Times New Roman" pitchFamily="18" charset="0"/>
                <a:cs typeface="Times New Roman" pitchFamily="18" charset="0"/>
              </a:rPr>
              <a:t>make sure that the product performs well</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 </a:t>
            </a:r>
            <a:endParaRPr lang="en-US" sz="2000" dirty="0">
              <a:latin typeface="Times New Roman" pitchFamily="18" charset="0"/>
              <a:cs typeface="Times New Roman" pitchFamily="18" charset="0"/>
            </a:endParaRPr>
          </a:p>
          <a:p>
            <a:pPr algn="just">
              <a:spcBef>
                <a:spcPts val="600"/>
              </a:spcBef>
              <a:buBlip>
                <a:blip r:embed="rId2"/>
              </a:buBlip>
              <a:defRPr/>
            </a:pPr>
            <a:r>
              <a:rPr lang="en-US" sz="2000" b="1" i="1" dirty="0">
                <a:effectLst>
                  <a:outerShdw blurRad="50800" dist="38100" algn="tr" rotWithShape="0">
                    <a:prstClr val="black">
                      <a:alpha val="40000"/>
                    </a:prstClr>
                  </a:outerShdw>
                </a:effectLst>
                <a:latin typeface="Times New Roman" pitchFamily="18" charset="0"/>
                <a:cs typeface="Times New Roman" pitchFamily="18" charset="0"/>
              </a:rPr>
              <a:t>Sales control:</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 information on </a:t>
            </a:r>
            <a:r>
              <a:rPr lang="en-US" sz="2000" b="1" dirty="0">
                <a:effectLst>
                  <a:outerShdw blurRad="50800" dist="38100" algn="tr" rotWithShape="0">
                    <a:prstClr val="black">
                      <a:alpha val="40000"/>
                    </a:prstClr>
                  </a:outerShdw>
                </a:effectLst>
                <a:latin typeface="Times New Roman" pitchFamily="18" charset="0"/>
                <a:cs typeface="Times New Roman" pitchFamily="18" charset="0"/>
              </a:rPr>
              <a:t>units</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 Birr, specific products sold, prices, meeting of delivery dates, and credit terms are all useful to get a good perspective of the sales of the new venture. </a:t>
            </a:r>
            <a:endParaRPr lang="en-US" sz="2000" dirty="0">
              <a:latin typeface="Times New Roman" pitchFamily="18" charset="0"/>
              <a:cs typeface="Times New Roman" pitchFamily="18" charset="0"/>
            </a:endParaRPr>
          </a:p>
          <a:p>
            <a:pPr algn="just">
              <a:spcBef>
                <a:spcPts val="600"/>
              </a:spcBef>
              <a:buBlip>
                <a:blip r:embed="rId2"/>
              </a:buBlip>
              <a:defRPr/>
            </a:pPr>
            <a:r>
              <a:rPr lang="en-US" sz="2000" b="1" i="1" dirty="0">
                <a:effectLst>
                  <a:outerShdw blurRad="50800" dist="38100" algn="tr" rotWithShape="0">
                    <a:prstClr val="black">
                      <a:alpha val="40000"/>
                    </a:prstClr>
                  </a:outerShdw>
                </a:effectLst>
                <a:latin typeface="Times New Roman" pitchFamily="18" charset="0"/>
                <a:cs typeface="Times New Roman" pitchFamily="18" charset="0"/>
              </a:rPr>
              <a:t>Disbursements:</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 the new venture should also con</a:t>
            </a:r>
            <a:r>
              <a:rPr lang="en-US" sz="2000" b="1" dirty="0">
                <a:effectLst>
                  <a:outerShdw blurRad="50800" dist="38100" algn="tr" rotWithShape="0">
                    <a:prstClr val="black">
                      <a:alpha val="40000"/>
                    </a:prstClr>
                  </a:outerShdw>
                </a:effectLst>
                <a:latin typeface="Times New Roman" pitchFamily="18" charset="0"/>
                <a:cs typeface="Times New Roman" pitchFamily="18" charset="0"/>
              </a:rPr>
              <a:t>trol the amount of money paid out.</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 All </a:t>
            </a:r>
            <a:r>
              <a:rPr lang="en-US" sz="2000" i="1" dirty="0">
                <a:effectLst>
                  <a:outerShdw blurRad="50800" dist="38100" algn="tr" rotWithShape="0">
                    <a:prstClr val="black">
                      <a:alpha val="40000"/>
                    </a:prstClr>
                  </a:outerShdw>
                </a:effectLst>
                <a:latin typeface="Times New Roman" pitchFamily="18" charset="0"/>
                <a:cs typeface="Times New Roman" pitchFamily="18" charset="0"/>
              </a:rPr>
              <a:t>bills</a:t>
            </a:r>
            <a:r>
              <a:rPr lang="en-US" sz="2000" dirty="0">
                <a:effectLst>
                  <a:outerShdw blurRad="50800" dist="38100" algn="tr" rotWithShape="0">
                    <a:prstClr val="black">
                      <a:alpha val="40000"/>
                    </a:prstClr>
                  </a:outerShdw>
                </a:effectLst>
                <a:latin typeface="Times New Roman" pitchFamily="18" charset="0"/>
                <a:cs typeface="Times New Roman" pitchFamily="18" charset="0"/>
              </a:rPr>
              <a:t> should be reviewed to determine how much is being disbursed and for what purpose. </a:t>
            </a:r>
            <a:endParaRPr lang="en-US" sz="2000" dirty="0">
              <a:latin typeface="Times New Roman" pitchFamily="18" charset="0"/>
              <a:cs typeface="Times New Roman" pitchFamily="18" charset="0"/>
            </a:endParaRPr>
          </a:p>
        </p:txBody>
      </p:sp>
    </p:spTree>
  </p:cSld>
  <p:clrMapOvr>
    <a:masterClrMapping/>
  </p:clrMapOvr>
  <p:transition>
    <p:pull dir="ld"/>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TotalTime>
  <Words>3693</Words>
  <Application>Microsoft Office PowerPoint</Application>
  <PresentationFormat>Widescreen</PresentationFormat>
  <Paragraphs>236</Paragraphs>
  <Slides>31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Arial</vt:lpstr>
      <vt:lpstr>Calibri</vt:lpstr>
      <vt:lpstr>Calibri Light</vt:lpstr>
      <vt:lpstr>Courier New</vt:lpstr>
      <vt:lpstr>Monotype Corsiva</vt:lpstr>
      <vt:lpstr>Times New Roman</vt:lpstr>
      <vt:lpstr>Wingdings</vt:lpstr>
      <vt:lpstr>Office Theme</vt:lpstr>
      <vt:lpstr>Entrepreneurship and Small Business Management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developing Business   plan</vt:lpstr>
      <vt:lpstr>PowerPoint Presentation</vt:lpstr>
      <vt:lpstr>PowerPoint Presentation</vt:lpstr>
      <vt:lpstr>USERS OF A BUSINESS PLAN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Entrepreneurship and Small Business Management</dc:title>
  <dc:creator>Kal</dc:creator>
  <cp:lastModifiedBy>Kal</cp:lastModifiedBy>
  <cp:revision>8</cp:revision>
  <dcterms:created xsi:type="dcterms:W3CDTF">2020-03-14T19:41:27Z</dcterms:created>
  <dcterms:modified xsi:type="dcterms:W3CDTF">2021-06-06T16:08:58Z</dcterms:modified>
</cp:coreProperties>
</file>