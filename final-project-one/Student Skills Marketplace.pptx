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58" r:id="rId5"/>
    <p:sldId id="261" r:id="rId6"/>
    <p:sldId id="262" r:id="rId7"/>
    <p:sldId id="269" r:id="rId8"/>
    <p:sldId id="268" r:id="rId9"/>
    <p:sldId id="276" r:id="rId10"/>
    <p:sldId id="277" r:id="rId11"/>
    <p:sldId id="263" r:id="rId12"/>
    <p:sldId id="264" r:id="rId13"/>
    <p:sldId id="265" r:id="rId14"/>
    <p:sldId id="266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/>
          <p:nvPr>
            <p:ph type="ctrTitle"/>
          </p:nvPr>
        </p:nvSpPr>
        <p:spPr>
          <a:xfrm>
            <a:off x="1524000" y="983237"/>
            <a:ext cx="9144000" cy="2187001"/>
          </a:xfrm>
        </p:spPr>
        <p:txBody>
          <a:bodyPr>
            <a:normAutofit fontScale="90000"/>
          </a:bodyPr>
          <a:p>
            <a:r>
              <a:rPr lang="en-US">
                <a:effectLst/>
                <a:cs typeface="+mj-lt"/>
              </a:rPr>
              <a:t>Student Skills Marketplace</a:t>
            </a:r>
            <a:endParaRPr lang="en-US">
              <a:effectLst/>
              <a:cs typeface="+mj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541395" y="3996690"/>
            <a:ext cx="5109845" cy="810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200" b="1"/>
              <a:t>Project Presentation </a:t>
            </a:r>
            <a:endParaRPr lang="en-US" sz="3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455" y="-95250"/>
            <a:ext cx="10515600" cy="1325563"/>
          </a:xfrm>
        </p:spPr>
        <p:txBody>
          <a:bodyPr/>
          <a:p>
            <a:r>
              <a:rPr lang="en-US" sz="4800">
                <a:effectLst/>
                <a:latin typeface="+mj-ea"/>
                <a:cs typeface="+mj-ea"/>
              </a:rPr>
              <a:t>Introduction</a:t>
            </a:r>
            <a:endParaRPr lang="en-US" sz="4800">
              <a:effectLst/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455" y="1142365"/>
            <a:ext cx="11853545" cy="507936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</a:rPr>
              <a:t>What is the Student Skills Marketplace?</a:t>
            </a:r>
            <a:endParaRPr lang="en-US" sz="28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Web-based platform connecting students with clients.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Students offer skills (e.g., graphic design, tutoring); clients hire affordable talent.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</a:rPr>
              <a:t>Why target students specifically?</a:t>
            </a:r>
            <a:endParaRPr lang="en-US" sz="28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bridging the theory practice gap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fostering entrepreneurial mindset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financial empowerment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</a:rPr>
              <a:t>Purpose:</a:t>
            </a:r>
            <a:endParaRPr lang="en-US" sz="28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Enable students to earn income, build portfolios, and gain experience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Provide clients with access to quality, affordable services.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" y="258445"/>
            <a:ext cx="10515600" cy="1031240"/>
          </a:xfrm>
        </p:spPr>
        <p:txBody>
          <a:bodyPr/>
          <a:p>
            <a:r>
              <a:rPr lang="en-US" sz="4000">
                <a:effectLst/>
              </a:rPr>
              <a:t> Problem Statement and Objectives</a:t>
            </a:r>
            <a:endParaRPr lang="en-US" sz="4000">
              <a:effectLst/>
            </a:endParaRPr>
          </a:p>
        </p:txBody>
      </p:sp>
      <p:sp>
        <p:nvSpPr>
          <p:cNvPr id="4" name="Content Placeholder 3"/>
          <p:cNvSpPr/>
          <p:nvPr>
            <p:ph idx="1"/>
          </p:nvPr>
        </p:nvSpPr>
        <p:spPr>
          <a:xfrm>
            <a:off x="647700" y="1289685"/>
            <a:ext cx="10515600" cy="5064760"/>
          </a:xfrm>
        </p:spPr>
        <p:txBody>
          <a:bodyPr>
            <a:normAutofit lnSpcReduction="20000"/>
          </a:bodyPr>
          <a:p>
            <a:pPr marL="0" indent="0">
              <a:lnSpc>
                <a:spcPct val="100000"/>
              </a:lnSpc>
              <a:buNone/>
            </a:pPr>
            <a:r>
              <a:rPr lang="en-US" sz="2800" b="1">
                <a:solidFill>
                  <a:schemeClr val="tx1"/>
                </a:solidFill>
                <a:sym typeface="+mn-ea"/>
              </a:rPr>
              <a:t>Current System Challenges</a:t>
            </a:r>
            <a:endParaRPr lang="en-US" sz="2800" b="1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tx1"/>
                </a:solidFill>
                <a:sym typeface="+mn-ea"/>
              </a:rPr>
              <a:t>Fragmented Discovery: Students use social medias, or personal referals.</a:t>
            </a:r>
            <a:endParaRPr lang="en-US" sz="240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tx1"/>
                </a:solidFill>
                <a:sym typeface="+mn-ea"/>
              </a:rPr>
              <a:t>Trust Issues: No formal verification of student skills or service quality.</a:t>
            </a:r>
            <a:endParaRPr lang="en-US" sz="240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tx1"/>
                </a:solidFill>
                <a:sym typeface="+mn-ea"/>
              </a:rPr>
              <a:t>Limited Reach: Students restricted to personal networks.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>
                <a:solidFill>
                  <a:schemeClr val="tx1"/>
                </a:solidFill>
                <a:sym typeface="+mn-ea"/>
              </a:rPr>
              <a:t>General Objective</a:t>
            </a:r>
            <a:endParaRPr lang="en-US" sz="2800" b="1">
              <a:solidFill>
                <a:schemeClr val="tx1"/>
              </a:solidFill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tx1"/>
                </a:solidFill>
              </a:rPr>
              <a:t>Design a web-based platform for students to monetize skills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>
                <a:solidFill>
                  <a:schemeClr val="tx1"/>
                </a:solidFill>
              </a:rPr>
              <a:t>Specific objectives:</a:t>
            </a:r>
            <a:endParaRPr lang="en-US" sz="28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User-friendly interfaces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 service listings,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Stripe integration,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messaging,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rating and reviews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800">
                <a:effectLst/>
              </a:rPr>
              <a:t>Project Scope and Limitations</a:t>
            </a:r>
            <a:endParaRPr lang="en-US" sz="480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09065"/>
            <a:ext cx="10515600" cy="503301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sz="2665" b="1">
                <a:solidFill>
                  <a:schemeClr val="tx1"/>
                </a:solidFill>
              </a:rPr>
              <a:t>Scope</a:t>
            </a:r>
            <a:endParaRPr lang="en-US" sz="2665" b="1">
              <a:solidFill>
                <a:schemeClr val="tx1"/>
              </a:solidFill>
            </a:endParaRPr>
          </a:p>
          <a:p>
            <a:r>
              <a:rPr lang="en-US" sz="2445">
                <a:solidFill>
                  <a:schemeClr val="tx1"/>
                </a:solidFill>
              </a:rPr>
              <a:t>Auth and user managment: to build a module to authenticate/authorize users and manage users </a:t>
            </a:r>
            <a:endParaRPr lang="en-US" sz="2445">
              <a:solidFill>
                <a:schemeClr val="tx1"/>
              </a:solidFill>
            </a:endParaRPr>
          </a:p>
          <a:p>
            <a:r>
              <a:rPr lang="en-US" sz="2445">
                <a:solidFill>
                  <a:schemeClr val="tx1"/>
                </a:solidFill>
              </a:rPr>
              <a:t>Service Listings: to develop a subsystem to create and manage listings(edit, delete)</a:t>
            </a:r>
            <a:endParaRPr lang="en-US" sz="2445">
              <a:solidFill>
                <a:schemeClr val="tx1"/>
              </a:solidFill>
            </a:endParaRPr>
          </a:p>
          <a:p>
            <a:r>
              <a:rPr lang="en-US" sz="2445">
                <a:solidFill>
                  <a:schemeClr val="tx1"/>
                </a:solidFill>
              </a:rPr>
              <a:t>Service browsing: to develop a module with search filters (category, price, rating), sorting, and pagination functionalities.</a:t>
            </a:r>
            <a:endParaRPr lang="en-US" sz="2445">
              <a:solidFill>
                <a:schemeClr val="tx1"/>
              </a:solidFill>
            </a:endParaRPr>
          </a:p>
          <a:p>
            <a:r>
              <a:rPr lang="en-US" sz="2445">
                <a:solidFill>
                  <a:schemeClr val="tx1"/>
                </a:solidFill>
              </a:rPr>
              <a:t>Payments: to integrate stripe for escrow, commission deduction, and fund disbursement.</a:t>
            </a:r>
            <a:endParaRPr lang="en-US" sz="2445">
              <a:solidFill>
                <a:schemeClr val="tx1"/>
              </a:solidFill>
            </a:endParaRPr>
          </a:p>
          <a:p>
            <a:r>
              <a:rPr lang="en-US" sz="2445">
                <a:solidFill>
                  <a:schemeClr val="tx1"/>
                </a:solidFill>
              </a:rPr>
              <a:t>Communication: to build in-platform messaging with file attachments and email/in-app notifications.</a:t>
            </a:r>
            <a:endParaRPr lang="en-US" sz="2445">
              <a:solidFill>
                <a:schemeClr val="tx1"/>
              </a:solidFill>
            </a:endParaRPr>
          </a:p>
          <a:p>
            <a:r>
              <a:rPr lang="en-US" sz="2445">
                <a:solidFill>
                  <a:schemeClr val="tx1"/>
                </a:solidFill>
              </a:rPr>
              <a:t>Review and rating: to develop a module for client ratings, reviews,to build credibility.</a:t>
            </a:r>
            <a:endParaRPr lang="en-US" sz="2445">
              <a:solidFill>
                <a:schemeClr val="tx1"/>
              </a:solidFill>
            </a:endParaRPr>
          </a:p>
          <a:p>
            <a:r>
              <a:rPr lang="en-US" sz="2445">
                <a:solidFill>
                  <a:schemeClr val="tx1"/>
                </a:solidFill>
              </a:rPr>
              <a:t>Admin Tools: dashboard for user management, listing moderation, and analytics</a:t>
            </a:r>
            <a:r>
              <a:rPr lang="en-US" sz="2400">
                <a:solidFill>
                  <a:schemeClr val="tx1"/>
                </a:solidFill>
              </a:rPr>
              <a:t>.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60134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</a:rPr>
              <a:t>Limitations</a:t>
            </a:r>
            <a:endParaRPr lang="en-US" sz="28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English-only interface.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Stripe-supported payment methods/currencies only.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Web-based with mobile responsiveness, no native apps.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No student status verification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800">
                <a:effectLst/>
                <a:latin typeface="+mn-lt"/>
                <a:cs typeface="+mn-lt"/>
              </a:rPr>
              <a:t>Methodology and Significance</a:t>
            </a:r>
            <a:endParaRPr lang="en-US" sz="4800">
              <a:effectLst/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84960"/>
            <a:ext cx="10515600" cy="4784090"/>
          </a:xfrm>
        </p:spPr>
        <p:txBody>
          <a:bodyPr/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</a:rPr>
              <a:t>Methodology</a:t>
            </a:r>
            <a:endParaRPr lang="en-US" sz="28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</a:rPr>
              <a:t>Software methodology:</a:t>
            </a:r>
            <a:endParaRPr lang="en-US" sz="24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Agile with Scrum framework,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iterative delivery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</a:rPr>
              <a:t>Fact-finding: </a:t>
            </a:r>
            <a:endParaRPr lang="en-US" sz="24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existing system analysis,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observation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800">
                <a:effectLst/>
              </a:rPr>
              <a:t>Significance for Stakeholders </a:t>
            </a:r>
            <a:endParaRPr lang="en-US" sz="480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>
                <a:solidFill>
                  <a:schemeClr val="tx1"/>
                </a:solidFill>
              </a:rPr>
              <a:t>Students: Monetize skills, build portfolios, gain flexible work.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Clients: Access affordable services, secure payments, transparent reviews.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Educational Institutions: Bridge theory with practice.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Economy: Promote entrepreneurship, align skills with market needs.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779780"/>
          </a:xfrm>
        </p:spPr>
        <p:txBody>
          <a:bodyPr>
            <a:normAutofit fontScale="90000"/>
          </a:bodyPr>
          <a:p>
            <a:r>
              <a:rPr lang="en-US" sz="4800">
                <a:effectLst/>
              </a:rPr>
              <a:t>Overview of Current System</a:t>
            </a:r>
            <a:endParaRPr lang="en-US" sz="480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038225"/>
            <a:ext cx="10515600" cy="521335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sz="4700" b="1">
                <a:solidFill>
                  <a:schemeClr val="tx1"/>
                </a:solidFill>
              </a:rPr>
              <a:t>Current System Infrastructure:</a:t>
            </a:r>
            <a:endParaRPr lang="en-US" sz="47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4800" b="1">
                <a:solidFill>
                  <a:schemeClr val="tx1"/>
                </a:solidFill>
              </a:rPr>
              <a:t>•</a:t>
            </a:r>
            <a:r>
              <a:rPr lang="en-US" sz="4665" b="1">
                <a:solidFill>
                  <a:schemeClr val="tx1"/>
                </a:solidFill>
              </a:rPr>
              <a:t> Informal &amp; Fragmented System:</a:t>
            </a:r>
            <a:endParaRPr lang="en-US" sz="4665" b="1">
              <a:solidFill>
                <a:schemeClr val="tx1"/>
              </a:solidFill>
            </a:endParaRPr>
          </a:p>
          <a:p>
            <a:r>
              <a:rPr lang="en-US" sz="4000">
                <a:solidFill>
                  <a:schemeClr val="tx1"/>
                </a:solidFill>
              </a:rPr>
              <a:t>Social media platforms (Facebook, Telegram, WhatsApp)</a:t>
            </a:r>
            <a:endParaRPr lang="en-US" sz="4000">
              <a:solidFill>
                <a:schemeClr val="tx1"/>
              </a:solidFill>
            </a:endParaRPr>
          </a:p>
          <a:p>
            <a:r>
              <a:rPr lang="en-US" sz="4000">
                <a:solidFill>
                  <a:schemeClr val="tx1"/>
                </a:solidFill>
              </a:rPr>
              <a:t>Word-of-mouth referrals through personal networks</a:t>
            </a:r>
            <a:endParaRPr lang="en-US" sz="4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4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4700" b="1">
                <a:solidFill>
                  <a:schemeClr val="tx1"/>
                </a:solidFill>
              </a:rPr>
              <a:t>Major Functionalities:</a:t>
            </a:r>
            <a:endParaRPr lang="en-US" sz="4700" b="1">
              <a:solidFill>
                <a:schemeClr val="tx1"/>
              </a:solidFill>
            </a:endParaRPr>
          </a:p>
          <a:p>
            <a:r>
              <a:rPr lang="en-US" sz="4000">
                <a:solidFill>
                  <a:schemeClr val="tx1"/>
                </a:solidFill>
              </a:rPr>
              <a:t>Service Advertisement: Social media posts and group announcements, referals</a:t>
            </a:r>
            <a:endParaRPr lang="en-US" sz="4000">
              <a:solidFill>
                <a:schemeClr val="tx1"/>
              </a:solidFill>
            </a:endParaRPr>
          </a:p>
          <a:p>
            <a:r>
              <a:rPr lang="en-US" sz="4000">
                <a:solidFill>
                  <a:schemeClr val="tx1"/>
                </a:solidFill>
              </a:rPr>
              <a:t>Manual Payment Processing: Cash transactions, bank transfers, mobile money </a:t>
            </a:r>
            <a:endParaRPr lang="en-US" sz="4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45845"/>
          </a:xfrm>
        </p:spPr>
        <p:txBody>
          <a:bodyPr/>
          <a:p>
            <a:r>
              <a:rPr lang="en-US" sz="4800">
                <a:effectLst/>
                <a:latin typeface="+mn-lt"/>
                <a:cs typeface="+mn-lt"/>
              </a:rPr>
              <a:t>Problems and Business Rules</a:t>
            </a:r>
            <a:endParaRPr lang="en-US" sz="4800">
              <a:effectLst/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04290"/>
            <a:ext cx="10515600" cy="5137785"/>
          </a:xfrm>
        </p:spPr>
        <p:txBody>
          <a:bodyPr/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</a:rPr>
              <a:t>Problems: </a:t>
            </a:r>
            <a:endParaRPr lang="en-US" sz="28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Fragmented discovery,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payment insecurity,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lack of trust,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lack of Standardization</a:t>
            </a:r>
            <a:endParaRPr lang="en-US" sz="2400">
              <a:solidFill>
                <a:schemeClr val="tx1"/>
              </a:solidFill>
            </a:endParaRPr>
          </a:p>
          <a:p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</a:rPr>
              <a:t>Business rules:</a:t>
            </a:r>
            <a:endParaRPr lang="en-US" sz="24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Informal payment agreements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lack of standardized penalties for late delivery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no standard dispute resolution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word-of-mouth reputation 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800">
                <a:effectLst/>
              </a:rPr>
              <a:t>Proposed System Overview</a:t>
            </a:r>
            <a:endParaRPr lang="en-US" sz="480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84960"/>
            <a:ext cx="10515600" cy="4592320"/>
          </a:xfrm>
        </p:spPr>
        <p:txBody>
          <a:bodyPr/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</a:rPr>
              <a:t>Key Functional Requirements</a:t>
            </a:r>
            <a:endParaRPr lang="en-US" sz="28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User accounts with role-based access (student, client, admin).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Service listings with pricing, delivery times, and sample uploads.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Search, filter, and sort services for easy discovery.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Order placement and escrow payments.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Messaging and notifications for seamless communication.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Client ratings/reviews to enhance trust.</a:t>
            </a:r>
            <a:endParaRPr lang="en-US" sz="2400">
              <a:solidFill>
                <a:schemeClr val="tx1"/>
              </a:solidFill>
            </a:endParaRPr>
          </a:p>
          <a:p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effectLst/>
              </a:rPr>
              <a:t>Non-Functional Requirements</a:t>
            </a:r>
            <a:endParaRPr lang="en-US" sz="280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351338"/>
          </a:xfrm>
        </p:spPr>
        <p:txBody>
          <a:bodyPr/>
          <a:p>
            <a:r>
              <a:rPr lang="en-US" sz="2400">
                <a:solidFill>
                  <a:schemeClr val="tx1"/>
                </a:solidFill>
              </a:rPr>
              <a:t>Performance: Fast page loading, responsive during peak usage.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Security: Encrypt sensitive data, protect against SQL injection, XSS, CSRF attacks.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Usability: Responsive design for desktop/mobile, intuitive navigation, clear error messages.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Scalability: Modular design and caching for growing user base.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Reliability: High uptime, robust error handling.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Compatibility: Supports major browsers (Chrome, Firefox, Safari, Edge).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800">
                <a:effectLst/>
              </a:rPr>
              <a:t>System Architecture</a:t>
            </a:r>
            <a:endParaRPr lang="en-US" sz="480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84960"/>
            <a:ext cx="10515600" cy="484251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</a:rPr>
              <a:t>Three-Tier Architecture</a:t>
            </a:r>
            <a:endParaRPr lang="en-US" sz="28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Presentation Tier: HTML/Tailwind CSS, JavaScript for responsive UI.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Application Tier: PHP for business logic (authentication, orders, payments).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Data Tier: MySQL for storing users, services, orders, messages</a:t>
            </a:r>
            <a:endParaRPr lang="en-US" sz="2400">
              <a:solidFill>
                <a:schemeClr val="tx1"/>
              </a:solidFill>
            </a:endParaRPr>
          </a:p>
          <a:p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</a:rPr>
              <a:t>External Integrations:</a:t>
            </a:r>
            <a:endParaRPr lang="en-US" sz="28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Stripe API for secure payment processing and escrow.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Email services for notifications and verifications.(resend)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File storage for service samples and order deliverables.(cloudinary)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000">
                <a:effectLst/>
              </a:rPr>
              <a:t>System Processes and access control</a:t>
            </a:r>
            <a:endParaRPr lang="en-US" sz="400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872990"/>
          </a:xfrm>
        </p:spPr>
        <p:txBody>
          <a:bodyPr/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</a:rPr>
              <a:t>Key Processes</a:t>
            </a:r>
            <a:endParaRPr lang="en-US" sz="24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User Registration: Email verification, profile setup, role-based access.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Service Listing: Create, validate, publish listings with categories and tags.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Order Workflow: Browse services, place orders, process payments, deliver work, review.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Communication: Secure messaging with file attachments and notifications.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</a:rPr>
              <a:t>Role-Based Access Control (RBAC):</a:t>
            </a:r>
            <a:r>
              <a:rPr lang="en-US" sz="2400">
                <a:solidFill>
                  <a:schemeClr val="tx1"/>
                </a:solidFill>
              </a:rPr>
              <a:t>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Student (manage listings, orders),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client (browse, order, review),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admin (user management, analytics)</a:t>
            </a:r>
            <a:endParaRPr 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4604</Words>
  <Application>WPS Presentation</Application>
  <PresentationFormat>宽屏</PresentationFormat>
  <Paragraphs>141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 Black</vt:lpstr>
      <vt:lpstr>Microsoft YaHei</vt:lpstr>
      <vt:lpstr>Noto Sans CJK SC</vt:lpstr>
      <vt:lpstr>Arial Unicode MS</vt:lpstr>
      <vt:lpstr>SimSun</vt:lpstr>
      <vt:lpstr>Office Theme</vt:lpstr>
      <vt:lpstr>Student Skills Marketplace</vt:lpstr>
      <vt:lpstr>Introduction</vt:lpstr>
      <vt:lpstr> Problem Statement and Objectives</vt:lpstr>
      <vt:lpstr>Project Scope and Limitations</vt:lpstr>
      <vt:lpstr>PowerPoint 演示文稿</vt:lpstr>
      <vt:lpstr>Methodology and Significance</vt:lpstr>
      <vt:lpstr>Significance for Stakeholders </vt:lpstr>
      <vt:lpstr>Overview of Current System</vt:lpstr>
      <vt:lpstr>Problems and Business Rules</vt:lpstr>
      <vt:lpstr>Proposed System Overview</vt:lpstr>
      <vt:lpstr>Non-Functional Requirements</vt:lpstr>
      <vt:lpstr>System Architecture</vt:lpstr>
      <vt:lpstr>System Processes and access control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eyu</cp:lastModifiedBy>
  <cp:revision>17</cp:revision>
  <dcterms:created xsi:type="dcterms:W3CDTF">2025-06-16T13:38:24Z</dcterms:created>
  <dcterms:modified xsi:type="dcterms:W3CDTF">2025-06-16T13:38:24Z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1033-12.1.0.17900</vt:lpwstr>
  </property>
  <property fmtid="{D5CDD505-2E9C-101B-9397-08002B2CF9AE}" pid="3" name="ICV">
    <vt:lpwstr>0E5AD87353F491B143DE4A68A6329A8F_41</vt:lpwstr>
  </property>
</Properties>
</file>